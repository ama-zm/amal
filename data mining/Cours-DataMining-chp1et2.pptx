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89"/>
  </p:notesMasterIdLst>
  <p:handoutMasterIdLst>
    <p:handoutMasterId r:id="rId90"/>
  </p:handoutMasterIdLst>
  <p:sldIdLst>
    <p:sldId id="256" r:id="rId5"/>
    <p:sldId id="511" r:id="rId6"/>
    <p:sldId id="322" r:id="rId7"/>
    <p:sldId id="321" r:id="rId8"/>
    <p:sldId id="533" r:id="rId9"/>
    <p:sldId id="554" r:id="rId10"/>
    <p:sldId id="534" r:id="rId11"/>
    <p:sldId id="555" r:id="rId12"/>
    <p:sldId id="535" r:id="rId13"/>
    <p:sldId id="556" r:id="rId14"/>
    <p:sldId id="536" r:id="rId15"/>
    <p:sldId id="571" r:id="rId16"/>
    <p:sldId id="572" r:id="rId17"/>
    <p:sldId id="537" r:id="rId18"/>
    <p:sldId id="560" r:id="rId19"/>
    <p:sldId id="557" r:id="rId20"/>
    <p:sldId id="558" r:id="rId21"/>
    <p:sldId id="561" r:id="rId22"/>
    <p:sldId id="562" r:id="rId23"/>
    <p:sldId id="569" r:id="rId24"/>
    <p:sldId id="276" r:id="rId25"/>
    <p:sldId id="277" r:id="rId26"/>
    <p:sldId id="279" r:id="rId27"/>
    <p:sldId id="280" r:id="rId28"/>
    <p:sldId id="281" r:id="rId29"/>
    <p:sldId id="329" r:id="rId30"/>
    <p:sldId id="282" r:id="rId31"/>
    <p:sldId id="283" r:id="rId32"/>
    <p:sldId id="284" r:id="rId33"/>
    <p:sldId id="538" r:id="rId34"/>
    <p:sldId id="539" r:id="rId35"/>
    <p:sldId id="573" r:id="rId36"/>
    <p:sldId id="574" r:id="rId37"/>
    <p:sldId id="575" r:id="rId38"/>
    <p:sldId id="576" r:id="rId39"/>
    <p:sldId id="286" r:id="rId40"/>
    <p:sldId id="287" r:id="rId41"/>
    <p:sldId id="288" r:id="rId42"/>
    <p:sldId id="289" r:id="rId43"/>
    <p:sldId id="290" r:id="rId44"/>
    <p:sldId id="291" r:id="rId45"/>
    <p:sldId id="292" r:id="rId46"/>
    <p:sldId id="293" r:id="rId47"/>
    <p:sldId id="551" r:id="rId48"/>
    <p:sldId id="296" r:id="rId49"/>
    <p:sldId id="297" r:id="rId50"/>
    <p:sldId id="298" r:id="rId51"/>
    <p:sldId id="299" r:id="rId52"/>
    <p:sldId id="300" r:id="rId53"/>
    <p:sldId id="301" r:id="rId54"/>
    <p:sldId id="302" r:id="rId55"/>
    <p:sldId id="304" r:id="rId56"/>
    <p:sldId id="306" r:id="rId57"/>
    <p:sldId id="307" r:id="rId58"/>
    <p:sldId id="308" r:id="rId59"/>
    <p:sldId id="309" r:id="rId60"/>
    <p:sldId id="578" r:id="rId61"/>
    <p:sldId id="577" r:id="rId62"/>
    <p:sldId id="579" r:id="rId63"/>
    <p:sldId id="580" r:id="rId64"/>
    <p:sldId id="310" r:id="rId65"/>
    <p:sldId id="334" r:id="rId66"/>
    <p:sldId id="335" r:id="rId67"/>
    <p:sldId id="336" r:id="rId68"/>
    <p:sldId id="338" r:id="rId69"/>
    <p:sldId id="339" r:id="rId70"/>
    <p:sldId id="458" r:id="rId71"/>
    <p:sldId id="340" r:id="rId72"/>
    <p:sldId id="341" r:id="rId73"/>
    <p:sldId id="342" r:id="rId74"/>
    <p:sldId id="343" r:id="rId75"/>
    <p:sldId id="550" r:id="rId76"/>
    <p:sldId id="546" r:id="rId77"/>
    <p:sldId id="547" r:id="rId78"/>
    <p:sldId id="548" r:id="rId79"/>
    <p:sldId id="549" r:id="rId80"/>
    <p:sldId id="513" r:id="rId81"/>
    <p:sldId id="582" r:id="rId82"/>
    <p:sldId id="583" r:id="rId83"/>
    <p:sldId id="514" r:id="rId84"/>
    <p:sldId id="515" r:id="rId85"/>
    <p:sldId id="517" r:id="rId86"/>
    <p:sldId id="518" r:id="rId87"/>
    <p:sldId id="520" r:id="rId88"/>
  </p:sldIdLst>
  <p:sldSz cx="9144000" cy="6858000" type="screen4x3"/>
  <p:notesSz cx="6669088"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888">
          <p15:clr>
            <a:srgbClr val="A4A3A4"/>
          </p15:clr>
        </p15:guide>
        <p15:guide id="3" orient="horz" pos="432">
          <p15:clr>
            <a:srgbClr val="A4A3A4"/>
          </p15:clr>
        </p15:guide>
        <p15:guide id="4" orient="horz" pos="3072">
          <p15:clr>
            <a:srgbClr val="A4A3A4"/>
          </p15:clr>
        </p15:guide>
        <p15:guide id="5" orient="horz" pos="3408">
          <p15:clr>
            <a:srgbClr val="A4A3A4"/>
          </p15:clr>
        </p15:guide>
        <p15:guide id="6" pos="3839">
          <p15:clr>
            <a:srgbClr val="A4A3A4"/>
          </p15:clr>
        </p15:guide>
        <p15:guide id="7" pos="383">
          <p15:clr>
            <a:srgbClr val="A4A3A4"/>
          </p15:clr>
        </p15:guide>
        <p15:guide id="8" pos="7295">
          <p15:clr>
            <a:srgbClr val="A4A3A4"/>
          </p15:clr>
        </p15:guide>
        <p15:guide id="9" pos="815">
          <p15:clr>
            <a:srgbClr val="A4A3A4"/>
          </p15:clr>
        </p15:guide>
        <p15:guide id="10" pos="2879">
          <p15:clr>
            <a:srgbClr val="A4A3A4"/>
          </p15:clr>
        </p15:guide>
        <p15:guide id="11" pos="3071">
          <p15:clr>
            <a:srgbClr val="A4A3A4"/>
          </p15:clr>
        </p15:guide>
        <p15:guide id="12" pos="2880">
          <p15:clr>
            <a:srgbClr val="A4A3A4"/>
          </p15:clr>
        </p15:guide>
        <p15:guide id="13" pos="287">
          <p15:clr>
            <a:srgbClr val="A4A3A4"/>
          </p15:clr>
        </p15:guide>
        <p15:guide id="14" pos="5473">
          <p15:clr>
            <a:srgbClr val="A4A3A4"/>
          </p15:clr>
        </p15:guide>
        <p15:guide id="15" pos="611">
          <p15:clr>
            <a:srgbClr val="A4A3A4"/>
          </p15:clr>
        </p15:guide>
        <p15:guide id="16" pos="2160">
          <p15:clr>
            <a:srgbClr val="A4A3A4"/>
          </p15:clr>
        </p15:guide>
        <p15:guide id="17" pos="2304">
          <p15:clr>
            <a:srgbClr val="A4A3A4"/>
          </p15:clr>
        </p15:guide>
      </p15:sldGuideLst>
    </p:ext>
    <p:ext uri="{2D200454-40CA-4A62-9FC3-DE9A4176ACB9}">
      <p15:notesGuideLst xmlns:p15="http://schemas.microsoft.com/office/powerpoint/2012/main">
        <p15:guide id="1" orient="horz" pos="2791" userDrawn="1">
          <p15:clr>
            <a:srgbClr val="A4A3A4"/>
          </p15:clr>
        </p15:guide>
        <p15:guide id="2" pos="2028" userDrawn="1">
          <p15:clr>
            <a:srgbClr val="A4A3A4"/>
          </p15:clr>
        </p15:guide>
        <p15:guide id="3" orient="horz" pos="3125" userDrawn="1">
          <p15:clr>
            <a:srgbClr val="A4A3A4"/>
          </p15:clr>
        </p15:guide>
        <p15:guide id="4" pos="210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17" autoAdjust="0"/>
    <p:restoredTop sz="94660"/>
  </p:normalViewPr>
  <p:slideViewPr>
    <p:cSldViewPr>
      <p:cViewPr varScale="1">
        <p:scale>
          <a:sx n="64" d="100"/>
          <a:sy n="64" d="100"/>
        </p:scale>
        <p:origin x="1548" y="72"/>
      </p:cViewPr>
      <p:guideLst>
        <p:guide orient="horz" pos="2160"/>
        <p:guide orient="horz" pos="3888"/>
        <p:guide orient="horz" pos="432"/>
        <p:guide orient="horz" pos="3072"/>
        <p:guide orient="horz" pos="3408"/>
        <p:guide pos="3839"/>
        <p:guide pos="383"/>
        <p:guide pos="7295"/>
        <p:guide pos="815"/>
        <p:guide pos="2879"/>
        <p:guide pos="3071"/>
        <p:guide pos="2880"/>
        <p:guide pos="287"/>
        <p:guide pos="5473"/>
        <p:guide pos="611"/>
        <p:guide pos="2160"/>
        <p:guide pos="2304"/>
      </p:guideLst>
    </p:cSldViewPr>
  </p:slideViewPr>
  <p:notesTextViewPr>
    <p:cViewPr>
      <p:scale>
        <a:sx n="1" d="1"/>
        <a:sy n="1" d="1"/>
      </p:scale>
      <p:origin x="0" y="0"/>
    </p:cViewPr>
  </p:notesTextViewPr>
  <p:notesViewPr>
    <p:cSldViewPr showGuides="1">
      <p:cViewPr varScale="1">
        <p:scale>
          <a:sx n="84" d="100"/>
          <a:sy n="84" d="100"/>
        </p:scale>
        <p:origin x="1002" y="60"/>
      </p:cViewPr>
      <p:guideLst>
        <p:guide orient="horz" pos="2791"/>
        <p:guide pos="2028"/>
        <p:guide orient="horz" pos="3125"/>
        <p:guide pos="210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handoutMaster" Target="handoutMasters/handout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4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5" Type="http://schemas.openxmlformats.org/officeDocument/2006/relationships/image" Target="../media/image31.wmf"/><Relationship Id="rId4" Type="http://schemas.openxmlformats.org/officeDocument/2006/relationships/image" Target="../media/image5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89938" cy="495935"/>
          </a:xfrm>
          <a:prstGeom prst="rect">
            <a:avLst/>
          </a:prstGeom>
        </p:spPr>
        <p:txBody>
          <a:bodyPr vert="horz" lIns="95211" tIns="47606" rIns="95211" bIns="47606" rtlCol="0"/>
          <a:lstStyle>
            <a:lvl1pPr algn="l">
              <a:defRPr sz="1200"/>
            </a:lvl1pPr>
          </a:lstStyle>
          <a:p>
            <a:endParaRPr/>
          </a:p>
        </p:txBody>
      </p:sp>
      <p:sp>
        <p:nvSpPr>
          <p:cNvPr id="3" name="Date Placeholder 2"/>
          <p:cNvSpPr>
            <a:spLocks noGrp="1"/>
          </p:cNvSpPr>
          <p:nvPr>
            <p:ph type="dt" sz="quarter" idx="1"/>
          </p:nvPr>
        </p:nvSpPr>
        <p:spPr>
          <a:xfrm>
            <a:off x="3777608" y="1"/>
            <a:ext cx="2889938" cy="495935"/>
          </a:xfrm>
          <a:prstGeom prst="rect">
            <a:avLst/>
          </a:prstGeom>
        </p:spPr>
        <p:txBody>
          <a:bodyPr vert="horz" lIns="95211" tIns="47606" rIns="95211" bIns="47606" rtlCol="0"/>
          <a:lstStyle>
            <a:lvl1pPr algn="r">
              <a:defRPr sz="1200"/>
            </a:lvl1pPr>
          </a:lstStyle>
          <a:p>
            <a:fld id="{AC8CEC3D-96F7-401F-9673-3EE7F75C9C5B}" type="datetimeFigureOut">
              <a:rPr lang="fr-FR"/>
              <a:pPr/>
              <a:t>25/11/2020</a:t>
            </a:fld>
            <a:endParaRPr/>
          </a:p>
        </p:txBody>
      </p:sp>
      <p:sp>
        <p:nvSpPr>
          <p:cNvPr id="4" name="Footer Placeholder 3"/>
          <p:cNvSpPr>
            <a:spLocks noGrp="1"/>
          </p:cNvSpPr>
          <p:nvPr>
            <p:ph type="ftr" sz="quarter" idx="2"/>
          </p:nvPr>
        </p:nvSpPr>
        <p:spPr>
          <a:xfrm>
            <a:off x="1" y="9421045"/>
            <a:ext cx="2889938" cy="495935"/>
          </a:xfrm>
          <a:prstGeom prst="rect">
            <a:avLst/>
          </a:prstGeom>
        </p:spPr>
        <p:txBody>
          <a:bodyPr vert="horz" lIns="95211" tIns="47606" rIns="95211" bIns="47606" rtlCol="0" anchor="b"/>
          <a:lstStyle>
            <a:lvl1pPr algn="l">
              <a:defRPr sz="1200"/>
            </a:lvl1pPr>
          </a:lstStyle>
          <a:p>
            <a:endParaRPr/>
          </a:p>
        </p:txBody>
      </p:sp>
      <p:sp>
        <p:nvSpPr>
          <p:cNvPr id="5" name="Slide Number Placeholder 4"/>
          <p:cNvSpPr>
            <a:spLocks noGrp="1"/>
          </p:cNvSpPr>
          <p:nvPr>
            <p:ph type="sldNum" sz="quarter" idx="3"/>
          </p:nvPr>
        </p:nvSpPr>
        <p:spPr>
          <a:xfrm>
            <a:off x="3777608" y="9421045"/>
            <a:ext cx="2889938" cy="495935"/>
          </a:xfrm>
          <a:prstGeom prst="rect">
            <a:avLst/>
          </a:prstGeom>
        </p:spPr>
        <p:txBody>
          <a:bodyPr vert="horz" lIns="95211" tIns="47606" rIns="95211" bIns="47606" rtlCol="0" anchor="b"/>
          <a:lstStyle>
            <a:lvl1pPr algn="r">
              <a:defRPr sz="1200"/>
            </a:lvl1pPr>
          </a:lstStyle>
          <a:p>
            <a:fld id="{A98ED8CD-4E4C-49AC-BDC6-2963BA49E54F}" type="slidenum">
              <a:rPr/>
              <a:pPr/>
              <a:t>‹N°›</a:t>
            </a:fld>
            <a:endParaRPr/>
          </a:p>
        </p:txBody>
      </p:sp>
    </p:spTree>
    <p:extLst>
      <p:ext uri="{BB962C8B-B14F-4D97-AF65-F5344CB8AC3E}">
        <p14:creationId xmlns:p14="http://schemas.microsoft.com/office/powerpoint/2010/main" val="343417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89938" cy="495935"/>
          </a:xfrm>
          <a:prstGeom prst="rect">
            <a:avLst/>
          </a:prstGeom>
        </p:spPr>
        <p:txBody>
          <a:bodyPr vert="horz" lIns="95211" tIns="47606" rIns="95211" bIns="47606" rtlCol="0"/>
          <a:lstStyle>
            <a:lvl1pPr algn="l">
              <a:defRPr sz="1200"/>
            </a:lvl1pPr>
          </a:lstStyle>
          <a:p>
            <a:endParaRPr/>
          </a:p>
        </p:txBody>
      </p:sp>
      <p:sp>
        <p:nvSpPr>
          <p:cNvPr id="3" name="Date Placeholder 2"/>
          <p:cNvSpPr>
            <a:spLocks noGrp="1"/>
          </p:cNvSpPr>
          <p:nvPr>
            <p:ph type="dt" idx="1"/>
          </p:nvPr>
        </p:nvSpPr>
        <p:spPr>
          <a:xfrm>
            <a:off x="3777608" y="1"/>
            <a:ext cx="2889938" cy="495935"/>
          </a:xfrm>
          <a:prstGeom prst="rect">
            <a:avLst/>
          </a:prstGeom>
        </p:spPr>
        <p:txBody>
          <a:bodyPr vert="horz" lIns="95211" tIns="47606" rIns="95211" bIns="47606" rtlCol="0"/>
          <a:lstStyle>
            <a:lvl1pPr algn="r">
              <a:defRPr sz="1200"/>
            </a:lvl1pPr>
          </a:lstStyle>
          <a:p>
            <a:fld id="{F032BCF4-D26D-4DAF-9F57-FE1E61FE7935}" type="datetimeFigureOut">
              <a:rPr lang="fr-FR"/>
              <a:pPr/>
              <a:t>25/11/2020</a:t>
            </a:fld>
            <a:endParaRPr/>
          </a:p>
        </p:txBody>
      </p:sp>
      <p:sp>
        <p:nvSpPr>
          <p:cNvPr id="4" name="Slide Image Placeholder 3"/>
          <p:cNvSpPr>
            <a:spLocks noGrp="1" noRot="1" noChangeAspect="1"/>
          </p:cNvSpPr>
          <p:nvPr>
            <p:ph type="sldImg" idx="2"/>
          </p:nvPr>
        </p:nvSpPr>
        <p:spPr>
          <a:xfrm>
            <a:off x="857250" y="744538"/>
            <a:ext cx="4954588" cy="3717925"/>
          </a:xfrm>
          <a:prstGeom prst="rect">
            <a:avLst/>
          </a:prstGeom>
          <a:noFill/>
          <a:ln w="12700">
            <a:solidFill>
              <a:prstClr val="black"/>
            </a:solidFill>
          </a:ln>
        </p:spPr>
        <p:txBody>
          <a:bodyPr vert="horz" lIns="95211" tIns="47606" rIns="95211" bIns="47606" rtlCol="0" anchor="ctr"/>
          <a:lstStyle/>
          <a:p>
            <a:endParaRPr/>
          </a:p>
        </p:txBody>
      </p:sp>
      <p:sp>
        <p:nvSpPr>
          <p:cNvPr id="5" name="Notes Placeholder 4"/>
          <p:cNvSpPr>
            <a:spLocks noGrp="1"/>
          </p:cNvSpPr>
          <p:nvPr>
            <p:ph type="body" sz="quarter" idx="3"/>
          </p:nvPr>
        </p:nvSpPr>
        <p:spPr>
          <a:xfrm>
            <a:off x="666909" y="4711382"/>
            <a:ext cx="5335270" cy="4463415"/>
          </a:xfrm>
          <a:prstGeom prst="rect">
            <a:avLst/>
          </a:prstGeom>
        </p:spPr>
        <p:txBody>
          <a:bodyPr vert="horz" lIns="95211" tIns="47606" rIns="95211" bIns="47606"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1" y="9421045"/>
            <a:ext cx="2889938" cy="495935"/>
          </a:xfrm>
          <a:prstGeom prst="rect">
            <a:avLst/>
          </a:prstGeom>
        </p:spPr>
        <p:txBody>
          <a:bodyPr vert="horz" lIns="95211" tIns="47606" rIns="95211" bIns="47606" rtlCol="0" anchor="b"/>
          <a:lstStyle>
            <a:lvl1pPr algn="l">
              <a:defRPr sz="1200"/>
            </a:lvl1pPr>
          </a:lstStyle>
          <a:p>
            <a:endParaRPr/>
          </a:p>
        </p:txBody>
      </p:sp>
      <p:sp>
        <p:nvSpPr>
          <p:cNvPr id="7" name="Slide Number Placeholder 6"/>
          <p:cNvSpPr>
            <a:spLocks noGrp="1"/>
          </p:cNvSpPr>
          <p:nvPr>
            <p:ph type="sldNum" sz="quarter" idx="5"/>
          </p:nvPr>
        </p:nvSpPr>
        <p:spPr>
          <a:xfrm>
            <a:off x="3777608" y="9421045"/>
            <a:ext cx="2889938" cy="495935"/>
          </a:xfrm>
          <a:prstGeom prst="rect">
            <a:avLst/>
          </a:prstGeom>
        </p:spPr>
        <p:txBody>
          <a:bodyPr vert="horz" lIns="95211" tIns="47606" rIns="95211" bIns="47606" rtlCol="0" anchor="b"/>
          <a:lstStyle>
            <a:lvl1pPr algn="r">
              <a:defRPr sz="1200"/>
            </a:lvl1pPr>
          </a:lstStyle>
          <a:p>
            <a:fld id="{5FB91549-43BF-425A-AF25-75262019208C}" type="slidenum">
              <a:rPr/>
              <a:pPr/>
              <a:t>‹N°›</a:t>
            </a:fld>
            <a:endParaRPr/>
          </a:p>
        </p:txBody>
      </p:sp>
    </p:spTree>
    <p:extLst>
      <p:ext uri="{BB962C8B-B14F-4D97-AF65-F5344CB8AC3E}">
        <p14:creationId xmlns:p14="http://schemas.microsoft.com/office/powerpoint/2010/main" val="423928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fr.wikipedia.org/wiki/Analyse_des_donn%C3%A9es"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fr.wikipedia.org/wiki/Statistique_multivari%C3%A9e"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fr.wikipedia.org/wiki/Analyse_factorielle"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b="1"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Connaissances extraites = connaissances </a:t>
            </a: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sous la forme de </a:t>
            </a:r>
            <a:r>
              <a:rPr lang="fr-FR" sz="18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modèles de</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18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description </a:t>
            </a: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permettant de :</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décrire le comportement actuel </a:t>
            </a: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des données et/ou</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prédire le comportement futur </a:t>
            </a: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des données</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5FB91549-43BF-425A-AF25-75262019208C}" type="slidenum">
              <a:rPr lang="fr-FR" smtClean="0"/>
              <a:pPr/>
              <a:t>15</a:t>
            </a:fld>
            <a:endParaRPr lang="fr-FR"/>
          </a:p>
        </p:txBody>
      </p:sp>
    </p:spTree>
    <p:extLst>
      <p:ext uri="{BB962C8B-B14F-4D97-AF65-F5344CB8AC3E}">
        <p14:creationId xmlns:p14="http://schemas.microsoft.com/office/powerpoint/2010/main" val="1292457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solidFill>
                  <a:srgbClr val="202122"/>
                </a:solidFill>
                <a:effectLst/>
                <a:latin typeface="Arial" panose="020B0604020202020204" pitchFamily="34" charset="0"/>
                <a:ea typeface="Calibri" panose="020F0502020204030204" pitchFamily="34" charset="0"/>
              </a:rPr>
              <a:t>L'</a:t>
            </a:r>
            <a:r>
              <a:rPr lang="fr-FR" sz="1800" b="1" dirty="0">
                <a:solidFill>
                  <a:srgbClr val="202122"/>
                </a:solidFill>
                <a:effectLst/>
                <a:latin typeface="Arial" panose="020B0604020202020204" pitchFamily="34" charset="0"/>
                <a:ea typeface="Calibri" panose="020F0502020204030204" pitchFamily="34" charset="0"/>
              </a:rPr>
              <a:t>analyse en composantes principales</a:t>
            </a:r>
            <a:r>
              <a:rPr lang="fr-FR" sz="1800" dirty="0">
                <a:solidFill>
                  <a:srgbClr val="202122"/>
                </a:solidFill>
                <a:effectLst/>
                <a:latin typeface="Arial" panose="020B0604020202020204" pitchFamily="34" charset="0"/>
                <a:ea typeface="Calibri" panose="020F0502020204030204" pitchFamily="34" charset="0"/>
              </a:rPr>
              <a:t> (</a:t>
            </a:r>
            <a:r>
              <a:rPr lang="fr-FR" sz="1800" b="1" dirty="0">
                <a:solidFill>
                  <a:srgbClr val="202122"/>
                </a:solidFill>
                <a:effectLst/>
                <a:latin typeface="Arial" panose="020B0604020202020204" pitchFamily="34" charset="0"/>
                <a:ea typeface="Calibri" panose="020F0502020204030204" pitchFamily="34" charset="0"/>
              </a:rPr>
              <a:t>ACP</a:t>
            </a:r>
            <a:r>
              <a:rPr lang="fr-FR" sz="1800" dirty="0">
                <a:solidFill>
                  <a:srgbClr val="202122"/>
                </a:solidFill>
                <a:effectLst/>
                <a:latin typeface="Arial" panose="020B0604020202020204" pitchFamily="34" charset="0"/>
                <a:ea typeface="Calibri" panose="020F0502020204030204" pitchFamily="34" charset="0"/>
              </a:rPr>
              <a:t> ou </a:t>
            </a:r>
            <a:r>
              <a:rPr lang="fr-FR" sz="1800" b="1" dirty="0">
                <a:solidFill>
                  <a:srgbClr val="202122"/>
                </a:solidFill>
                <a:effectLst/>
                <a:latin typeface="Arial" panose="020B0604020202020204" pitchFamily="34" charset="0"/>
                <a:ea typeface="Calibri" panose="020F0502020204030204" pitchFamily="34" charset="0"/>
              </a:rPr>
              <a:t>PCA</a:t>
            </a:r>
            <a:r>
              <a:rPr lang="fr-FR" sz="1800" dirty="0">
                <a:solidFill>
                  <a:srgbClr val="202122"/>
                </a:solidFill>
                <a:effectLst/>
                <a:latin typeface="Arial" panose="020B0604020202020204" pitchFamily="34" charset="0"/>
                <a:ea typeface="Calibri" panose="020F0502020204030204" pitchFamily="34" charset="0"/>
              </a:rPr>
              <a:t> en anglais pour </a:t>
            </a:r>
            <a:r>
              <a:rPr lang="fr-FR" sz="1800" i="1" dirty="0">
                <a:solidFill>
                  <a:srgbClr val="202122"/>
                </a:solidFill>
                <a:effectLst/>
                <a:latin typeface="Arial" panose="020B0604020202020204" pitchFamily="34" charset="0"/>
                <a:ea typeface="Calibri" panose="020F0502020204030204" pitchFamily="34" charset="0"/>
              </a:rPr>
              <a:t>principal component </a:t>
            </a:r>
            <a:r>
              <a:rPr lang="fr-FR" sz="1800" i="1" dirty="0" err="1">
                <a:solidFill>
                  <a:srgbClr val="202122"/>
                </a:solidFill>
                <a:effectLst/>
                <a:latin typeface="Arial" panose="020B0604020202020204" pitchFamily="34" charset="0"/>
                <a:ea typeface="Calibri" panose="020F0502020204030204" pitchFamily="34" charset="0"/>
              </a:rPr>
              <a:t>analysis</a:t>
            </a:r>
            <a:r>
              <a:rPr lang="fr-FR" sz="1800" dirty="0">
                <a:solidFill>
                  <a:srgbClr val="202122"/>
                </a:solidFill>
                <a:effectLst/>
                <a:latin typeface="Arial" panose="020B0604020202020204" pitchFamily="34" charset="0"/>
                <a:ea typeface="Calibri" panose="020F050202020403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202122"/>
                </a:solidFill>
                <a:effectLst/>
                <a:latin typeface="Arial" panose="020B0604020202020204" pitchFamily="34" charset="0"/>
                <a:ea typeface="Calibri" panose="020F0502020204030204" pitchFamily="34" charset="0"/>
                <a:cs typeface="Arial" panose="020B0604020202020204" pitchFamily="34" charset="0"/>
              </a:rPr>
              <a:t>une méthode de la famille de l'</a:t>
            </a:r>
            <a:r>
              <a:rPr lang="fr-FR" sz="1800" u="sng" dirty="0">
                <a:solidFill>
                  <a:srgbClr val="FAA700"/>
                </a:solidFill>
                <a:effectLst/>
                <a:latin typeface="Arial" panose="020B0604020202020204" pitchFamily="34" charset="0"/>
                <a:ea typeface="Calibri" panose="020F0502020204030204" pitchFamily="34" charset="0"/>
                <a:cs typeface="Arial" panose="020B0604020202020204" pitchFamily="34" charset="0"/>
                <a:hlinkClick r:id="rId3" tooltip="Analyse des données"/>
              </a:rPr>
              <a:t>analyse des données</a:t>
            </a:r>
            <a:r>
              <a:rPr lang="fr-FR" sz="1800" dirty="0">
                <a:solidFill>
                  <a:srgbClr val="202122"/>
                </a:solidFill>
                <a:effectLst/>
                <a:latin typeface="Arial" panose="020B0604020202020204" pitchFamily="34" charset="0"/>
                <a:ea typeface="Calibri" panose="020F0502020204030204" pitchFamily="34" charset="0"/>
                <a:cs typeface="Arial" panose="020B0604020202020204" pitchFamily="34" charset="0"/>
              </a:rPr>
              <a:t> et plus généralement de la </a:t>
            </a:r>
            <a:r>
              <a:rPr lang="fr-FR" sz="1800" u="sng" dirty="0">
                <a:solidFill>
                  <a:srgbClr val="0B0080"/>
                </a:solidFill>
                <a:effectLst/>
                <a:latin typeface="Arial" panose="020B0604020202020204" pitchFamily="34" charset="0"/>
                <a:ea typeface="Calibri" panose="020F0502020204030204" pitchFamily="34" charset="0"/>
                <a:cs typeface="Arial" panose="020B0604020202020204" pitchFamily="34" charset="0"/>
                <a:hlinkClick r:id="rId4" tooltip="Statistique multivariée"/>
              </a:rPr>
              <a:t>statistique multivariée</a:t>
            </a:r>
            <a:r>
              <a:rPr lang="fr-FR" sz="1800" dirty="0">
                <a:solidFill>
                  <a:srgbClr val="202122"/>
                </a:solidFill>
                <a:effectLst/>
                <a:latin typeface="Arial" panose="020B0604020202020204" pitchFamily="34" charset="0"/>
                <a:ea typeface="Calibri" panose="020F0502020204030204" pitchFamily="34" charset="0"/>
                <a:cs typeface="Arial" panose="020B0604020202020204" pitchFamily="34" charset="0"/>
              </a:rPr>
              <a:t>, qui consiste à transformer des variables liées entre elles (dites « corrélées » en statistique) en nouvelles variables décorrélées les unes des autres</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5FB91549-43BF-425A-AF25-75262019208C}" type="slidenum">
              <a:rPr lang="fr-FR" smtClean="0"/>
              <a:pPr/>
              <a:t>17</a:t>
            </a:fld>
            <a:endParaRPr lang="fr-FR"/>
          </a:p>
        </p:txBody>
      </p:sp>
    </p:spTree>
    <p:extLst>
      <p:ext uri="{BB962C8B-B14F-4D97-AF65-F5344CB8AC3E}">
        <p14:creationId xmlns:p14="http://schemas.microsoft.com/office/powerpoint/2010/main" val="336379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202122"/>
                </a:solidFill>
                <a:effectLst/>
                <a:latin typeface="Arial" panose="020B0604020202020204" pitchFamily="34" charset="0"/>
                <a:ea typeface="Calibri" panose="020F0502020204030204" pitchFamily="34" charset="0"/>
                <a:cs typeface="Arial" panose="020B0604020202020204" pitchFamily="34" charset="0"/>
              </a:rPr>
              <a:t>L’</a:t>
            </a:r>
            <a:r>
              <a:rPr lang="fr-FR" sz="1800" b="1" dirty="0">
                <a:solidFill>
                  <a:srgbClr val="202122"/>
                </a:solidFill>
                <a:effectLst/>
                <a:latin typeface="Arial" panose="020B0604020202020204" pitchFamily="34" charset="0"/>
                <a:ea typeface="Calibri" panose="020F0502020204030204" pitchFamily="34" charset="0"/>
                <a:cs typeface="Arial" panose="020B0604020202020204" pitchFamily="34" charset="0"/>
              </a:rPr>
              <a:t>analyse des correspondances multiples</a:t>
            </a:r>
            <a:r>
              <a:rPr lang="fr-FR" sz="1800" dirty="0">
                <a:solidFill>
                  <a:srgbClr val="202122"/>
                </a:solidFill>
                <a:effectLst/>
                <a:latin typeface="Arial" panose="020B0604020202020204" pitchFamily="34" charset="0"/>
                <a:ea typeface="Calibri" panose="020F0502020204030204" pitchFamily="34" charset="0"/>
                <a:cs typeface="Arial" panose="020B0604020202020204" pitchFamily="34" charset="0"/>
              </a:rPr>
              <a:t> (ACM) est la </a:t>
            </a:r>
            <a:r>
              <a:rPr lang="fr-FR" sz="1800" u="sng" dirty="0">
                <a:solidFill>
                  <a:srgbClr val="0B0080"/>
                </a:solidFill>
                <a:effectLst/>
                <a:latin typeface="Arial" panose="020B0604020202020204" pitchFamily="34" charset="0"/>
                <a:ea typeface="Calibri" panose="020F0502020204030204" pitchFamily="34" charset="0"/>
                <a:cs typeface="Arial" panose="020B0604020202020204" pitchFamily="34" charset="0"/>
                <a:hlinkClick r:id="rId3" tooltip="Analyse factorielle"/>
              </a:rPr>
              <a:t>méthode factorielle</a:t>
            </a:r>
            <a:r>
              <a:rPr lang="fr-FR" sz="1800" dirty="0">
                <a:solidFill>
                  <a:srgbClr val="202122"/>
                </a:solidFill>
                <a:effectLst/>
                <a:latin typeface="Arial" panose="020B0604020202020204" pitchFamily="34" charset="0"/>
                <a:ea typeface="Calibri" panose="020F0502020204030204" pitchFamily="34" charset="0"/>
                <a:cs typeface="Arial" panose="020B0604020202020204" pitchFamily="34" charset="0"/>
              </a:rPr>
              <a:t> (au sens français du terme) adaptée aux tableaux dans lesquels un ensemble d’individus (en lignes) est décrit par un ensemble de variables qualitatives (en colonnes). Un exemple typique de ces données est celui des enquêtes d’opinion.</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5FB91549-43BF-425A-AF25-75262019208C}" type="slidenum">
              <a:rPr lang="fr-FR" smtClean="0"/>
              <a:pPr/>
              <a:t>18</a:t>
            </a:fld>
            <a:endParaRPr lang="fr-FR"/>
          </a:p>
        </p:txBody>
      </p:sp>
    </p:spTree>
    <p:extLst>
      <p:ext uri="{BB962C8B-B14F-4D97-AF65-F5344CB8AC3E}">
        <p14:creationId xmlns:p14="http://schemas.microsoft.com/office/powerpoint/2010/main" val="3123560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segmentation : consiste à former des groupes (clusters) homogènes dans une population</a:t>
            </a:r>
          </a:p>
        </p:txBody>
      </p:sp>
      <p:sp>
        <p:nvSpPr>
          <p:cNvPr id="4" name="Espace réservé du numéro de diapositive 3"/>
          <p:cNvSpPr>
            <a:spLocks noGrp="1"/>
          </p:cNvSpPr>
          <p:nvPr>
            <p:ph type="sldNum" sz="quarter" idx="5"/>
          </p:nvPr>
        </p:nvSpPr>
        <p:spPr/>
        <p:txBody>
          <a:bodyPr/>
          <a:lstStyle/>
          <a:p>
            <a:fld id="{5FB91549-43BF-425A-AF25-75262019208C}" type="slidenum">
              <a:rPr lang="fr-FR" smtClean="0"/>
              <a:pPr/>
              <a:t>19</a:t>
            </a:fld>
            <a:endParaRPr lang="fr-FR"/>
          </a:p>
        </p:txBody>
      </p:sp>
    </p:spTree>
    <p:extLst>
      <p:ext uri="{BB962C8B-B14F-4D97-AF65-F5344CB8AC3E}">
        <p14:creationId xmlns:p14="http://schemas.microsoft.com/office/powerpoint/2010/main" val="4256349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57250" y="744538"/>
            <a:ext cx="4954588" cy="3717925"/>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AE308F7C-6BDE-489A-9729-7F83E8783E37}" type="slidenum">
              <a:rPr lang="fr-FR" smtClean="0"/>
              <a:pPr/>
              <a:t>42</a:t>
            </a:fld>
            <a:endParaRPr lang="fr-FR"/>
          </a:p>
        </p:txBody>
      </p:sp>
    </p:spTree>
    <p:extLst>
      <p:ext uri="{BB962C8B-B14F-4D97-AF65-F5344CB8AC3E}">
        <p14:creationId xmlns:p14="http://schemas.microsoft.com/office/powerpoint/2010/main" val="771112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57250" y="744538"/>
            <a:ext cx="4954588" cy="3717925"/>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AE308F7C-6BDE-489A-9729-7F83E8783E37}" type="slidenum">
              <a:rPr lang="fr-FR" smtClean="0"/>
              <a:pPr/>
              <a:t>43</a:t>
            </a:fld>
            <a:endParaRPr lang="fr-FR"/>
          </a:p>
        </p:txBody>
      </p:sp>
    </p:spTree>
    <p:extLst>
      <p:ext uri="{BB962C8B-B14F-4D97-AF65-F5344CB8AC3E}">
        <p14:creationId xmlns:p14="http://schemas.microsoft.com/office/powerpoint/2010/main" val="3026877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8"/>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76EBA782-0E06-4DF7-8B84-B55E15AC7CCE}" type="datetime1">
              <a:rPr lang="fr-FR" smtClean="0"/>
              <a:t>25/11/2020</a:t>
            </a:fld>
            <a:endParaRPr lang="fr-FR"/>
          </a:p>
        </p:txBody>
      </p:sp>
      <p:sp>
        <p:nvSpPr>
          <p:cNvPr id="17" name="Espace réservé du pied de page 16"/>
          <p:cNvSpPr>
            <a:spLocks noGrp="1"/>
          </p:cNvSpPr>
          <p:nvPr>
            <p:ph type="ftr" sz="quarter" idx="11"/>
          </p:nvPr>
        </p:nvSpPr>
        <p:spPr/>
        <p:txBody>
          <a:bodyPr/>
          <a:lstStyle/>
          <a:p>
            <a:r>
              <a:rPr lang="fr-FR"/>
              <a:t>Dr. H.Chikh Zaouali</a:t>
            </a:r>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2"/>
            <a:ext cx="457200" cy="441325"/>
          </a:xfrm>
        </p:spPr>
        <p:txBody>
          <a:bodyPr/>
          <a:lstStyle>
            <a:lvl1pPr>
              <a:defRPr>
                <a:solidFill>
                  <a:schemeClr val="accent3">
                    <a:shade val="75000"/>
                  </a:schemeClr>
                </a:solidFill>
              </a:defRPr>
            </a:lvl1pPr>
          </a:lstStyle>
          <a:p>
            <a:fld id="{A3F31473-23EB-4724-8B59-FE6D21D89FA4}" type="slidenum">
              <a:rPr lang="fr-FR" smtClean="0"/>
              <a:pPr/>
              <a:t>‹N°›</a:t>
            </a:fld>
            <a:endParaRPr lang="fr-F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A4260B59-5936-4738-922C-F073250F7ACF}" type="datetime1">
              <a:rPr lang="fr-FR" smtClean="0"/>
              <a:t>25/11/2020</a:t>
            </a:fld>
            <a:endParaRPr lang="fr-F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a:xfrm>
            <a:off x="4361689" y="1026373"/>
            <a:ext cx="457200" cy="441325"/>
          </a:xfrm>
        </p:spPr>
        <p:txBody>
          <a:bodyPr/>
          <a:lstStyle/>
          <a:p>
            <a:fld id="{A3F31473-23EB-4724-8B59-FE6D21D89FA4}" type="slidenum">
              <a:rPr lang="fr-FR" smtClean="0"/>
              <a:pPr/>
              <a:t>‹N°›</a:t>
            </a:fld>
            <a:endParaRPr lang="fr-FR"/>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8"/>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4" name="Espace réservé de la date 3"/>
          <p:cNvSpPr>
            <a:spLocks noGrp="1"/>
          </p:cNvSpPr>
          <p:nvPr>
            <p:ph type="dt" sz="half" idx="10"/>
          </p:nvPr>
        </p:nvSpPr>
        <p:spPr/>
        <p:txBody>
          <a:bodyPr/>
          <a:lstStyle/>
          <a:p>
            <a:fld id="{F1ED6D0F-3F43-46B7-86FE-75A29B5423E6}" type="datetime1">
              <a:rPr lang="fr-FR" smtClean="0"/>
              <a:t>25/11/2020</a:t>
            </a:fld>
            <a:endParaRPr lang="fr-FR"/>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2"/>
            <a:ext cx="457200" cy="441325"/>
          </a:xfrm>
        </p:spPr>
        <p:txBody>
          <a:bodyPr/>
          <a:lstStyle>
            <a:lvl1pPr>
              <a:defRPr>
                <a:solidFill>
                  <a:schemeClr val="accent3">
                    <a:shade val="75000"/>
                  </a:schemeClr>
                </a:solidFill>
              </a:defRPr>
            </a:lvl1pPr>
          </a:lstStyle>
          <a:p>
            <a:fld id="{A3F31473-23EB-4724-8B59-FE6D21D89FA4}" type="slidenum">
              <a:rPr lang="fr-FR" smtClean="0"/>
              <a:pPr/>
              <a:t>‹N°›</a:t>
            </a:fld>
            <a:endParaRPr lang="fr-F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718ED981-F13F-4067-BA2D-0F111144E640}" type="datetime1">
              <a:rPr lang="fr-FR" smtClean="0"/>
              <a:t>25/11/2020</a:t>
            </a:fld>
            <a:endParaRPr lang="fr-FR"/>
          </a:p>
        </p:txBody>
      </p:sp>
      <p:sp>
        <p:nvSpPr>
          <p:cNvPr id="6" name="Espace réservé du pied de page 5"/>
          <p:cNvSpPr>
            <a:spLocks noGrp="1"/>
          </p:cNvSpPr>
          <p:nvPr>
            <p:ph type="ftr" sz="quarter" idx="11"/>
          </p:nvPr>
        </p:nvSpPr>
        <p:spPr/>
        <p:txBody>
          <a:bodyPr/>
          <a:lstStyle/>
          <a:p>
            <a:r>
              <a:rPr lang="fr-FR"/>
              <a:t>Dr. H.Chikh Zaouali</a:t>
            </a:r>
          </a:p>
        </p:txBody>
      </p:sp>
      <p:sp>
        <p:nvSpPr>
          <p:cNvPr id="7" name="Espace réservé du numéro de diapositive 6"/>
          <p:cNvSpPr>
            <a:spLocks noGrp="1"/>
          </p:cNvSpPr>
          <p:nvPr>
            <p:ph type="sldNum" sz="quarter" idx="12"/>
          </p:nvPr>
        </p:nvSpPr>
        <p:spPr/>
        <p:txBody>
          <a:bodyPr/>
          <a:lstStyle/>
          <a:p>
            <a:fld id="{A3F31473-23EB-4724-8B59-FE6D21D89FA4}" type="slidenum">
              <a:rPr lang="fr-FR" smtClean="0"/>
              <a:pPr/>
              <a:t>‹N°›</a:t>
            </a:fld>
            <a:endParaRPr lang="fr-FR"/>
          </a:p>
        </p:txBody>
      </p:sp>
      <p:sp>
        <p:nvSpPr>
          <p:cNvPr id="8" name="Connecteur droit 7"/>
          <p:cNvSpPr>
            <a:spLocks noChangeShapeType="1"/>
          </p:cNvSpPr>
          <p:nvPr/>
        </p:nvSpPr>
        <p:spPr bwMode="auto">
          <a:xfrm flipV="1">
            <a:off x="4563081" y="1575653"/>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1"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1E5F7B05-16E6-4124-932A-BEE21575B976}" type="datetime1">
              <a:rPr lang="fr-FR" smtClean="0"/>
              <a:t>25/11/2020</a:t>
            </a:fld>
            <a:endParaRPr lang="fr-FR"/>
          </a:p>
        </p:txBody>
      </p:sp>
      <p:sp>
        <p:nvSpPr>
          <p:cNvPr id="8" name="Espace réservé du pied de page 7"/>
          <p:cNvSpPr>
            <a:spLocks noGrp="1"/>
          </p:cNvSpPr>
          <p:nvPr>
            <p:ph type="ftr" sz="quarter" idx="11"/>
          </p:nvPr>
        </p:nvSpPr>
        <p:spPr>
          <a:xfrm>
            <a:off x="304800" y="6409944"/>
            <a:ext cx="3581400" cy="365760"/>
          </a:xfrm>
        </p:spPr>
        <p:txBody>
          <a:bodyPr/>
          <a:lstStyle/>
          <a:p>
            <a:r>
              <a:rPr lang="fr-FR"/>
              <a:t>Dr. H.Chikh Zaouali</a:t>
            </a:r>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8"/>
            <a:ext cx="457200" cy="441325"/>
          </a:xfrm>
        </p:spPr>
        <p:txBody>
          <a:bodyPr/>
          <a:lstStyle>
            <a:lvl1pPr algn="ctr">
              <a:defRPr/>
            </a:lvl1pPr>
          </a:lstStyle>
          <a:p>
            <a:fld id="{A3F31473-23EB-4724-8B59-FE6D21D89FA4}" type="slidenum">
              <a:rPr lang="fr-FR" smtClean="0"/>
              <a:pPr/>
              <a:t>‹N°›</a:t>
            </a:fld>
            <a:endParaRPr lang="fr-FR"/>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43DB7914-3679-478C-8B66-9608FC53F59D}" type="datetime1">
              <a:rPr lang="fr-FR" smtClean="0"/>
              <a:t>25/11/2020</a:t>
            </a:fld>
            <a:endParaRPr lang="fr-FR"/>
          </a:p>
        </p:txBody>
      </p:sp>
      <p:sp>
        <p:nvSpPr>
          <p:cNvPr id="4" name="Espace réservé du pied de page 3"/>
          <p:cNvSpPr>
            <a:spLocks noGrp="1"/>
          </p:cNvSpPr>
          <p:nvPr>
            <p:ph type="ftr" sz="quarter" idx="11"/>
          </p:nvPr>
        </p:nvSpPr>
        <p:spPr/>
        <p:txBody>
          <a:bodyPr/>
          <a:lstStyle/>
          <a:p>
            <a:r>
              <a:rPr lang="fr-FR"/>
              <a:t>Dr. H.Chikh Zaouali</a:t>
            </a:r>
          </a:p>
        </p:txBody>
      </p:sp>
      <p:sp>
        <p:nvSpPr>
          <p:cNvPr id="5" name="Espace réservé du numéro de diapositive 4"/>
          <p:cNvSpPr>
            <a:spLocks noGrp="1"/>
          </p:cNvSpPr>
          <p:nvPr>
            <p:ph type="sldNum" sz="quarter" idx="12"/>
          </p:nvPr>
        </p:nvSpPr>
        <p:spPr>
          <a:xfrm>
            <a:off x="4343400" y="1036022"/>
            <a:ext cx="457200" cy="441325"/>
          </a:xfrm>
        </p:spPr>
        <p:txBody>
          <a:bodyPr/>
          <a:lstStyle/>
          <a:p>
            <a:fld id="{A3F31473-23EB-4724-8B59-FE6D21D89FA4}" type="slidenum">
              <a:rPr lang="fr-FR" smtClean="0"/>
              <a:pPr/>
              <a:t>‹N°›</a:t>
            </a:fld>
            <a:endParaRPr lang="fr-F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8"/>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EFC360C6-69ED-4F63-851D-B0A2CD3BB71D}" type="datetime1">
              <a:rPr lang="fr-FR" smtClean="0"/>
              <a:t>25/11/2020</a:t>
            </a:fld>
            <a:endParaRPr lang="fr-F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A3F31473-23EB-4724-8B59-FE6D21D89FA4}" type="slidenum">
              <a:rPr lang="fr-FR" smtClean="0"/>
              <a:pPr/>
              <a:t>‹N°›</a:t>
            </a:fld>
            <a:endParaRPr lang="fr-F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2"/>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40"/>
            <a:ext cx="457200" cy="441325"/>
          </a:xfrm>
        </p:spPr>
        <p:txBody>
          <a:bodyPr/>
          <a:lstStyle>
            <a:lvl1pPr>
              <a:defRPr>
                <a:solidFill>
                  <a:schemeClr val="accent3">
                    <a:shade val="75000"/>
                  </a:schemeClr>
                </a:solidFill>
              </a:defRPr>
            </a:lvl1pPr>
          </a:lstStyle>
          <a:p>
            <a:fld id="{A3F31473-23EB-4724-8B59-FE6D21D89FA4}" type="slidenum">
              <a:rPr lang="fr-FR" smtClean="0"/>
              <a:pPr/>
              <a:t>‹N°›</a:t>
            </a:fld>
            <a:endParaRPr lang="fr-FR"/>
          </a:p>
        </p:txBody>
      </p:sp>
      <p:sp>
        <p:nvSpPr>
          <p:cNvPr id="21" name="Rectangle 20"/>
          <p:cNvSpPr>
            <a:spLocks noChangeArrowheads="1"/>
          </p:cNvSpPr>
          <p:nvPr/>
        </p:nvSpPr>
        <p:spPr bwMode="auto">
          <a:xfrm>
            <a:off x="149352" y="6388387"/>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E0A371DB-0862-4FCE-9580-637C01A4E46D}" type="datetime1">
              <a:rPr lang="fr-FR" smtClean="0"/>
              <a:t>25/11/2020</a:t>
            </a:fld>
            <a:endParaRPr lang="fr-FR"/>
          </a:p>
        </p:txBody>
      </p:sp>
      <p:sp>
        <p:nvSpPr>
          <p:cNvPr id="6" name="Espace réservé du pied de page 5"/>
          <p:cNvSpPr>
            <a:spLocks noGrp="1"/>
          </p:cNvSpPr>
          <p:nvPr>
            <p:ph type="ftr" sz="quarter" idx="11"/>
          </p:nvPr>
        </p:nvSpPr>
        <p:spPr>
          <a:xfrm>
            <a:off x="301752" y="6410848"/>
            <a:ext cx="3383280" cy="365760"/>
          </a:xfrm>
        </p:spPr>
        <p:txBody>
          <a:bodyPr/>
          <a:lstStyle/>
          <a:p>
            <a:r>
              <a:rPr lang="fr-FR"/>
              <a:t>Dr. H.Chikh Zaouali</a:t>
            </a: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40"/>
            <a:ext cx="457200" cy="441325"/>
          </a:xfrm>
        </p:spPr>
        <p:txBody>
          <a:bodyPr/>
          <a:lstStyle/>
          <a:p>
            <a:fld id="{A3F31473-23EB-4724-8B59-FE6D21D89FA4}" type="slidenum">
              <a:rPr lang="fr-FR" smtClean="0"/>
              <a:pPr/>
              <a:t>‹N°›</a:t>
            </a:fld>
            <a:endParaRPr lang="fr-FR"/>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7"/>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BE16F6DF-F86A-4187-9AE2-333A30E3CB72}" type="datetime1">
              <a:rPr lang="fr-FR" smtClean="0"/>
              <a:t>25/11/2020</a:t>
            </a:fld>
            <a:endParaRPr lang="fr-FR"/>
          </a:p>
        </p:txBody>
      </p:sp>
      <p:sp>
        <p:nvSpPr>
          <p:cNvPr id="6" name="Espace réservé du pied de page 5"/>
          <p:cNvSpPr>
            <a:spLocks noGrp="1"/>
          </p:cNvSpPr>
          <p:nvPr>
            <p:ph type="ftr" sz="quarter" idx="11"/>
          </p:nvPr>
        </p:nvSpPr>
        <p:spPr>
          <a:xfrm>
            <a:off x="301752" y="6410848"/>
            <a:ext cx="3584448" cy="365760"/>
          </a:xfrm>
        </p:spPr>
        <p:txBody>
          <a:bodyPr/>
          <a:lstStyle/>
          <a:p>
            <a:r>
              <a:rPr lang="fr-FR"/>
              <a:t>Dr. H.Chikh Zaouali</a:t>
            </a: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BB1705F1-AD3C-47AC-B7A9-1550D4CF0652}" type="datetime1">
              <a:rPr lang="fr-FR" smtClean="0"/>
              <a:t>25/11/2020</a:t>
            </a:fld>
            <a:endParaRPr lang="fr-F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A3F31473-23EB-4724-8B59-FE6D21D89FA4}" type="slidenum">
              <a:rPr lang="fr-FR" smtClean="0"/>
              <a:pPr/>
              <a:t>‹N°›</a:t>
            </a:fld>
            <a:endParaRPr lang="fr-F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8"/>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3" y="3009903"/>
            <a:ext cx="457200" cy="441325"/>
          </a:xfrm>
        </p:spPr>
        <p:txBody>
          <a:bodyPr/>
          <a:lstStyle/>
          <a:p>
            <a:fld id="{A3F31473-23EB-4724-8B59-FE6D21D89FA4}" type="slidenum">
              <a:rPr lang="fr-FR" smtClean="0"/>
              <a:pPr/>
              <a:t>‹N°›</a:t>
            </a:fld>
            <a:endParaRPr lang="fr-FR"/>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3146173B-8903-42F1-9EB1-27C23330796E}" type="datetime1">
              <a:rPr lang="fr-FR" smtClean="0"/>
              <a:t>25/11/2020</a:t>
            </a:fld>
            <a:endParaRPr lang="fr-FR"/>
          </a:p>
        </p:txBody>
      </p:sp>
      <p:sp>
        <p:nvSpPr>
          <p:cNvPr id="5" name="Espace réservé du pied de page 4"/>
          <p:cNvSpPr>
            <a:spLocks noGrp="1"/>
          </p:cNvSpPr>
          <p:nvPr>
            <p:ph type="ftr" sz="quarter" idx="11"/>
          </p:nvPr>
        </p:nvSpPr>
        <p:spPr/>
        <p:txBody>
          <a:bodyPr/>
          <a:lstStyle/>
          <a:p>
            <a:r>
              <a:rPr lang="fr-FR"/>
              <a:t>Dr. H.Chikh Zaouali</a:t>
            </a:r>
          </a:p>
        </p:txBody>
      </p:sp>
      <p:sp>
        <p:nvSpPr>
          <p:cNvPr id="2" name="Titre vertical 1"/>
          <p:cNvSpPr>
            <a:spLocks noGrp="1"/>
          </p:cNvSpPr>
          <p:nvPr>
            <p:ph type="title" orient="vert"/>
          </p:nvPr>
        </p:nvSpPr>
        <p:spPr>
          <a:xfrm>
            <a:off x="7391401" y="304802"/>
            <a:ext cx="1447800" cy="5851525"/>
          </a:xfrm>
        </p:spPr>
        <p:txBody>
          <a:bodyPr vert="eaVert"/>
          <a:lstStyle/>
          <a:p>
            <a:r>
              <a:rPr kumimoji="0" lang="fr-FR"/>
              <a:t>Cliquez pour modifier le style du titre</a:t>
            </a:r>
            <a:endParaRPr kumimoji="0" 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2"/>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7"/>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B29EA4AC-3EB4-4C20-AA8A-FFFC19BA12B2}" type="datetime1">
              <a:rPr lang="fr-FR" smtClean="0"/>
              <a:t>25/11/2020</a:t>
            </a:fld>
            <a:endParaRPr lang="fr-F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r>
              <a:rPr lang="fr-FR"/>
              <a:t>Dr. H.Chikh Zaouali</a:t>
            </a: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5"/>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A3F31473-23EB-4724-8B59-FE6D21D89FA4}" type="slidenum">
              <a:rPr lang="fr-FR" smtClean="0"/>
              <a:pPr/>
              <a:t>‹N°›</a:t>
            </a:fld>
            <a:endParaRPr lang="fr-F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hf hd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polytech-grenoble.f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1.wmf"/><Relationship Id="rId5" Type="http://schemas.openxmlformats.org/officeDocument/2006/relationships/oleObject" Target="../embeddings/oleObject1.bin"/><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6.xml"/><Relationship Id="rId7"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4.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9.wmf"/><Relationship Id="rId4" Type="http://schemas.openxmlformats.org/officeDocument/2006/relationships/oleObject" Target="../embeddings/oleObject4.bin"/></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1.wmf"/><Relationship Id="rId4" Type="http://schemas.openxmlformats.org/officeDocument/2006/relationships/oleObject" Target="../embeddings/oleObject5.bin"/></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5.png"/><Relationship Id="rId7" Type="http://schemas.openxmlformats.org/officeDocument/2006/relationships/image" Target="../media/image24.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44.wmf"/><Relationship Id="rId4" Type="http://schemas.openxmlformats.org/officeDocument/2006/relationships/oleObject" Target="../embeddings/oleObject6.bin"/></Relationships>
</file>

<file path=ppt/slides/_rels/slide5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png"/><Relationship Id="rId7"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11" Type="http://schemas.openxmlformats.org/officeDocument/2006/relationships/image" Target="../media/image53.png"/><Relationship Id="rId5" Type="http://schemas.openxmlformats.org/officeDocument/2006/relationships/image" Target="../media/image49.png"/><Relationship Id="rId10" Type="http://schemas.openxmlformats.org/officeDocument/2006/relationships/image" Target="../media/image52.png"/><Relationship Id="rId4" Type="http://schemas.openxmlformats.org/officeDocument/2006/relationships/image" Target="../media/image48.png"/><Relationship Id="rId9" Type="http://schemas.openxmlformats.org/officeDocument/2006/relationships/image" Target="../media/image51.png"/></Relationships>
</file>

<file path=ppt/slides/_rels/slide58.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image" Target="../media/image31.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52.wmf"/><Relationship Id="rId11" Type="http://schemas.openxmlformats.org/officeDocument/2006/relationships/image" Target="../media/image32.png"/><Relationship Id="rId5" Type="http://schemas.openxmlformats.org/officeDocument/2006/relationships/oleObject" Target="../embeddings/oleObject10.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12.bin"/></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56.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17.bin"/><Relationship Id="rId14" Type="http://schemas.openxmlformats.org/officeDocument/2006/relationships/image" Target="../media/image60.wmf"/></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8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8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8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Résultat de recherche d'images pour &quot;classification&quot;"/>
          <p:cNvPicPr>
            <a:picLocks noChangeAspect="1" noChangeArrowheads="1"/>
          </p:cNvPicPr>
          <p:nvPr/>
        </p:nvPicPr>
        <p:blipFill>
          <a:blip r:embed="rId2" cstate="print"/>
          <a:srcRect/>
          <a:stretch>
            <a:fillRect/>
          </a:stretch>
        </p:blipFill>
        <p:spPr bwMode="auto">
          <a:xfrm>
            <a:off x="251520" y="2780928"/>
            <a:ext cx="4104456" cy="3528392"/>
          </a:xfrm>
          <a:prstGeom prst="rect">
            <a:avLst/>
          </a:prstGeom>
          <a:noFill/>
        </p:spPr>
      </p:pic>
      <p:sp>
        <p:nvSpPr>
          <p:cNvPr id="3" name="Subtitle 2"/>
          <p:cNvSpPr>
            <a:spLocks noGrp="1"/>
          </p:cNvSpPr>
          <p:nvPr>
            <p:ph type="subTitle" idx="1"/>
          </p:nvPr>
        </p:nvSpPr>
        <p:spPr>
          <a:xfrm>
            <a:off x="115416" y="2396480"/>
            <a:ext cx="6400800" cy="528464"/>
          </a:xfrm>
        </p:spPr>
        <p:txBody>
          <a:bodyPr>
            <a:normAutofit/>
          </a:bodyPr>
          <a:lstStyle/>
          <a:p>
            <a:pPr marL="0" indent="0" algn="l">
              <a:spcBef>
                <a:spcPts val="0"/>
              </a:spcBef>
              <a:buNone/>
            </a:pPr>
            <a:r>
              <a:rPr lang="fr-FR" sz="1800" b="1" spc="600" dirty="0">
                <a:solidFill>
                  <a:schemeClr val="accent3">
                    <a:lumMod val="75000"/>
                  </a:schemeClr>
                </a:solidFill>
              </a:rPr>
              <a:t>Fouille de DONNEES</a:t>
            </a:r>
            <a:endParaRPr lang="fr-FR" sz="2800" b="1" i="0" spc="600" dirty="0">
              <a:solidFill>
                <a:schemeClr val="accent3">
                  <a:lumMod val="75000"/>
                </a:schemeClr>
              </a:solidFill>
            </a:endParaRPr>
          </a:p>
        </p:txBody>
      </p:sp>
      <p:sp>
        <p:nvSpPr>
          <p:cNvPr id="2" name="Title 1"/>
          <p:cNvSpPr>
            <a:spLocks noGrp="1"/>
          </p:cNvSpPr>
          <p:nvPr>
            <p:ph type="ctrTitle"/>
          </p:nvPr>
        </p:nvSpPr>
        <p:spPr>
          <a:xfrm>
            <a:off x="111968" y="596280"/>
            <a:ext cx="7772400" cy="1752600"/>
          </a:xfrm>
        </p:spPr>
        <p:txBody>
          <a:bodyPr>
            <a:normAutofit/>
          </a:bodyPr>
          <a:lstStyle/>
          <a:p>
            <a:pPr algn="l" defTabSz="914400">
              <a:lnSpc>
                <a:spcPct val="80000"/>
              </a:lnSpc>
              <a:spcBef>
                <a:spcPts val="0"/>
              </a:spcBef>
              <a:buNone/>
            </a:pPr>
            <a:r>
              <a:rPr lang="fr-FR" sz="4600" b="1" spc="300" dirty="0">
                <a:solidFill>
                  <a:srgbClr val="39527B"/>
                </a:solidFill>
                <a:latin typeface="Corbel"/>
              </a:rPr>
              <a:t>DATA  MINING</a:t>
            </a:r>
            <a:endParaRPr lang="fr-FR" sz="4600" b="1" i="0" spc="300" dirty="0">
              <a:solidFill>
                <a:srgbClr val="39527B"/>
              </a:solidFill>
              <a:latin typeface="Corbel"/>
              <a:ea typeface="+mj-ea"/>
              <a:cs typeface="+mj-cs"/>
            </a:endParaRPr>
          </a:p>
        </p:txBody>
      </p:sp>
      <p:sp>
        <p:nvSpPr>
          <p:cNvPr id="13314" name="AutoShape 2" descr="Résultat de recherche d'images pour &quot;classification clipart&quot;"/>
          <p:cNvSpPr>
            <a:spLocks noChangeAspect="1" noChangeArrowheads="1"/>
          </p:cNvSpPr>
          <p:nvPr/>
        </p:nvSpPr>
        <p:spPr bwMode="auto">
          <a:xfrm>
            <a:off x="116711" y="-144463"/>
            <a:ext cx="22866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8" name="ZoneTexte 7"/>
          <p:cNvSpPr txBox="1"/>
          <p:nvPr/>
        </p:nvSpPr>
        <p:spPr>
          <a:xfrm>
            <a:off x="4529982" y="3573016"/>
            <a:ext cx="4614018" cy="3539430"/>
          </a:xfrm>
          <a:prstGeom prst="rect">
            <a:avLst/>
          </a:prstGeom>
          <a:noFill/>
        </p:spPr>
        <p:txBody>
          <a:bodyPr wrap="square" rtlCol="0">
            <a:spAutoFit/>
          </a:bodyPr>
          <a:lstStyle/>
          <a:p>
            <a:r>
              <a:rPr lang="fr-FR" sz="2000" i="1" dirty="0">
                <a:solidFill>
                  <a:schemeClr val="accent3">
                    <a:lumMod val="50000"/>
                  </a:schemeClr>
                </a:solidFill>
              </a:rPr>
              <a:t>Cours élaboré par:</a:t>
            </a:r>
          </a:p>
          <a:p>
            <a:r>
              <a:rPr lang="fr-FR" sz="2000" i="1" dirty="0">
                <a:solidFill>
                  <a:schemeClr val="accent3">
                    <a:lumMod val="50000"/>
                  </a:schemeClr>
                </a:solidFill>
              </a:rPr>
              <a:t>Mme </a:t>
            </a:r>
            <a:r>
              <a:rPr lang="fr-FR" sz="2000" i="1" dirty="0" err="1">
                <a:solidFill>
                  <a:schemeClr val="accent3">
                    <a:lumMod val="50000"/>
                  </a:schemeClr>
                </a:solidFill>
              </a:rPr>
              <a:t>Hanen</a:t>
            </a:r>
            <a:r>
              <a:rPr lang="fr-FR" sz="2000" i="1" dirty="0">
                <a:solidFill>
                  <a:schemeClr val="accent3">
                    <a:lumMod val="50000"/>
                  </a:schemeClr>
                </a:solidFill>
              </a:rPr>
              <a:t> </a:t>
            </a:r>
            <a:r>
              <a:rPr lang="fr-FR" sz="2000" i="1" dirty="0" err="1">
                <a:solidFill>
                  <a:schemeClr val="accent3">
                    <a:lumMod val="50000"/>
                  </a:schemeClr>
                </a:solidFill>
              </a:rPr>
              <a:t>Gabzili</a:t>
            </a:r>
            <a:r>
              <a:rPr lang="fr-FR" sz="2000" i="1" dirty="0">
                <a:solidFill>
                  <a:schemeClr val="accent3">
                    <a:lumMod val="50000"/>
                  </a:schemeClr>
                </a:solidFill>
              </a:rPr>
              <a:t> </a:t>
            </a:r>
            <a:r>
              <a:rPr lang="fr-FR" sz="2000" i="1" dirty="0" err="1">
                <a:solidFill>
                  <a:schemeClr val="accent3">
                    <a:lumMod val="50000"/>
                  </a:schemeClr>
                </a:solidFill>
              </a:rPr>
              <a:t>Chikh</a:t>
            </a:r>
            <a:r>
              <a:rPr lang="fr-FR" sz="2000" i="1" dirty="0">
                <a:solidFill>
                  <a:schemeClr val="accent3">
                    <a:lumMod val="50000"/>
                  </a:schemeClr>
                </a:solidFill>
              </a:rPr>
              <a:t> </a:t>
            </a:r>
            <a:r>
              <a:rPr lang="fr-FR" sz="2000" i="1" dirty="0" err="1">
                <a:solidFill>
                  <a:schemeClr val="accent3">
                    <a:lumMod val="50000"/>
                  </a:schemeClr>
                </a:solidFill>
              </a:rPr>
              <a:t>Zaouali</a:t>
            </a:r>
            <a:endParaRPr lang="fr-FR" sz="2000" i="1" dirty="0">
              <a:solidFill>
                <a:schemeClr val="accent3">
                  <a:lumMod val="50000"/>
                </a:schemeClr>
              </a:solidFill>
            </a:endParaRPr>
          </a:p>
          <a:p>
            <a:endParaRPr lang="fr-FR" sz="1600" i="1" dirty="0"/>
          </a:p>
          <a:p>
            <a:r>
              <a:rPr lang="fr-FR" sz="1600" i="1" dirty="0"/>
              <a:t>Docteur en Génie Electrique: traitement du signal et image </a:t>
            </a:r>
          </a:p>
          <a:p>
            <a:r>
              <a:rPr lang="fr-FR" sz="1600" i="1" dirty="0"/>
              <a:t>Maître Assistante </a:t>
            </a:r>
          </a:p>
          <a:p>
            <a:endParaRPr lang="fr-FR" sz="1600" i="1" dirty="0"/>
          </a:p>
          <a:p>
            <a:endParaRPr lang="fr-FR" sz="1600" i="1" dirty="0"/>
          </a:p>
          <a:p>
            <a:endParaRPr lang="fr-FR" sz="1600" i="1" dirty="0"/>
          </a:p>
          <a:p>
            <a:endParaRPr lang="fr-FR" sz="1600" i="1" dirty="0"/>
          </a:p>
          <a:p>
            <a:endParaRPr lang="fr-FR" sz="1600" i="1" dirty="0"/>
          </a:p>
          <a:p>
            <a:r>
              <a:rPr lang="fr-FR" sz="1600" i="1" dirty="0"/>
              <a:t>Dernière révision: Septembre 2020</a:t>
            </a:r>
          </a:p>
          <a:p>
            <a:endParaRPr lang="fr-FR" sz="2400" dirty="0">
              <a:solidFill>
                <a:schemeClr val="accent2">
                  <a:lumMod val="50000"/>
                </a:schemeClr>
              </a:solidFill>
              <a:latin typeface="+mj-lt"/>
            </a:endParaRPr>
          </a:p>
        </p:txBody>
      </p:sp>
      <p:sp>
        <p:nvSpPr>
          <p:cNvPr id="14338" name="AutoShape 2" descr="Résultat de recherche d'images pour &quot;classification clipart&quot;"/>
          <p:cNvSpPr>
            <a:spLocks noChangeAspect="1" noChangeArrowheads="1"/>
          </p:cNvSpPr>
          <p:nvPr/>
        </p:nvSpPr>
        <p:spPr bwMode="auto">
          <a:xfrm>
            <a:off x="116711" y="-144463"/>
            <a:ext cx="22866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4408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DESCRIPTION</a:t>
            </a:r>
          </a:p>
        </p:txBody>
      </p:sp>
      <p:sp>
        <p:nvSpPr>
          <p:cNvPr id="3" name="Espace réservé du contenu 2"/>
          <p:cNvSpPr>
            <a:spLocks noGrp="1"/>
          </p:cNvSpPr>
          <p:nvPr>
            <p:ph sz="quarter" idx="1"/>
          </p:nvPr>
        </p:nvSpPr>
        <p:spPr>
          <a:xfrm>
            <a:off x="140460" y="1247035"/>
            <a:ext cx="8856984" cy="4896544"/>
          </a:xfrm>
        </p:spPr>
        <p:txBody>
          <a:bodyPr>
            <a:noAutofit/>
          </a:bodyPr>
          <a:lstStyle/>
          <a:p>
            <a:pPr algn="justLow"/>
            <a:r>
              <a:rPr lang="fr-FR" sz="2000" dirty="0">
                <a:solidFill>
                  <a:schemeClr val="accent1">
                    <a:lumMod val="75000"/>
                  </a:schemeClr>
                </a:solidFill>
              </a:rPr>
              <a:t>Responsable </a:t>
            </a:r>
            <a:r>
              <a:rPr lang="fr-FR" sz="2000" dirty="0"/>
              <a:t>: Dr.  </a:t>
            </a:r>
            <a:r>
              <a:rPr lang="fr-FR" sz="2000" dirty="0" err="1"/>
              <a:t>Hanen</a:t>
            </a:r>
            <a:r>
              <a:rPr lang="fr-FR" sz="2000" dirty="0"/>
              <a:t> </a:t>
            </a:r>
            <a:r>
              <a:rPr lang="fr-FR" sz="2000" dirty="0" err="1"/>
              <a:t>Gabzili</a:t>
            </a:r>
            <a:r>
              <a:rPr lang="fr-FR" sz="2000" dirty="0"/>
              <a:t> </a:t>
            </a:r>
            <a:r>
              <a:rPr lang="fr-FR" sz="2000" dirty="0" err="1"/>
              <a:t>Chikh</a:t>
            </a:r>
            <a:r>
              <a:rPr lang="fr-FR" sz="2000" dirty="0"/>
              <a:t> </a:t>
            </a:r>
            <a:r>
              <a:rPr lang="fr-FR" sz="2000" dirty="0" err="1"/>
              <a:t>Zaouali</a:t>
            </a:r>
            <a:endParaRPr lang="fr-FR" sz="2000" dirty="0"/>
          </a:p>
          <a:p>
            <a:pPr algn="justLow"/>
            <a:r>
              <a:rPr lang="fr-FR" sz="2000" dirty="0">
                <a:solidFill>
                  <a:schemeClr val="accent1">
                    <a:lumMod val="75000"/>
                  </a:schemeClr>
                </a:solidFill>
              </a:rPr>
              <a:t>Formation</a:t>
            </a:r>
            <a:r>
              <a:rPr lang="fr-FR" sz="2000" dirty="0"/>
              <a:t> : 2</a:t>
            </a:r>
            <a:r>
              <a:rPr lang="fr-FR" sz="2000" baseline="30000" dirty="0"/>
              <a:t>ème</a:t>
            </a:r>
            <a:r>
              <a:rPr lang="fr-FR" sz="2000" dirty="0"/>
              <a:t>  Master IOT à l’ISSAT (Semestre 1)</a:t>
            </a:r>
          </a:p>
          <a:p>
            <a:pPr algn="justLow"/>
            <a:r>
              <a:rPr lang="fr-FR" sz="2000" dirty="0">
                <a:solidFill>
                  <a:schemeClr val="accent1">
                    <a:lumMod val="75000"/>
                  </a:schemeClr>
                </a:solidFill>
              </a:rPr>
              <a:t>Filière</a:t>
            </a:r>
            <a:r>
              <a:rPr lang="fr-FR" sz="2000" dirty="0"/>
              <a:t>: STIC</a:t>
            </a:r>
            <a:endParaRPr lang="fr-FR" sz="2000" dirty="0">
              <a:hlinkClick r:id="rId2"/>
            </a:endParaRPr>
          </a:p>
          <a:p>
            <a:pPr algn="justLow"/>
            <a:r>
              <a:rPr lang="fr-FR" sz="2000" dirty="0">
                <a:solidFill>
                  <a:schemeClr val="accent1">
                    <a:lumMod val="75000"/>
                  </a:schemeClr>
                </a:solidFill>
              </a:rPr>
              <a:t>Titre du cours</a:t>
            </a:r>
            <a:r>
              <a:rPr lang="fr-FR" sz="2000" dirty="0"/>
              <a:t>: Datamining</a:t>
            </a:r>
          </a:p>
          <a:p>
            <a:pPr algn="justLow"/>
            <a:r>
              <a:rPr lang="fr-FR" sz="2000" dirty="0">
                <a:solidFill>
                  <a:schemeClr val="accent1">
                    <a:lumMod val="75000"/>
                  </a:schemeClr>
                </a:solidFill>
              </a:rPr>
              <a:t>Méthodes pédagogiques </a:t>
            </a:r>
            <a:r>
              <a:rPr lang="fr-FR" sz="2000" dirty="0"/>
              <a:t>:</a:t>
            </a:r>
            <a:r>
              <a:rPr lang="fr-FR" sz="2000" dirty="0">
                <a:solidFill>
                  <a:schemeClr val="accent1">
                    <a:lumMod val="75000"/>
                  </a:schemeClr>
                </a:solidFill>
              </a:rPr>
              <a:t> </a:t>
            </a:r>
          </a:p>
          <a:p>
            <a:pPr lvl="1" algn="justLow"/>
            <a:r>
              <a:rPr lang="fr-FR" sz="1500" dirty="0">
                <a:solidFill>
                  <a:schemeClr val="tx1"/>
                </a:solidFill>
              </a:rPr>
              <a:t>Cours Intégré</a:t>
            </a:r>
          </a:p>
          <a:p>
            <a:pPr lvl="1" algn="justLow"/>
            <a:r>
              <a:rPr lang="fr-FR" sz="1500" dirty="0">
                <a:solidFill>
                  <a:schemeClr val="tx1"/>
                </a:solidFill>
              </a:rPr>
              <a:t>Travaux pratiques</a:t>
            </a:r>
          </a:p>
          <a:p>
            <a:pPr algn="justLow"/>
            <a:r>
              <a:rPr lang="fr-FR" sz="2000" dirty="0">
                <a:solidFill>
                  <a:schemeClr val="accent1">
                    <a:lumMod val="75000"/>
                  </a:schemeClr>
                </a:solidFill>
              </a:rPr>
              <a:t>Volume horaire</a:t>
            </a:r>
            <a:r>
              <a:rPr lang="fr-FR" sz="2000" dirty="0"/>
              <a:t>: 31.5 heures (21 heures Cours intégré et 10.5 heures </a:t>
            </a:r>
            <a:r>
              <a:rPr lang="fr-FR" sz="2000" dirty="0" err="1"/>
              <a:t>TPs</a:t>
            </a:r>
            <a:r>
              <a:rPr lang="fr-FR" sz="2000" dirty="0"/>
              <a:t>) </a:t>
            </a:r>
          </a:p>
          <a:p>
            <a:pPr algn="justLow"/>
            <a:r>
              <a:rPr lang="fr-FR" sz="2000" dirty="0">
                <a:solidFill>
                  <a:schemeClr val="accent1">
                    <a:lumMod val="75000"/>
                  </a:schemeClr>
                </a:solidFill>
              </a:rPr>
              <a:t>Coefficient : 1.5</a:t>
            </a:r>
          </a:p>
          <a:p>
            <a:pPr algn="justLow"/>
            <a:r>
              <a:rPr lang="fr-FR" sz="2000" dirty="0" err="1">
                <a:solidFill>
                  <a:schemeClr val="accent1">
                    <a:lumMod val="75000"/>
                  </a:schemeClr>
                </a:solidFill>
              </a:rPr>
              <a:t>Pré-requis</a:t>
            </a:r>
            <a:r>
              <a:rPr lang="fr-FR" sz="2000" dirty="0">
                <a:solidFill>
                  <a:schemeClr val="accent1">
                    <a:lumMod val="75000"/>
                  </a:schemeClr>
                </a:solidFill>
              </a:rPr>
              <a:t>:  </a:t>
            </a:r>
            <a:r>
              <a:rPr lang="fr-FR" sz="2000" dirty="0"/>
              <a:t>Aucun</a:t>
            </a:r>
          </a:p>
          <a:p>
            <a:pPr algn="justLow"/>
            <a:r>
              <a:rPr lang="fr-FR" sz="2000" dirty="0">
                <a:solidFill>
                  <a:schemeClr val="accent1">
                    <a:lumMod val="75000"/>
                  </a:schemeClr>
                </a:solidFill>
              </a:rPr>
              <a:t>Objectifs</a:t>
            </a:r>
            <a:r>
              <a:rPr lang="fr-FR" sz="2000" dirty="0"/>
              <a:t>: Donner des pistes de réflexion à la fouille de données et particulièrement à la classification des données et présenter les enjeux de la classification non-supervisée et de la classification supervisée.</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2</a:t>
            </a:fld>
            <a:endParaRPr lang="fr-FR"/>
          </a:p>
        </p:txBody>
      </p:sp>
      <p:sp>
        <p:nvSpPr>
          <p:cNvPr id="5" name="Espace réservé du pied de page 4">
            <a:extLst>
              <a:ext uri="{FF2B5EF4-FFF2-40B4-BE49-F238E27FC236}">
                <a16:creationId xmlns:a16="http://schemas.microsoft.com/office/drawing/2014/main" id="{61D03B94-F8CD-4190-B4CD-8A6A5E5CBE1C}"/>
              </a:ext>
            </a:extLst>
          </p:cNvPr>
          <p:cNvSpPr>
            <a:spLocks noGrp="1"/>
          </p:cNvSpPr>
          <p:nvPr>
            <p:ph type="ftr" sz="quarter" idx="11"/>
          </p:nvPr>
        </p:nvSpPr>
        <p:spPr/>
        <p:txBody>
          <a:bodyPr/>
          <a:lstStyle/>
          <a:p>
            <a:r>
              <a:rPr lang="fr-FR"/>
              <a:t>Dr. H.Chikh Zaouali</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RÉFÉRENCES</a:t>
            </a:r>
          </a:p>
        </p:txBody>
      </p:sp>
      <p:sp>
        <p:nvSpPr>
          <p:cNvPr id="3" name="Espace réservé du contenu 2"/>
          <p:cNvSpPr>
            <a:spLocks noGrp="1"/>
          </p:cNvSpPr>
          <p:nvPr>
            <p:ph sz="quarter" idx="1"/>
          </p:nvPr>
        </p:nvSpPr>
        <p:spPr>
          <a:xfrm>
            <a:off x="301752" y="1527048"/>
            <a:ext cx="8590728" cy="4572000"/>
          </a:xfrm>
        </p:spPr>
        <p:txBody>
          <a:bodyPr>
            <a:normAutofit/>
          </a:bodyPr>
          <a:lstStyle/>
          <a:p>
            <a:r>
              <a:rPr lang="fr-FR" sz="2000" dirty="0"/>
              <a:t>Christophe </a:t>
            </a:r>
            <a:r>
              <a:rPr lang="fr-FR" sz="2000" dirty="0" err="1"/>
              <a:t>Chesneau</a:t>
            </a:r>
            <a:r>
              <a:rPr lang="fr-FR" sz="2000" dirty="0"/>
              <a:t> , « Eléments de classification », Université de Caen, http://www.math.unicaen.fr/~chesneau/classif-cours.pdf</a:t>
            </a:r>
          </a:p>
          <a:p>
            <a:r>
              <a:rPr lang="fr-FR" sz="2000" dirty="0"/>
              <a:t>Ph.  Preux, « Fouille de données: notes de cours »,  Université de Lille 3, 2011. </a:t>
            </a:r>
          </a:p>
          <a:p>
            <a:pPr lvl="0"/>
            <a:r>
              <a:rPr lang="fr-FR" sz="2000" dirty="0"/>
              <a:t>Maurice ROUX Professeur émérite, Algorithmes de classification, Université Paul Cézanne Marseille, France.</a:t>
            </a:r>
          </a:p>
          <a:p>
            <a:pPr lvl="0"/>
            <a:r>
              <a:rPr lang="fr-FR" sz="2000" dirty="0" err="1"/>
              <a:t>Lebart</a:t>
            </a:r>
            <a:r>
              <a:rPr lang="fr-FR" sz="2000" dirty="0"/>
              <a:t>, L., </a:t>
            </a:r>
            <a:r>
              <a:rPr lang="fr-FR" sz="2000" dirty="0" err="1"/>
              <a:t>Morineau</a:t>
            </a:r>
            <a:r>
              <a:rPr lang="fr-FR" sz="2000" dirty="0"/>
              <a:t>, A., Piron M, Analyse exploratoire multidimensionnelle, </a:t>
            </a:r>
            <a:r>
              <a:rPr lang="fr-FR" sz="2000" dirty="0" err="1"/>
              <a:t>Dunod</a:t>
            </a:r>
            <a:r>
              <a:rPr lang="fr-FR" sz="2000" dirty="0"/>
              <a:t>, Paris, 2000.</a:t>
            </a:r>
          </a:p>
          <a:p>
            <a:pPr algn="just"/>
            <a:r>
              <a:rPr lang="fr-FR" sz="2000" dirty="0"/>
              <a:t>http://www.fil.univ-lille1.fr/~decomite/ue/APE/tp/tp1/weka2009.pdf</a:t>
            </a:r>
          </a:p>
          <a:p>
            <a:r>
              <a:rPr lang="fr-FR" sz="2000" dirty="0"/>
              <a:t>Stéphane </a:t>
            </a:r>
            <a:r>
              <a:rPr lang="fr-FR" sz="2000" dirty="0" err="1"/>
              <a:t>Tufféry</a:t>
            </a:r>
            <a:r>
              <a:rPr lang="fr-FR" sz="2000" dirty="0"/>
              <a:t>, «DATA MINING &amp; STATISTIQUE DÉCISIONNELLE», Éditions Technip, 2005, 2</a:t>
            </a:r>
            <a:r>
              <a:rPr lang="fr-FR" sz="2000" baseline="30000" dirty="0"/>
              <a:t>de</a:t>
            </a:r>
            <a:r>
              <a:rPr lang="fr-FR" sz="2000" dirty="0"/>
              <a:t> édition 2007, préface de Gilbert </a:t>
            </a:r>
            <a:r>
              <a:rPr lang="fr-FR" sz="2000" dirty="0" err="1"/>
              <a:t>Saporta</a:t>
            </a:r>
            <a:endParaRPr lang="fr-FR" sz="2000" dirty="0"/>
          </a:p>
          <a:p>
            <a:endParaRPr lang="fr-FR" sz="2000" dirty="0"/>
          </a:p>
          <a:p>
            <a:endParaRPr lang="fr-FR" dirty="0"/>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3</a:t>
            </a:fld>
            <a:endParaRPr lang="fr-FR"/>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Chapitre 1</a:t>
            </a:r>
          </a:p>
        </p:txBody>
      </p:sp>
      <p:sp>
        <p:nvSpPr>
          <p:cNvPr id="4" name="Titre 3"/>
          <p:cNvSpPr>
            <a:spLocks noGrp="1"/>
          </p:cNvSpPr>
          <p:nvPr>
            <p:ph type="title"/>
          </p:nvPr>
        </p:nvSpPr>
        <p:spPr/>
        <p:txBody>
          <a:bodyPr/>
          <a:lstStyle/>
          <a:p>
            <a:r>
              <a:rPr lang="fr-FR" dirty="0"/>
              <a:t>Fouille de données</a:t>
            </a:r>
          </a:p>
        </p:txBody>
      </p:sp>
      <p:sp>
        <p:nvSpPr>
          <p:cNvPr id="6" name="Espace réservé du numéro de diapositive 5"/>
          <p:cNvSpPr>
            <a:spLocks noGrp="1"/>
          </p:cNvSpPr>
          <p:nvPr>
            <p:ph type="sldNum" sz="quarter" idx="12"/>
          </p:nvPr>
        </p:nvSpPr>
        <p:spPr/>
        <p:txBody>
          <a:bodyPr/>
          <a:lstStyle/>
          <a:p>
            <a:fld id="{A3F31473-23EB-4724-8B59-FE6D21D89FA4}" type="slidenum">
              <a:rPr lang="fr-FR" smtClean="0"/>
              <a:pPr/>
              <a:t>4</a:t>
            </a:fld>
            <a:endParaRPr lang="fr-FR"/>
          </a:p>
        </p:txBody>
      </p:sp>
      <p:sp>
        <p:nvSpPr>
          <p:cNvPr id="7" name="Espace réservé du pied de page 6"/>
          <p:cNvSpPr>
            <a:spLocks noGrp="1"/>
          </p:cNvSpPr>
          <p:nvPr>
            <p:ph type="ftr" sz="quarter" idx="11"/>
          </p:nvPr>
        </p:nvSpPr>
        <p:spPr/>
        <p:txBody>
          <a:bodyPr/>
          <a:lstStyle/>
          <a:p>
            <a:r>
              <a:rPr lang="fr-FR"/>
              <a:t>Dr. H.Chikh Zaouali</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83568" y="2492896"/>
            <a:ext cx="6995120" cy="2016224"/>
          </a:xfrm>
        </p:spPr>
        <p:txBody>
          <a:bodyPr>
            <a:normAutofit fontScale="77500" lnSpcReduction="20000"/>
          </a:bodyPr>
          <a:lstStyle/>
          <a:p>
            <a:pPr marL="274320" lvl="1" indent="0">
              <a:buNone/>
            </a:pPr>
            <a:r>
              <a:rPr lang="fr-FR" sz="3000" b="1" dirty="0">
                <a:solidFill>
                  <a:schemeClr val="tx1"/>
                </a:solidFill>
              </a:rPr>
              <a:t>Plan</a:t>
            </a:r>
          </a:p>
          <a:p>
            <a:pPr marL="274320" lvl="1" indent="0">
              <a:buNone/>
            </a:pPr>
            <a:r>
              <a:rPr lang="fr-FR" sz="2400" dirty="0">
                <a:solidFill>
                  <a:schemeClr val="tx1"/>
                </a:solidFill>
              </a:rPr>
              <a:t>	</a:t>
            </a:r>
            <a:r>
              <a:rPr lang="fr-FR" sz="2600" dirty="0">
                <a:solidFill>
                  <a:schemeClr val="tx1"/>
                </a:solidFill>
              </a:rPr>
              <a:t>1.1. Qu’est-ce que le datamining ?</a:t>
            </a:r>
          </a:p>
          <a:p>
            <a:pPr marL="274320" lvl="1" indent="0">
              <a:buNone/>
            </a:pPr>
            <a:r>
              <a:rPr lang="fr-FR" sz="2600" dirty="0">
                <a:solidFill>
                  <a:schemeClr val="tx1"/>
                </a:solidFill>
              </a:rPr>
              <a:t>	1.2. A quoi sert le datamining ?</a:t>
            </a:r>
          </a:p>
          <a:p>
            <a:pPr marL="274320" lvl="1" indent="0">
              <a:buNone/>
            </a:pPr>
            <a:r>
              <a:rPr lang="fr-FR" sz="2600" dirty="0">
                <a:solidFill>
                  <a:schemeClr val="tx1"/>
                </a:solidFill>
              </a:rPr>
              <a:t>	1.3. Tâches d’extraction d’information</a:t>
            </a:r>
          </a:p>
          <a:p>
            <a:pPr marL="274320" lvl="1" indent="0">
              <a:buNone/>
            </a:pPr>
            <a:r>
              <a:rPr lang="fr-FR" sz="2600" dirty="0">
                <a:solidFill>
                  <a:schemeClr val="tx1"/>
                </a:solidFill>
              </a:rPr>
              <a:t>	1.4. Processus du datamining</a:t>
            </a:r>
          </a:p>
          <a:p>
            <a:pPr marL="274320" lvl="1" indent="0">
              <a:buNone/>
            </a:pPr>
            <a:r>
              <a:rPr lang="fr-FR" sz="2600" dirty="0">
                <a:solidFill>
                  <a:schemeClr val="tx1"/>
                </a:solidFill>
              </a:rPr>
              <a:t>	1.5. Panorama des méthodes</a:t>
            </a:r>
          </a:p>
          <a:p>
            <a:pPr lvl="1"/>
            <a:endParaRPr lang="fr-FR" sz="2400" dirty="0"/>
          </a:p>
        </p:txBody>
      </p:sp>
      <p:sp>
        <p:nvSpPr>
          <p:cNvPr id="5" name="Espace réservé du numéro de diapositive 4"/>
          <p:cNvSpPr>
            <a:spLocks noGrp="1"/>
          </p:cNvSpPr>
          <p:nvPr>
            <p:ph type="sldNum" sz="quarter" idx="12"/>
          </p:nvPr>
        </p:nvSpPr>
        <p:spPr/>
        <p:txBody>
          <a:bodyPr/>
          <a:lstStyle/>
          <a:p>
            <a:fld id="{E2529143-2798-4C11-845F-1766F045DCA1}" type="slidenum">
              <a:rPr lang="fr-FR" smtClean="0"/>
              <a:pPr/>
              <a:t>5</a:t>
            </a:fld>
            <a:endParaRPr lang="fr-FR"/>
          </a:p>
        </p:txBody>
      </p:sp>
      <p:sp>
        <p:nvSpPr>
          <p:cNvPr id="6" name="Titre 5"/>
          <p:cNvSpPr>
            <a:spLocks noGrp="1"/>
          </p:cNvSpPr>
          <p:nvPr>
            <p:ph type="title"/>
          </p:nvPr>
        </p:nvSpPr>
        <p:spPr/>
        <p:txBody>
          <a:bodyPr/>
          <a:lstStyle/>
          <a:p>
            <a:r>
              <a:rPr lang="fr-FR" dirty="0"/>
              <a:t>1. Présentation générale</a:t>
            </a:r>
          </a:p>
        </p:txBody>
      </p:sp>
      <p:sp>
        <p:nvSpPr>
          <p:cNvPr id="7"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D018BAC7-3CFB-4A44-B240-26E1589CB3A9}"/>
              </a:ext>
            </a:extLst>
          </p:cNvPr>
          <p:cNvPicPr>
            <a:picLocks noChangeAspect="1"/>
          </p:cNvPicPr>
          <p:nvPr/>
        </p:nvPicPr>
        <p:blipFill>
          <a:blip r:embed="rId2"/>
          <a:stretch>
            <a:fillRect/>
          </a:stretch>
        </p:blipFill>
        <p:spPr>
          <a:xfrm>
            <a:off x="1103223" y="1353061"/>
            <a:ext cx="6637203" cy="3948147"/>
          </a:xfrm>
          <a:prstGeom prst="rect">
            <a:avLst/>
          </a:prstGeom>
        </p:spPr>
      </p:pic>
      <p:sp>
        <p:nvSpPr>
          <p:cNvPr id="2" name="Titre 1">
            <a:extLst>
              <a:ext uri="{FF2B5EF4-FFF2-40B4-BE49-F238E27FC236}">
                <a16:creationId xmlns:a16="http://schemas.microsoft.com/office/drawing/2014/main" id="{7830BAE2-E525-48CE-87CC-ECF8D5B0A991}"/>
              </a:ext>
            </a:extLst>
          </p:cNvPr>
          <p:cNvSpPr>
            <a:spLocks noGrp="1"/>
          </p:cNvSpPr>
          <p:nvPr>
            <p:ph type="title"/>
          </p:nvPr>
        </p:nvSpPr>
        <p:spPr/>
        <p:txBody>
          <a:bodyPr>
            <a:normAutofit/>
          </a:bodyPr>
          <a:lstStyle/>
          <a:p>
            <a:r>
              <a:rPr lang="fr-FR" dirty="0"/>
              <a:t>1. 1. Qu’est ce que le datamining?</a:t>
            </a:r>
          </a:p>
        </p:txBody>
      </p:sp>
      <p:sp>
        <p:nvSpPr>
          <p:cNvPr id="3" name="Espace réservé du pied de page 2">
            <a:extLst>
              <a:ext uri="{FF2B5EF4-FFF2-40B4-BE49-F238E27FC236}">
                <a16:creationId xmlns:a16="http://schemas.microsoft.com/office/drawing/2014/main" id="{9BF83326-ADB4-47F1-A1A7-4917E7C6BE6E}"/>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0D85B97F-7EDD-4F8A-9BCA-61D3927EDC92}"/>
              </a:ext>
            </a:extLst>
          </p:cNvPr>
          <p:cNvSpPr>
            <a:spLocks noGrp="1"/>
          </p:cNvSpPr>
          <p:nvPr>
            <p:ph type="sldNum" sz="quarter" idx="12"/>
          </p:nvPr>
        </p:nvSpPr>
        <p:spPr/>
        <p:txBody>
          <a:bodyPr/>
          <a:lstStyle/>
          <a:p>
            <a:fld id="{A3F31473-23EB-4724-8B59-FE6D21D89FA4}" type="slidenum">
              <a:rPr lang="fr-FR" smtClean="0"/>
              <a:pPr/>
              <a:t>6</a:t>
            </a:fld>
            <a:endParaRPr lang="fr-FR"/>
          </a:p>
        </p:txBody>
      </p:sp>
      <p:sp>
        <p:nvSpPr>
          <p:cNvPr id="8" name="ZoneTexte 7">
            <a:extLst>
              <a:ext uri="{FF2B5EF4-FFF2-40B4-BE49-F238E27FC236}">
                <a16:creationId xmlns:a16="http://schemas.microsoft.com/office/drawing/2014/main" id="{4F8C3254-6A79-4A95-9D1F-308FA41BA719}"/>
              </a:ext>
            </a:extLst>
          </p:cNvPr>
          <p:cNvSpPr txBox="1"/>
          <p:nvPr/>
        </p:nvSpPr>
        <p:spPr>
          <a:xfrm>
            <a:off x="459704" y="5171963"/>
            <a:ext cx="8224592" cy="1200329"/>
          </a:xfrm>
          <a:prstGeom prst="rect">
            <a:avLst/>
          </a:prstGeom>
          <a:noFill/>
        </p:spPr>
        <p:txBody>
          <a:bodyPr wrap="square" rtlCol="0">
            <a:spAutoFit/>
          </a:bodyPr>
          <a:lstStyle/>
          <a:p>
            <a:pPr marL="285750" indent="-285750" algn="just">
              <a:buFont typeface="Arial" panose="020B0604020202020204" pitchFamily="34" charset="0"/>
              <a:buChar char="•"/>
            </a:pPr>
            <a:r>
              <a:rPr lang="fr-FR" dirty="0"/>
              <a:t>Le datamining consiste à rechercher et extraire de l’information (utile et inconnue) de gros volumes de données stockées dans des bases ou des entrepôts de données (Data </a:t>
            </a:r>
            <a:r>
              <a:rPr lang="fr-FR" dirty="0" err="1"/>
              <a:t>Warehouses</a:t>
            </a:r>
            <a:r>
              <a:rPr lang="fr-FR" dirty="0"/>
              <a:t>).</a:t>
            </a:r>
          </a:p>
          <a:p>
            <a:pPr marL="285750" indent="-285750" algn="just">
              <a:buFont typeface="Arial" panose="020B0604020202020204" pitchFamily="34" charset="0"/>
              <a:buChar char="•"/>
            </a:pPr>
            <a:r>
              <a:rPr lang="fr-FR" dirty="0"/>
              <a:t>Les données sont collectées de sources multiples souvent hétérogènes.</a:t>
            </a:r>
          </a:p>
        </p:txBody>
      </p:sp>
    </p:spTree>
    <p:extLst>
      <p:ext uri="{BB962C8B-B14F-4D97-AF65-F5344CB8AC3E}">
        <p14:creationId xmlns:p14="http://schemas.microsoft.com/office/powerpoint/2010/main" val="2867174630"/>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36504" y="1530836"/>
            <a:ext cx="8064896" cy="3456384"/>
          </a:xfrm>
        </p:spPr>
        <p:txBody>
          <a:bodyPr>
            <a:normAutofit/>
          </a:bodyPr>
          <a:lstStyle/>
          <a:p>
            <a:pPr algn="just"/>
            <a:endParaRPr lang="fr-FR" sz="2400" dirty="0"/>
          </a:p>
          <a:p>
            <a:pPr algn="just">
              <a:buNone/>
            </a:pPr>
            <a:endParaRPr lang="fr-FR" sz="2400" dirty="0"/>
          </a:p>
          <a:p>
            <a:pPr algn="just">
              <a:buNone/>
            </a:pPr>
            <a:endParaRPr lang="fr-FR" sz="2400" dirty="0"/>
          </a:p>
          <a:p>
            <a:pPr algn="just">
              <a:buNone/>
            </a:pPr>
            <a:endParaRPr lang="fr-FR" sz="2400" dirty="0"/>
          </a:p>
        </p:txBody>
      </p:sp>
      <p:sp>
        <p:nvSpPr>
          <p:cNvPr id="6" name="Espace réservé du numéro de diapositive 5"/>
          <p:cNvSpPr>
            <a:spLocks noGrp="1"/>
          </p:cNvSpPr>
          <p:nvPr>
            <p:ph type="sldNum" sz="quarter" idx="12"/>
          </p:nvPr>
        </p:nvSpPr>
        <p:spPr/>
        <p:txBody>
          <a:bodyPr/>
          <a:lstStyle/>
          <a:p>
            <a:fld id="{E2529143-2798-4C11-845F-1766F045DCA1}" type="slidenum">
              <a:rPr lang="fr-FR" smtClean="0"/>
              <a:pPr/>
              <a:t>7</a:t>
            </a:fld>
            <a:endParaRPr lang="fr-FR"/>
          </a:p>
        </p:txBody>
      </p:sp>
      <p:sp>
        <p:nvSpPr>
          <p:cNvPr id="7" name="Titre 6"/>
          <p:cNvSpPr>
            <a:spLocks noGrp="1"/>
          </p:cNvSpPr>
          <p:nvPr>
            <p:ph type="title"/>
          </p:nvPr>
        </p:nvSpPr>
        <p:spPr/>
        <p:txBody>
          <a:bodyPr/>
          <a:lstStyle/>
          <a:p>
            <a:r>
              <a:rPr lang="fr-FR" dirty="0"/>
              <a:t>1. 1. Qu’est ce que le datamining ?</a:t>
            </a:r>
          </a:p>
        </p:txBody>
      </p:sp>
      <p:sp>
        <p:nvSpPr>
          <p:cNvPr id="8"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
        <p:nvSpPr>
          <p:cNvPr id="9" name="ZoneTexte 8">
            <a:extLst>
              <a:ext uri="{FF2B5EF4-FFF2-40B4-BE49-F238E27FC236}">
                <a16:creationId xmlns:a16="http://schemas.microsoft.com/office/drawing/2014/main" id="{3F676E8D-225D-4613-BDCA-C1D97823ED06}"/>
              </a:ext>
            </a:extLst>
          </p:cNvPr>
          <p:cNvSpPr txBox="1"/>
          <p:nvPr/>
        </p:nvSpPr>
        <p:spPr>
          <a:xfrm>
            <a:off x="759102" y="2216586"/>
            <a:ext cx="8064896" cy="3046988"/>
          </a:xfrm>
          <a:prstGeom prst="rect">
            <a:avLst/>
          </a:prstGeom>
          <a:noFill/>
        </p:spPr>
        <p:txBody>
          <a:bodyPr wrap="square" rtlCol="0">
            <a:spAutoFit/>
          </a:bodyPr>
          <a:lstStyle/>
          <a:p>
            <a:pPr algn="just"/>
            <a:r>
              <a:rPr lang="fr-FR" sz="2400" dirty="0"/>
              <a:t>Le </a:t>
            </a:r>
            <a:r>
              <a:rPr lang="fr-FR" sz="2400" b="1" dirty="0"/>
              <a:t>datamining </a:t>
            </a:r>
            <a:r>
              <a:rPr lang="fr-FR" sz="2400" dirty="0"/>
              <a:t>est l’ensemble des :</a:t>
            </a:r>
          </a:p>
          <a:p>
            <a:pPr marL="285750" indent="-285750" algn="just">
              <a:buFont typeface="Courier New" panose="02070309020205020404" pitchFamily="49" charset="0"/>
              <a:buChar char="o"/>
            </a:pPr>
            <a:r>
              <a:rPr lang="fr-FR" sz="2400" dirty="0">
                <a:solidFill>
                  <a:srgbClr val="FF0000"/>
                </a:solidFill>
              </a:rPr>
              <a:t>algorithmes et méthodes</a:t>
            </a:r>
          </a:p>
          <a:p>
            <a:pPr marL="285750" indent="-285750" algn="just">
              <a:buFont typeface="Courier New" panose="02070309020205020404" pitchFamily="49" charset="0"/>
              <a:buChar char="o"/>
            </a:pPr>
            <a:r>
              <a:rPr lang="fr-FR" sz="2400" dirty="0"/>
              <a:t>destinés à </a:t>
            </a:r>
            <a:r>
              <a:rPr lang="fr-FR" sz="2400" dirty="0">
                <a:solidFill>
                  <a:srgbClr val="FF0000"/>
                </a:solidFill>
              </a:rPr>
              <a:t>l’exploration</a:t>
            </a:r>
            <a:r>
              <a:rPr lang="fr-FR" sz="2400" dirty="0"/>
              <a:t> et </a:t>
            </a:r>
            <a:r>
              <a:rPr lang="fr-FR" sz="2400" dirty="0">
                <a:solidFill>
                  <a:srgbClr val="FF0000"/>
                </a:solidFill>
              </a:rPr>
              <a:t>l’analyse</a:t>
            </a:r>
            <a:r>
              <a:rPr lang="fr-FR" sz="2400" dirty="0"/>
              <a:t> de (souvent) grandes bases de données informatiques</a:t>
            </a:r>
          </a:p>
          <a:p>
            <a:pPr marL="285750" indent="-285750" algn="just">
              <a:buFont typeface="Courier New" panose="02070309020205020404" pitchFamily="49" charset="0"/>
              <a:buChar char="o"/>
            </a:pPr>
            <a:r>
              <a:rPr lang="fr-FR" sz="2400" dirty="0"/>
              <a:t>en vue de </a:t>
            </a:r>
            <a:r>
              <a:rPr lang="fr-FR" sz="2400" dirty="0">
                <a:solidFill>
                  <a:srgbClr val="FF0000"/>
                </a:solidFill>
              </a:rPr>
              <a:t>détecter</a:t>
            </a:r>
            <a:r>
              <a:rPr lang="fr-FR" sz="2400" dirty="0"/>
              <a:t> dans ces données des </a:t>
            </a:r>
            <a:r>
              <a:rPr lang="fr-FR" sz="2400" dirty="0">
                <a:solidFill>
                  <a:srgbClr val="FF0000"/>
                </a:solidFill>
              </a:rPr>
              <a:t>règles</a:t>
            </a:r>
            <a:r>
              <a:rPr lang="fr-FR" sz="2400" dirty="0"/>
              <a:t>, des </a:t>
            </a:r>
            <a:r>
              <a:rPr lang="fr-FR" sz="2400" dirty="0">
                <a:solidFill>
                  <a:srgbClr val="FF0000"/>
                </a:solidFill>
              </a:rPr>
              <a:t>associations</a:t>
            </a:r>
            <a:r>
              <a:rPr lang="fr-FR" sz="2400" dirty="0"/>
              <a:t>, des </a:t>
            </a:r>
            <a:r>
              <a:rPr lang="fr-FR" sz="2400" dirty="0">
                <a:solidFill>
                  <a:srgbClr val="FF0000"/>
                </a:solidFill>
              </a:rPr>
              <a:t>structures</a:t>
            </a:r>
            <a:r>
              <a:rPr lang="fr-FR" sz="2400" dirty="0"/>
              <a:t> particulières restituant de façon concise l’essentiel de l’information utile</a:t>
            </a:r>
          </a:p>
          <a:p>
            <a:pPr marL="285750" indent="-285750" algn="just">
              <a:buFont typeface="Courier New" panose="02070309020205020404" pitchFamily="49" charset="0"/>
              <a:buChar char="o"/>
            </a:pPr>
            <a:r>
              <a:rPr lang="fr-FR" sz="2400" dirty="0"/>
              <a:t>pour </a:t>
            </a:r>
            <a:r>
              <a:rPr lang="fr-FR" sz="2400" dirty="0">
                <a:solidFill>
                  <a:srgbClr val="FF0000"/>
                </a:solidFill>
              </a:rPr>
              <a:t>l’aide à la décision.</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1B52B-D0F3-4948-BA77-E13C359D1E31}"/>
              </a:ext>
            </a:extLst>
          </p:cNvPr>
          <p:cNvSpPr>
            <a:spLocks noGrp="1"/>
          </p:cNvSpPr>
          <p:nvPr>
            <p:ph type="title"/>
          </p:nvPr>
        </p:nvSpPr>
        <p:spPr/>
        <p:txBody>
          <a:bodyPr/>
          <a:lstStyle/>
          <a:p>
            <a:r>
              <a:rPr lang="fr-FR" dirty="0"/>
              <a:t>1.1. Qu’est ce que le datamining?</a:t>
            </a:r>
          </a:p>
        </p:txBody>
      </p:sp>
      <p:sp>
        <p:nvSpPr>
          <p:cNvPr id="3" name="Espace réservé du pied de page 2">
            <a:extLst>
              <a:ext uri="{FF2B5EF4-FFF2-40B4-BE49-F238E27FC236}">
                <a16:creationId xmlns:a16="http://schemas.microsoft.com/office/drawing/2014/main" id="{3338CA35-B060-4A64-9E5E-B41AF67717D1}"/>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5FA42EE4-469E-4F5D-B14A-2F4EF0CD7C13}"/>
              </a:ext>
            </a:extLst>
          </p:cNvPr>
          <p:cNvSpPr>
            <a:spLocks noGrp="1"/>
          </p:cNvSpPr>
          <p:nvPr>
            <p:ph type="sldNum" sz="quarter" idx="12"/>
          </p:nvPr>
        </p:nvSpPr>
        <p:spPr/>
        <p:txBody>
          <a:bodyPr/>
          <a:lstStyle/>
          <a:p>
            <a:fld id="{A3F31473-23EB-4724-8B59-FE6D21D89FA4}" type="slidenum">
              <a:rPr lang="fr-FR" smtClean="0"/>
              <a:pPr/>
              <a:t>8</a:t>
            </a:fld>
            <a:endParaRPr lang="fr-FR"/>
          </a:p>
        </p:txBody>
      </p:sp>
      <p:sp>
        <p:nvSpPr>
          <p:cNvPr id="5" name="Espace réservé du contenu 4">
            <a:extLst>
              <a:ext uri="{FF2B5EF4-FFF2-40B4-BE49-F238E27FC236}">
                <a16:creationId xmlns:a16="http://schemas.microsoft.com/office/drawing/2014/main" id="{205195BA-29A9-478C-8211-F3A1E7C2B46E}"/>
              </a:ext>
            </a:extLst>
          </p:cNvPr>
          <p:cNvSpPr>
            <a:spLocks noGrp="1"/>
          </p:cNvSpPr>
          <p:nvPr>
            <p:ph sz="quarter" idx="1"/>
          </p:nvPr>
        </p:nvSpPr>
        <p:spPr/>
        <p:txBody>
          <a:bodyPr>
            <a:normAutofit fontScale="77500" lnSpcReduction="20000"/>
          </a:bodyPr>
          <a:lstStyle/>
          <a:p>
            <a:pPr algn="just"/>
            <a:r>
              <a:rPr lang="fr-FR" dirty="0"/>
              <a:t>Datamining :</a:t>
            </a:r>
          </a:p>
          <a:p>
            <a:pPr marL="538163" indent="-269875" algn="just">
              <a:buFont typeface="Courier New" panose="02070309020205020404" pitchFamily="49" charset="0"/>
              <a:buChar char="o"/>
            </a:pPr>
            <a:r>
              <a:rPr lang="fr-FR" dirty="0"/>
              <a:t>plusieurs millions d’individus</a:t>
            </a:r>
          </a:p>
          <a:p>
            <a:pPr marL="538163" indent="-269875" algn="just">
              <a:buFont typeface="Courier New" panose="02070309020205020404" pitchFamily="49" charset="0"/>
              <a:buChar char="o"/>
            </a:pPr>
            <a:r>
              <a:rPr lang="fr-FR" dirty="0"/>
              <a:t>plusieurs centaines de variables</a:t>
            </a:r>
          </a:p>
          <a:p>
            <a:pPr marL="538163" indent="-269875" algn="just">
              <a:buFont typeface="Courier New" panose="02070309020205020404" pitchFamily="49" charset="0"/>
              <a:buChar char="o"/>
            </a:pPr>
            <a:r>
              <a:rPr lang="fr-FR" dirty="0"/>
              <a:t>nombreuses variables non numériques, parfois textuelles</a:t>
            </a:r>
          </a:p>
          <a:p>
            <a:pPr marL="538163" indent="-269875" algn="just">
              <a:buFont typeface="Courier New" panose="02070309020205020404" pitchFamily="49" charset="0"/>
              <a:buChar char="o"/>
            </a:pPr>
            <a:r>
              <a:rPr lang="fr-FR" dirty="0"/>
              <a:t>données imparfaites, avec des erreurs de saisie, de codification, des valeurs manquantes, aberrantes</a:t>
            </a:r>
          </a:p>
          <a:p>
            <a:pPr marL="538163" indent="-269875" algn="just">
              <a:buFont typeface="Courier New" panose="02070309020205020404" pitchFamily="49" charset="0"/>
              <a:buChar char="o"/>
            </a:pPr>
            <a:r>
              <a:rPr lang="fr-FR" dirty="0"/>
              <a:t>population constamment évolutive (difficulté d’échantillonner)</a:t>
            </a:r>
          </a:p>
          <a:p>
            <a:pPr marL="538163" indent="-269875" algn="just">
              <a:buFont typeface="Courier New" panose="02070309020205020404" pitchFamily="49" charset="0"/>
              <a:buChar char="o"/>
            </a:pPr>
            <a:r>
              <a:rPr lang="fr-FR" dirty="0"/>
              <a:t>nécessité de calculs rapides, parfois en temps réel</a:t>
            </a:r>
          </a:p>
          <a:p>
            <a:pPr marL="538163" indent="-269875" algn="just">
              <a:buFont typeface="Courier New" panose="02070309020205020404" pitchFamily="49" charset="0"/>
              <a:buChar char="o"/>
            </a:pPr>
            <a:r>
              <a:rPr lang="fr-FR" dirty="0"/>
              <a:t>on cherche le modèle le plus facile à appréhender par des utilisateurs non statisticiens</a:t>
            </a:r>
          </a:p>
          <a:p>
            <a:pPr marL="538163" indent="-269875" algn="just">
              <a:buFont typeface="Courier New" panose="02070309020205020404" pitchFamily="49" charset="0"/>
              <a:buChar char="o"/>
            </a:pPr>
            <a:r>
              <a:rPr lang="fr-FR" dirty="0"/>
              <a:t>les modèles sont issus des données</a:t>
            </a:r>
          </a:p>
          <a:p>
            <a:pPr marL="538163" indent="-269875" algn="just">
              <a:buFont typeface="Courier New" panose="02070309020205020404" pitchFamily="49" charset="0"/>
              <a:buChar char="o"/>
            </a:pPr>
            <a:r>
              <a:rPr lang="fr-FR" dirty="0"/>
              <a:t>méthodes statistiques, d’intelligence artificielle et de théorie de l’apprentissage  automatique (machine </a:t>
            </a:r>
            <a:r>
              <a:rPr lang="fr-FR" dirty="0" err="1"/>
              <a:t>learning</a:t>
            </a:r>
            <a:r>
              <a:rPr lang="fr-FR" dirty="0"/>
              <a:t>)</a:t>
            </a:r>
          </a:p>
          <a:p>
            <a:pPr marL="538163" indent="-269875" algn="just">
              <a:buFont typeface="Courier New" panose="02070309020205020404" pitchFamily="49" charset="0"/>
              <a:buChar char="o"/>
            </a:pPr>
            <a:r>
              <a:rPr lang="fr-FR" dirty="0"/>
              <a:t>utilisation en entreprise</a:t>
            </a:r>
          </a:p>
        </p:txBody>
      </p:sp>
    </p:spTree>
    <p:extLst>
      <p:ext uri="{BB962C8B-B14F-4D97-AF65-F5344CB8AC3E}">
        <p14:creationId xmlns:p14="http://schemas.microsoft.com/office/powerpoint/2010/main" val="2144516136"/>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1916832"/>
            <a:ext cx="8208912" cy="3744416"/>
          </a:xfrm>
        </p:spPr>
        <p:txBody>
          <a:bodyPr>
            <a:normAutofit fontScale="92500"/>
          </a:bodyPr>
          <a:lstStyle/>
          <a:p>
            <a:pPr algn="just"/>
            <a:r>
              <a:rPr lang="fr-FR" sz="2400" dirty="0"/>
              <a:t>« Quel est le nombre de paires de chaussures vendues par le magasin "</a:t>
            </a:r>
            <a:r>
              <a:rPr lang="fr-FR" sz="2400" dirty="0" err="1"/>
              <a:t>OnVendDesChaussuresIci</a:t>
            </a:r>
            <a:r>
              <a:rPr lang="fr-FR" sz="2400" dirty="0"/>
              <a:t>" en mai 2003 et comparer les ventes avec le même mois de 2001 et 2002 ?»</a:t>
            </a:r>
          </a:p>
          <a:p>
            <a:pPr algn="just">
              <a:buNone/>
            </a:pPr>
            <a:endParaRPr lang="fr-FR" sz="2400" dirty="0"/>
          </a:p>
          <a:p>
            <a:pPr algn="just"/>
            <a:r>
              <a:rPr lang="fr-FR" sz="2400" dirty="0"/>
              <a:t>Les réponses à ce genre de requêtes peuvent prendre de quelques secondes à plusieurs minutes.</a:t>
            </a:r>
          </a:p>
          <a:p>
            <a:pPr algn="just"/>
            <a:endParaRPr lang="fr-FR" sz="2400" dirty="0"/>
          </a:p>
          <a:p>
            <a:pPr algn="just"/>
            <a:r>
              <a:rPr lang="fr-FR" sz="2400" dirty="0"/>
              <a:t>La fouille de données a aujourd’hui une grande importance économique du fait qu’elle permet </a:t>
            </a:r>
            <a:r>
              <a:rPr lang="fr-FR" sz="2400" dirty="0">
                <a:solidFill>
                  <a:srgbClr val="0070C0"/>
                </a:solidFill>
              </a:rPr>
              <a:t>d’optimiser la gestion des ressources </a:t>
            </a:r>
            <a:r>
              <a:rPr lang="fr-FR" sz="2400" dirty="0"/>
              <a:t>(humaines et matérielles). </a:t>
            </a:r>
          </a:p>
        </p:txBody>
      </p:sp>
      <p:sp>
        <p:nvSpPr>
          <p:cNvPr id="8" name="Espace réservé du numéro de diapositive 7"/>
          <p:cNvSpPr>
            <a:spLocks noGrp="1"/>
          </p:cNvSpPr>
          <p:nvPr>
            <p:ph type="sldNum" sz="quarter" idx="12"/>
          </p:nvPr>
        </p:nvSpPr>
        <p:spPr/>
        <p:txBody>
          <a:bodyPr/>
          <a:lstStyle/>
          <a:p>
            <a:fld id="{E2529143-2798-4C11-845F-1766F045DCA1}" type="slidenum">
              <a:rPr lang="fr-FR" smtClean="0"/>
              <a:pPr/>
              <a:t>9</a:t>
            </a:fld>
            <a:endParaRPr lang="fr-FR"/>
          </a:p>
        </p:txBody>
      </p:sp>
      <p:sp>
        <p:nvSpPr>
          <p:cNvPr id="7" name="Titre 6"/>
          <p:cNvSpPr>
            <a:spLocks noGrp="1"/>
          </p:cNvSpPr>
          <p:nvPr>
            <p:ph type="title"/>
          </p:nvPr>
        </p:nvSpPr>
        <p:spPr>
          <a:xfrm>
            <a:off x="301752" y="228600"/>
            <a:ext cx="8534400" cy="758952"/>
          </a:xfrm>
        </p:spPr>
        <p:txBody>
          <a:bodyPr>
            <a:normAutofit/>
          </a:bodyPr>
          <a:lstStyle/>
          <a:p>
            <a:r>
              <a:rPr lang="fr-FR" dirty="0"/>
              <a:t>1. 2. A quoi sert le datamining ?</a:t>
            </a:r>
          </a:p>
        </p:txBody>
      </p:sp>
      <p:sp>
        <p:nvSpPr>
          <p:cNvPr id="9"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C0D5B9-08E3-45E8-BAC3-B7DADDF20AB3}"/>
              </a:ext>
            </a:extLst>
          </p:cNvPr>
          <p:cNvSpPr>
            <a:spLocks noGrp="1"/>
          </p:cNvSpPr>
          <p:nvPr>
            <p:ph type="title"/>
          </p:nvPr>
        </p:nvSpPr>
        <p:spPr/>
        <p:txBody>
          <a:bodyPr/>
          <a:lstStyle/>
          <a:p>
            <a:r>
              <a:rPr lang="fr-FR" dirty="0"/>
              <a:t>1.2. A quoi sert le datamining ?</a:t>
            </a:r>
          </a:p>
        </p:txBody>
      </p:sp>
      <p:sp>
        <p:nvSpPr>
          <p:cNvPr id="3" name="Espace réservé du pied de page 2">
            <a:extLst>
              <a:ext uri="{FF2B5EF4-FFF2-40B4-BE49-F238E27FC236}">
                <a16:creationId xmlns:a16="http://schemas.microsoft.com/office/drawing/2014/main" id="{3AC909B8-4664-4BDF-989D-2A29A19A7D52}"/>
              </a:ext>
            </a:extLst>
          </p:cNvPr>
          <p:cNvSpPr>
            <a:spLocks noGrp="1"/>
          </p:cNvSpPr>
          <p:nvPr>
            <p:ph type="ftr" sz="quarter" idx="11"/>
          </p:nvPr>
        </p:nvSpPr>
        <p:spPr/>
        <p:txBody>
          <a:bodyPr/>
          <a:lstStyle/>
          <a:p>
            <a:r>
              <a:rPr lang="fr-FR"/>
              <a:t>Dr. H.Chikh Zaouali</a:t>
            </a:r>
            <a:endParaRPr lang="fr-FR" dirty="0"/>
          </a:p>
        </p:txBody>
      </p:sp>
      <p:sp>
        <p:nvSpPr>
          <p:cNvPr id="4" name="Espace réservé du numéro de diapositive 3">
            <a:extLst>
              <a:ext uri="{FF2B5EF4-FFF2-40B4-BE49-F238E27FC236}">
                <a16:creationId xmlns:a16="http://schemas.microsoft.com/office/drawing/2014/main" id="{E1805643-4C04-4FC1-BCD2-32DABD79AC14}"/>
              </a:ext>
            </a:extLst>
          </p:cNvPr>
          <p:cNvSpPr>
            <a:spLocks noGrp="1"/>
          </p:cNvSpPr>
          <p:nvPr>
            <p:ph type="sldNum" sz="quarter" idx="12"/>
          </p:nvPr>
        </p:nvSpPr>
        <p:spPr/>
        <p:txBody>
          <a:bodyPr/>
          <a:lstStyle/>
          <a:p>
            <a:fld id="{A3F31473-23EB-4724-8B59-FE6D21D89FA4}" type="slidenum">
              <a:rPr lang="fr-FR" smtClean="0"/>
              <a:pPr/>
              <a:t>10</a:t>
            </a:fld>
            <a:endParaRPr lang="fr-FR"/>
          </a:p>
        </p:txBody>
      </p:sp>
      <p:pic>
        <p:nvPicPr>
          <p:cNvPr id="7" name="Image 6">
            <a:extLst>
              <a:ext uri="{FF2B5EF4-FFF2-40B4-BE49-F238E27FC236}">
                <a16:creationId xmlns:a16="http://schemas.microsoft.com/office/drawing/2014/main" id="{2CE02191-6304-4599-8A20-5AF0AFD45440}"/>
              </a:ext>
            </a:extLst>
          </p:cNvPr>
          <p:cNvPicPr>
            <a:picLocks noChangeAspect="1"/>
          </p:cNvPicPr>
          <p:nvPr/>
        </p:nvPicPr>
        <p:blipFill>
          <a:blip r:embed="rId2"/>
          <a:stretch>
            <a:fillRect/>
          </a:stretch>
        </p:blipFill>
        <p:spPr>
          <a:xfrm>
            <a:off x="1237129" y="1506519"/>
            <a:ext cx="6683703" cy="4798284"/>
          </a:xfrm>
          <a:prstGeom prst="rect">
            <a:avLst/>
          </a:prstGeom>
        </p:spPr>
      </p:pic>
    </p:spTree>
    <p:extLst>
      <p:ext uri="{BB962C8B-B14F-4D97-AF65-F5344CB8AC3E}">
        <p14:creationId xmlns:p14="http://schemas.microsoft.com/office/powerpoint/2010/main" val="214252024"/>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412776"/>
            <a:ext cx="8640960" cy="5040560"/>
          </a:xfrm>
        </p:spPr>
        <p:txBody>
          <a:bodyPr>
            <a:normAutofit fontScale="92500" lnSpcReduction="10000"/>
          </a:bodyPr>
          <a:lstStyle/>
          <a:p>
            <a:pPr algn="just"/>
            <a:r>
              <a:rPr lang="fr-FR" sz="2000" dirty="0"/>
              <a:t>Études d’appétence dans les sociétés commerciales</a:t>
            </a:r>
          </a:p>
          <a:p>
            <a:pPr lvl="1" algn="just"/>
            <a:r>
              <a:rPr lang="fr-FR" sz="1600" dirty="0"/>
              <a:t>pour concentrer les mailings et le phoning sur les clients les plus susceptibles de répondre favorablement</a:t>
            </a:r>
          </a:p>
          <a:p>
            <a:pPr algn="just"/>
            <a:r>
              <a:rPr lang="fr-FR" sz="2000" dirty="0"/>
              <a:t>Prédiction de l’attrition dans la téléphonie mobile</a:t>
            </a:r>
          </a:p>
          <a:p>
            <a:pPr lvl="1" algn="just"/>
            <a:r>
              <a:rPr lang="fr-FR" sz="1600" dirty="0"/>
              <a:t>attrition = départ d’un client pour un concurrent</a:t>
            </a:r>
          </a:p>
          <a:p>
            <a:pPr algn="just"/>
            <a:r>
              <a:rPr lang="fr-FR" sz="2000" dirty="0"/>
              <a:t>Analyse du ticket de caisse dans les grandes surfaces</a:t>
            </a:r>
          </a:p>
          <a:p>
            <a:pPr lvl="1" algn="just"/>
            <a:r>
              <a:rPr lang="fr-FR" sz="1600" dirty="0"/>
              <a:t>pour déterminer les produits souvent achetés simultanément, </a:t>
            </a:r>
          </a:p>
          <a:p>
            <a:pPr lvl="1" algn="just"/>
            <a:r>
              <a:rPr lang="fr-FR" sz="1600" dirty="0"/>
              <a:t>agencer les rayons </a:t>
            </a:r>
          </a:p>
          <a:p>
            <a:pPr lvl="1" algn="just"/>
            <a:r>
              <a:rPr lang="fr-FR" sz="1600" dirty="0"/>
              <a:t>et organiser les promotions en conséquence</a:t>
            </a:r>
          </a:p>
          <a:p>
            <a:pPr marL="274320" lvl="1" algn="just">
              <a:buClr>
                <a:schemeClr val="accent1"/>
              </a:buClr>
              <a:buSzPct val="85000"/>
              <a:buFont typeface="Wingdings 2"/>
              <a:buChar char=""/>
            </a:pPr>
            <a:r>
              <a:rPr lang="fr-FR" sz="2000" dirty="0">
                <a:solidFill>
                  <a:schemeClr val="tx1"/>
                </a:solidFill>
              </a:rPr>
              <a:t>Organisme de crédit </a:t>
            </a:r>
            <a:r>
              <a:rPr lang="fr-FR" sz="1800" dirty="0">
                <a:solidFill>
                  <a:schemeClr val="tx1"/>
                </a:solidFill>
              </a:rPr>
              <a:t>pour décider </a:t>
            </a:r>
          </a:p>
          <a:p>
            <a:pPr lvl="1" algn="just"/>
            <a:r>
              <a:rPr lang="fr-FR" sz="1600" dirty="0"/>
              <a:t>d’accorder ou non un crédit en fonction du profil du demandeur de crédit, de sa demande et des expériences passées de prêts,</a:t>
            </a:r>
          </a:p>
          <a:p>
            <a:pPr marL="274320" lvl="1" algn="just">
              <a:buClr>
                <a:schemeClr val="accent1"/>
              </a:buClr>
              <a:buSzPct val="85000"/>
              <a:buFont typeface="Wingdings 2"/>
              <a:buChar char=""/>
            </a:pPr>
            <a:r>
              <a:rPr lang="fr-FR" sz="2000" dirty="0">
                <a:solidFill>
                  <a:schemeClr val="tx1"/>
                </a:solidFill>
              </a:rPr>
              <a:t>Optimisation </a:t>
            </a:r>
          </a:p>
          <a:p>
            <a:pPr lvl="1" algn="just"/>
            <a:r>
              <a:rPr lang="fr-FR" sz="1600" dirty="0"/>
              <a:t>du nombre de places dans les avions, hôtels,</a:t>
            </a:r>
          </a:p>
          <a:p>
            <a:pPr marL="274320" lvl="1" algn="just">
              <a:buClr>
                <a:schemeClr val="accent1"/>
              </a:buClr>
              <a:buSzPct val="85000"/>
              <a:buFont typeface="Wingdings 2"/>
              <a:buChar char=""/>
            </a:pPr>
            <a:r>
              <a:rPr lang="fr-FR" sz="2000" dirty="0">
                <a:solidFill>
                  <a:schemeClr val="tx1"/>
                </a:solidFill>
              </a:rPr>
              <a:t>Diagnostic médical</a:t>
            </a:r>
          </a:p>
          <a:p>
            <a:pPr lvl="1" algn="just"/>
            <a:r>
              <a:rPr lang="fr-FR" sz="1600" dirty="0"/>
              <a:t>«les patients ayant tels symptômes et demeurant dans des agglomérations de plus de 104 habitants développent couramment telle pathologie »</a:t>
            </a:r>
          </a:p>
          <a:p>
            <a:pPr marL="274320" lvl="1" algn="just">
              <a:buClr>
                <a:schemeClr val="accent1"/>
              </a:buClr>
              <a:buSzPct val="85000"/>
              <a:buFont typeface="Wingdings 2"/>
              <a:buChar char=""/>
            </a:pPr>
            <a:r>
              <a:rPr lang="fr-FR" sz="2000" dirty="0">
                <a:solidFill>
                  <a:schemeClr val="tx1"/>
                </a:solidFill>
              </a:rPr>
              <a:t>Moteur de recherche sur internet </a:t>
            </a:r>
            <a:r>
              <a:rPr lang="fr-FR" sz="2000" dirty="0">
                <a:solidFill>
                  <a:schemeClr val="bg1">
                    <a:lumMod val="75000"/>
                  </a:schemeClr>
                </a:solidFill>
              </a:rPr>
              <a:t>(</a:t>
            </a:r>
            <a:r>
              <a:rPr lang="fr-FR" sz="1800" dirty="0">
                <a:solidFill>
                  <a:schemeClr val="bg1">
                    <a:lumMod val="75000"/>
                  </a:schemeClr>
                </a:solidFill>
              </a:rPr>
              <a:t>fouille du Web).</a:t>
            </a:r>
            <a:endParaRPr lang="fr-FR" sz="2000" dirty="0">
              <a:solidFill>
                <a:schemeClr val="bg1">
                  <a:lumMod val="75000"/>
                </a:schemeClr>
              </a:solidFill>
            </a:endParaRPr>
          </a:p>
        </p:txBody>
      </p:sp>
      <p:sp>
        <p:nvSpPr>
          <p:cNvPr id="8" name="Espace réservé du numéro de diapositive 7"/>
          <p:cNvSpPr>
            <a:spLocks noGrp="1"/>
          </p:cNvSpPr>
          <p:nvPr>
            <p:ph type="sldNum" sz="quarter" idx="12"/>
          </p:nvPr>
        </p:nvSpPr>
        <p:spPr/>
        <p:txBody>
          <a:bodyPr/>
          <a:lstStyle/>
          <a:p>
            <a:fld id="{E2529143-2798-4C11-845F-1766F045DCA1}" type="slidenum">
              <a:rPr lang="fr-FR" smtClean="0"/>
              <a:pPr/>
              <a:t>11</a:t>
            </a:fld>
            <a:endParaRPr lang="fr-FR" dirty="0"/>
          </a:p>
        </p:txBody>
      </p:sp>
      <p:sp>
        <p:nvSpPr>
          <p:cNvPr id="6" name="Titre 6"/>
          <p:cNvSpPr>
            <a:spLocks noGrp="1"/>
          </p:cNvSpPr>
          <p:nvPr>
            <p:ph type="title"/>
          </p:nvPr>
        </p:nvSpPr>
        <p:spPr>
          <a:xfrm>
            <a:off x="301752" y="228600"/>
            <a:ext cx="8534400" cy="758952"/>
          </a:xfrm>
        </p:spPr>
        <p:txBody>
          <a:bodyPr>
            <a:normAutofit/>
          </a:bodyPr>
          <a:lstStyle/>
          <a:p>
            <a:r>
              <a:rPr lang="fr-FR" dirty="0"/>
              <a:t>1. 2. A quoi sert le datamining ?</a:t>
            </a:r>
          </a:p>
        </p:txBody>
      </p:sp>
      <p:sp>
        <p:nvSpPr>
          <p:cNvPr id="7"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1556792"/>
            <a:ext cx="8388424" cy="4854056"/>
          </a:xfrm>
        </p:spPr>
        <p:txBody>
          <a:bodyPr>
            <a:normAutofit fontScale="92500" lnSpcReduction="10000"/>
          </a:bodyPr>
          <a:lstStyle/>
          <a:p>
            <a:pPr lvl="1" algn="just"/>
            <a:r>
              <a:rPr lang="fr-FR" sz="2400" dirty="0">
                <a:solidFill>
                  <a:srgbClr val="0070C0"/>
                </a:solidFill>
              </a:rPr>
              <a:t>La classification</a:t>
            </a:r>
            <a:endParaRPr lang="fr-FR" sz="2400" dirty="0"/>
          </a:p>
          <a:p>
            <a:pPr lvl="2" algn="just"/>
            <a:r>
              <a:rPr lang="fr-FR" dirty="0">
                <a:solidFill>
                  <a:schemeClr val="tx1"/>
                </a:solidFill>
              </a:rPr>
              <a:t>examiner les attributs d'une donnée  et lui attribuer une classe</a:t>
            </a:r>
          </a:p>
          <a:p>
            <a:pPr lvl="3" algn="just"/>
            <a:r>
              <a:rPr lang="fr-FR" sz="2400" dirty="0"/>
              <a:t>attribuer ou non un prêt à un client, établir un diagnostic, accepter ou refuser un retrait dans un distributeur, ...</a:t>
            </a:r>
          </a:p>
          <a:p>
            <a:pPr lvl="1" algn="just"/>
            <a:r>
              <a:rPr lang="fr-FR" sz="2400" dirty="0">
                <a:solidFill>
                  <a:srgbClr val="0070C0"/>
                </a:solidFill>
              </a:rPr>
              <a:t>L'estimation</a:t>
            </a:r>
          </a:p>
          <a:p>
            <a:pPr lvl="2" algn="just"/>
            <a:r>
              <a:rPr lang="fr-FR" sz="2400" dirty="0"/>
              <a:t>estimer la valeur d'un attribut manquant. </a:t>
            </a:r>
          </a:p>
          <a:p>
            <a:pPr lvl="3" algn="just"/>
            <a:r>
              <a:rPr lang="fr-FR" sz="2400" dirty="0"/>
              <a:t>estimer les revenues d’un client.</a:t>
            </a:r>
          </a:p>
          <a:p>
            <a:pPr lvl="1" algn="just"/>
            <a:r>
              <a:rPr lang="fr-FR" sz="2400" dirty="0">
                <a:solidFill>
                  <a:srgbClr val="0070C0"/>
                </a:solidFill>
              </a:rPr>
              <a:t>La prédiction</a:t>
            </a:r>
          </a:p>
          <a:p>
            <a:pPr lvl="2" algn="just"/>
            <a:r>
              <a:rPr lang="fr-FR" sz="2400" dirty="0"/>
              <a:t>estimer une valeur future. En général, les valeurs connues sont historiées. On cherche à prédire la valeur future d'un attribut. </a:t>
            </a:r>
          </a:p>
          <a:p>
            <a:pPr lvl="3" algn="just"/>
            <a:r>
              <a:rPr lang="fr-FR" sz="2400" dirty="0"/>
              <a:t>Prédire au vu de leurs actions passées les départs de clients.</a:t>
            </a:r>
          </a:p>
          <a:p>
            <a:pPr lvl="3" algn="just"/>
            <a:endParaRPr lang="fr-FR" sz="2400" dirty="0"/>
          </a:p>
          <a:p>
            <a:endParaRPr lang="fr-FR" sz="3200" dirty="0"/>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12</a:t>
            </a:fld>
            <a:endParaRPr lang="fr-FR"/>
          </a:p>
        </p:txBody>
      </p:sp>
      <p:sp>
        <p:nvSpPr>
          <p:cNvPr id="6" name="Titre 5"/>
          <p:cNvSpPr>
            <a:spLocks noGrp="1"/>
          </p:cNvSpPr>
          <p:nvPr>
            <p:ph type="title"/>
          </p:nvPr>
        </p:nvSpPr>
        <p:spPr/>
        <p:txBody>
          <a:bodyPr/>
          <a:lstStyle/>
          <a:p>
            <a:r>
              <a:rPr lang="fr-FR" dirty="0"/>
              <a:t>1.3. Tâches d’extraction d’information</a:t>
            </a:r>
          </a:p>
        </p:txBody>
      </p:sp>
      <p:sp>
        <p:nvSpPr>
          <p:cNvPr id="8"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extLst>
      <p:ext uri="{BB962C8B-B14F-4D97-AF65-F5344CB8AC3E}">
        <p14:creationId xmlns:p14="http://schemas.microsoft.com/office/powerpoint/2010/main" val="2514726956"/>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435280" cy="4525963"/>
          </a:xfrm>
        </p:spPr>
        <p:txBody>
          <a:bodyPr>
            <a:normAutofit/>
          </a:bodyPr>
          <a:lstStyle/>
          <a:p>
            <a:pPr marL="274320" lvl="1" algn="just">
              <a:buClr>
                <a:schemeClr val="accent1"/>
              </a:buClr>
              <a:buSzPct val="85000"/>
              <a:buFont typeface="Wingdings 2"/>
              <a:buChar char=""/>
            </a:pPr>
            <a:r>
              <a:rPr lang="fr-FR" sz="2400" dirty="0">
                <a:solidFill>
                  <a:srgbClr val="0070C0"/>
                </a:solidFill>
              </a:rPr>
              <a:t>Les règles d'association (analyse du panier de la ménagère)</a:t>
            </a:r>
          </a:p>
          <a:p>
            <a:pPr lvl="1" algn="just"/>
            <a:r>
              <a:rPr lang="fr-FR" sz="2000" dirty="0"/>
              <a:t>déterminer les valeurs qui sont associées. </a:t>
            </a:r>
          </a:p>
          <a:p>
            <a:pPr lvl="2" algn="just"/>
            <a:r>
              <a:rPr lang="fr-FR" sz="1800" dirty="0"/>
              <a:t>Déterminer les articles (la baguette et le fromage, ...) qui se retrouvent ensemble sur un même ticket de supermarché. </a:t>
            </a:r>
          </a:p>
          <a:p>
            <a:pPr marL="274320" lvl="1" algn="just">
              <a:buClr>
                <a:schemeClr val="accent1"/>
              </a:buClr>
              <a:buSzPct val="85000"/>
              <a:buFont typeface="Wingdings 2"/>
              <a:buChar char=""/>
            </a:pPr>
            <a:r>
              <a:rPr lang="fr-FR" sz="2400" dirty="0">
                <a:solidFill>
                  <a:srgbClr val="0070C0"/>
                </a:solidFill>
              </a:rPr>
              <a:t>La segmentation</a:t>
            </a:r>
          </a:p>
          <a:p>
            <a:pPr lvl="1" algn="just"/>
            <a:r>
              <a:rPr lang="fr-FR" sz="2000" dirty="0"/>
              <a:t>former des groupes (clusters) homogènes à l'intérieur d'une population. </a:t>
            </a:r>
          </a:p>
          <a:p>
            <a:pPr lvl="2" algn="just"/>
            <a:r>
              <a:rPr lang="fr-FR" sz="1900" dirty="0"/>
              <a:t>Tâche souvent effectuée avant les précédentes pour construire des groupes sur lesquels on applique des tâches de classification ou d'estimation.</a:t>
            </a:r>
          </a:p>
          <a:p>
            <a:pPr algn="just"/>
            <a:endParaRPr lang="fr-FR" sz="2400" dirty="0"/>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13</a:t>
            </a:fld>
            <a:endParaRPr lang="fr-FR"/>
          </a:p>
        </p:txBody>
      </p:sp>
      <p:sp>
        <p:nvSpPr>
          <p:cNvPr id="7" name="Titre 6"/>
          <p:cNvSpPr>
            <a:spLocks noGrp="1"/>
          </p:cNvSpPr>
          <p:nvPr>
            <p:ph type="title"/>
          </p:nvPr>
        </p:nvSpPr>
        <p:spPr/>
        <p:txBody>
          <a:bodyPr/>
          <a:lstStyle/>
          <a:p>
            <a:r>
              <a:rPr lang="fr-FR" dirty="0"/>
              <a:t>1.3. Tâches d’extraction d’information</a:t>
            </a:r>
          </a:p>
        </p:txBody>
      </p:sp>
      <p:sp>
        <p:nvSpPr>
          <p:cNvPr id="8"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extLst>
      <p:ext uri="{BB962C8B-B14F-4D97-AF65-F5344CB8AC3E}">
        <p14:creationId xmlns:p14="http://schemas.microsoft.com/office/powerpoint/2010/main" val="3018513734"/>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77368" y="1633701"/>
            <a:ext cx="8589263" cy="4681339"/>
          </a:xfrm>
        </p:spPr>
        <p:txBody>
          <a:bodyPr>
            <a:normAutofit/>
          </a:bodyPr>
          <a:lstStyle/>
          <a:p>
            <a:pPr algn="just"/>
            <a:r>
              <a:rPr lang="fr-FR" sz="2400" dirty="0"/>
              <a:t>Processus: </a:t>
            </a:r>
            <a:r>
              <a:rPr lang="fr-FR" sz="2000" dirty="0"/>
              <a:t>comprend plusieurs étapes : </a:t>
            </a:r>
          </a:p>
          <a:p>
            <a:pPr marL="731520" lvl="1" indent="-457200" algn="just">
              <a:buClr>
                <a:srgbClr val="C00000"/>
              </a:buClr>
              <a:buFont typeface="+mj-lt"/>
              <a:buAutoNum type="arabicPeriod"/>
            </a:pPr>
            <a:r>
              <a:rPr lang="fr-FR" sz="1800" dirty="0">
                <a:solidFill>
                  <a:srgbClr val="C00000"/>
                </a:solidFill>
              </a:rPr>
              <a:t>Collecte des informations </a:t>
            </a:r>
            <a:r>
              <a:rPr lang="fr-FR" sz="1800" dirty="0"/>
              <a:t>et organisation de ces infos dans une base de données,</a:t>
            </a:r>
          </a:p>
          <a:p>
            <a:pPr marL="731520" lvl="1" indent="-457200" algn="just">
              <a:buClr>
                <a:srgbClr val="C00000"/>
              </a:buClr>
              <a:buFont typeface="+mj-lt"/>
              <a:buAutoNum type="arabicPeriod"/>
            </a:pPr>
            <a:r>
              <a:rPr lang="fr-FR" sz="1800" dirty="0">
                <a:solidFill>
                  <a:srgbClr val="C00000"/>
                </a:solidFill>
              </a:rPr>
              <a:t>Nettoyage de la base de données</a:t>
            </a:r>
            <a:r>
              <a:rPr lang="fr-FR" sz="1800" dirty="0"/>
              <a:t>: attributs sans valeur (informations manquantes), ayant une valeur invalide (aberrante), doublons, erreurs de saisie,  etc. </a:t>
            </a:r>
          </a:p>
          <a:p>
            <a:pPr marL="731520" lvl="1" indent="-457200" algn="just">
              <a:buClr>
                <a:srgbClr val="C00000"/>
              </a:buClr>
              <a:buFont typeface="+mj-lt"/>
              <a:buAutoNum type="arabicPeriod"/>
            </a:pPr>
            <a:r>
              <a:rPr lang="fr-FR" sz="1800" dirty="0">
                <a:solidFill>
                  <a:srgbClr val="C00000"/>
                </a:solidFill>
              </a:rPr>
              <a:t>Sélection des attributs utiles </a:t>
            </a:r>
            <a:r>
              <a:rPr lang="fr-FR" sz="1800" dirty="0"/>
              <a:t>(échantillonnage, réduction de dimensionnalité),</a:t>
            </a:r>
          </a:p>
          <a:p>
            <a:pPr marL="731520" lvl="1" indent="-457200" algn="just">
              <a:buClr>
                <a:srgbClr val="C00000"/>
              </a:buClr>
              <a:buFont typeface="+mj-lt"/>
              <a:buAutoNum type="arabicPeriod"/>
            </a:pPr>
            <a:r>
              <a:rPr lang="fr-FR" sz="1800" dirty="0">
                <a:solidFill>
                  <a:srgbClr val="C00000"/>
                </a:solidFill>
              </a:rPr>
              <a:t>Explicitation de l’objectif de l’analyse </a:t>
            </a:r>
            <a:r>
              <a:rPr lang="fr-FR" sz="1800" dirty="0"/>
              <a:t>en terme statistique (classification, prédiction,… )</a:t>
            </a:r>
          </a:p>
          <a:p>
            <a:pPr marL="731520" lvl="1" indent="-457200" algn="just">
              <a:buClr>
                <a:srgbClr val="C00000"/>
              </a:buClr>
              <a:buFont typeface="+mj-lt"/>
              <a:buAutoNum type="arabicPeriod"/>
            </a:pPr>
            <a:r>
              <a:rPr lang="fr-FR" sz="1800" dirty="0">
                <a:solidFill>
                  <a:srgbClr val="C00000"/>
                </a:solidFill>
              </a:rPr>
              <a:t>Choix de la méthode et mise en œuvre informatique</a:t>
            </a:r>
          </a:p>
          <a:p>
            <a:pPr marL="731520" lvl="1" indent="-457200" algn="just">
              <a:buClr>
                <a:srgbClr val="C00000"/>
              </a:buClr>
              <a:buFont typeface="+mj-lt"/>
              <a:buAutoNum type="arabicPeriod"/>
            </a:pPr>
            <a:r>
              <a:rPr lang="fr-FR" sz="1800" dirty="0">
                <a:solidFill>
                  <a:srgbClr val="C00000"/>
                </a:solidFill>
              </a:rPr>
              <a:t>Test</a:t>
            </a:r>
            <a:r>
              <a:rPr lang="fr-FR" sz="1800" dirty="0"/>
              <a:t> (validation de la qualité des résultats)</a:t>
            </a:r>
          </a:p>
          <a:p>
            <a:pPr marL="731520" lvl="1" indent="-457200" algn="just">
              <a:buClr>
                <a:srgbClr val="C00000"/>
              </a:buClr>
              <a:buFont typeface="+mj-lt"/>
              <a:buAutoNum type="arabicPeriod"/>
            </a:pPr>
            <a:r>
              <a:rPr lang="fr-FR" sz="1800" dirty="0">
                <a:solidFill>
                  <a:srgbClr val="C00000"/>
                </a:solidFill>
              </a:rPr>
              <a:t>Exploitation</a:t>
            </a:r>
          </a:p>
        </p:txBody>
      </p:sp>
      <p:sp>
        <p:nvSpPr>
          <p:cNvPr id="6" name="Espace réservé du numéro de diapositive 5"/>
          <p:cNvSpPr>
            <a:spLocks noGrp="1"/>
          </p:cNvSpPr>
          <p:nvPr>
            <p:ph type="sldNum" sz="quarter" idx="12"/>
          </p:nvPr>
        </p:nvSpPr>
        <p:spPr/>
        <p:txBody>
          <a:bodyPr/>
          <a:lstStyle/>
          <a:p>
            <a:fld id="{E2529143-2798-4C11-845F-1766F045DCA1}" type="slidenum">
              <a:rPr lang="fr-FR" smtClean="0"/>
              <a:pPr/>
              <a:t>14</a:t>
            </a:fld>
            <a:endParaRPr lang="fr-FR"/>
          </a:p>
        </p:txBody>
      </p:sp>
      <p:sp>
        <p:nvSpPr>
          <p:cNvPr id="7"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
        <p:nvSpPr>
          <p:cNvPr id="10" name="Titre 6"/>
          <p:cNvSpPr>
            <a:spLocks noGrp="1"/>
          </p:cNvSpPr>
          <p:nvPr>
            <p:ph type="title"/>
          </p:nvPr>
        </p:nvSpPr>
        <p:spPr>
          <a:xfrm>
            <a:off x="301752" y="228600"/>
            <a:ext cx="8534400" cy="758952"/>
          </a:xfrm>
        </p:spPr>
        <p:txBody>
          <a:bodyPr>
            <a:normAutofit/>
          </a:bodyPr>
          <a:lstStyle/>
          <a:p>
            <a:r>
              <a:rPr lang="fr-FR" dirty="0"/>
              <a:t>1. 4. Processus du datamining</a:t>
            </a:r>
          </a:p>
        </p:txBody>
      </p:sp>
      <p:pic>
        <p:nvPicPr>
          <p:cNvPr id="2" name="Image 1">
            <a:extLst>
              <a:ext uri="{FF2B5EF4-FFF2-40B4-BE49-F238E27FC236}">
                <a16:creationId xmlns:a16="http://schemas.microsoft.com/office/drawing/2014/main" id="{429547EB-5154-47A3-9C3B-DA2B47FE17B1}"/>
              </a:ext>
            </a:extLst>
          </p:cNvPr>
          <p:cNvPicPr>
            <a:picLocks noChangeAspect="1"/>
          </p:cNvPicPr>
          <p:nvPr/>
        </p:nvPicPr>
        <p:blipFill>
          <a:blip r:embed="rId2"/>
          <a:stretch>
            <a:fillRect/>
          </a:stretch>
        </p:blipFill>
        <p:spPr>
          <a:xfrm>
            <a:off x="6444208" y="4797152"/>
            <a:ext cx="1533525" cy="276225"/>
          </a:xfrm>
          <a:prstGeom prst="rect">
            <a:avLst/>
          </a:prstGeom>
        </p:spPr>
      </p:pic>
    </p:spTree>
    <p:extLst>
      <p:ext uri="{BB962C8B-B14F-4D97-AF65-F5344CB8AC3E}">
        <p14:creationId xmlns:p14="http://schemas.microsoft.com/office/powerpoint/2010/main" val="127699428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98E602-75AB-44A7-B699-C5CB9799033F}"/>
              </a:ext>
            </a:extLst>
          </p:cNvPr>
          <p:cNvSpPr>
            <a:spLocks noGrp="1"/>
          </p:cNvSpPr>
          <p:nvPr>
            <p:ph type="title"/>
          </p:nvPr>
        </p:nvSpPr>
        <p:spPr/>
        <p:txBody>
          <a:bodyPr>
            <a:normAutofit/>
          </a:bodyPr>
          <a:lstStyle/>
          <a:p>
            <a:r>
              <a:rPr lang="fr-FR" dirty="0"/>
              <a:t>1.5. Panorama des méthodes</a:t>
            </a:r>
          </a:p>
        </p:txBody>
      </p:sp>
      <p:sp>
        <p:nvSpPr>
          <p:cNvPr id="3" name="Espace réservé du pied de page 2">
            <a:extLst>
              <a:ext uri="{FF2B5EF4-FFF2-40B4-BE49-F238E27FC236}">
                <a16:creationId xmlns:a16="http://schemas.microsoft.com/office/drawing/2014/main" id="{78330616-F0E9-4325-85A3-E81319B25D1C}"/>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099513F0-9050-4583-93C4-E08C2A8F1286}"/>
              </a:ext>
            </a:extLst>
          </p:cNvPr>
          <p:cNvSpPr>
            <a:spLocks noGrp="1"/>
          </p:cNvSpPr>
          <p:nvPr>
            <p:ph type="sldNum" sz="quarter" idx="12"/>
          </p:nvPr>
        </p:nvSpPr>
        <p:spPr/>
        <p:txBody>
          <a:bodyPr/>
          <a:lstStyle/>
          <a:p>
            <a:fld id="{A3F31473-23EB-4724-8B59-FE6D21D89FA4}" type="slidenum">
              <a:rPr lang="fr-FR" smtClean="0"/>
              <a:pPr/>
              <a:t>15</a:t>
            </a:fld>
            <a:endParaRPr lang="fr-FR"/>
          </a:p>
        </p:txBody>
      </p:sp>
      <p:sp>
        <p:nvSpPr>
          <p:cNvPr id="5" name="Espace réservé du contenu 4">
            <a:extLst>
              <a:ext uri="{FF2B5EF4-FFF2-40B4-BE49-F238E27FC236}">
                <a16:creationId xmlns:a16="http://schemas.microsoft.com/office/drawing/2014/main" id="{571049D4-DA4A-4EC7-B68C-BC36A15BBF91}"/>
              </a:ext>
            </a:extLst>
          </p:cNvPr>
          <p:cNvSpPr>
            <a:spLocks noGrp="1"/>
          </p:cNvSpPr>
          <p:nvPr>
            <p:ph sz="quarter" idx="1"/>
          </p:nvPr>
        </p:nvSpPr>
        <p:spPr/>
        <p:txBody>
          <a:bodyPr>
            <a:normAutofit/>
          </a:bodyPr>
          <a:lstStyle/>
          <a:p>
            <a:r>
              <a:rPr lang="fr-FR" sz="2400" dirty="0"/>
              <a:t>Les deux grandes familles de méthodes :</a:t>
            </a:r>
          </a:p>
        </p:txBody>
      </p:sp>
      <p:pic>
        <p:nvPicPr>
          <p:cNvPr id="6" name="Image 5">
            <a:extLst>
              <a:ext uri="{FF2B5EF4-FFF2-40B4-BE49-F238E27FC236}">
                <a16:creationId xmlns:a16="http://schemas.microsoft.com/office/drawing/2014/main" id="{85F27D8D-B4F9-4ECB-9829-D443F707D073}"/>
              </a:ext>
            </a:extLst>
          </p:cNvPr>
          <p:cNvPicPr>
            <a:picLocks noChangeAspect="1"/>
          </p:cNvPicPr>
          <p:nvPr/>
        </p:nvPicPr>
        <p:blipFill>
          <a:blip r:embed="rId3"/>
          <a:stretch>
            <a:fillRect/>
          </a:stretch>
        </p:blipFill>
        <p:spPr>
          <a:xfrm>
            <a:off x="1311719" y="2132856"/>
            <a:ext cx="6099939" cy="3434419"/>
          </a:xfrm>
          <a:prstGeom prst="rect">
            <a:avLst/>
          </a:prstGeom>
        </p:spPr>
      </p:pic>
    </p:spTree>
    <p:extLst>
      <p:ext uri="{BB962C8B-B14F-4D97-AF65-F5344CB8AC3E}">
        <p14:creationId xmlns:p14="http://schemas.microsoft.com/office/powerpoint/2010/main" val="3059816078"/>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46EB26-58A0-40ED-A97C-E21A51B50A8C}"/>
              </a:ext>
            </a:extLst>
          </p:cNvPr>
          <p:cNvSpPr>
            <a:spLocks noGrp="1"/>
          </p:cNvSpPr>
          <p:nvPr>
            <p:ph type="title"/>
          </p:nvPr>
        </p:nvSpPr>
        <p:spPr/>
        <p:txBody>
          <a:bodyPr>
            <a:normAutofit/>
          </a:bodyPr>
          <a:lstStyle/>
          <a:p>
            <a:r>
              <a:rPr lang="fr-FR" dirty="0"/>
              <a:t>1.5. Panorama des méthodes</a:t>
            </a:r>
          </a:p>
        </p:txBody>
      </p:sp>
      <p:sp>
        <p:nvSpPr>
          <p:cNvPr id="3" name="Espace réservé du pied de page 2">
            <a:extLst>
              <a:ext uri="{FF2B5EF4-FFF2-40B4-BE49-F238E27FC236}">
                <a16:creationId xmlns:a16="http://schemas.microsoft.com/office/drawing/2014/main" id="{FB255384-116B-4593-A3C9-64A5DDD0D383}"/>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E8413D15-803B-46A5-93DA-9C72B2DC7EF0}"/>
              </a:ext>
            </a:extLst>
          </p:cNvPr>
          <p:cNvSpPr>
            <a:spLocks noGrp="1"/>
          </p:cNvSpPr>
          <p:nvPr>
            <p:ph type="sldNum" sz="quarter" idx="12"/>
          </p:nvPr>
        </p:nvSpPr>
        <p:spPr/>
        <p:txBody>
          <a:bodyPr/>
          <a:lstStyle/>
          <a:p>
            <a:fld id="{A3F31473-23EB-4724-8B59-FE6D21D89FA4}" type="slidenum">
              <a:rPr lang="fr-FR" smtClean="0"/>
              <a:pPr/>
              <a:t>16</a:t>
            </a:fld>
            <a:endParaRPr lang="fr-FR"/>
          </a:p>
        </p:txBody>
      </p:sp>
      <p:sp>
        <p:nvSpPr>
          <p:cNvPr id="5" name="Espace réservé du contenu 4">
            <a:extLst>
              <a:ext uri="{FF2B5EF4-FFF2-40B4-BE49-F238E27FC236}">
                <a16:creationId xmlns:a16="http://schemas.microsoft.com/office/drawing/2014/main" id="{F6D4878A-9FF2-4B15-A808-F436FBD85EC1}"/>
              </a:ext>
            </a:extLst>
          </p:cNvPr>
          <p:cNvSpPr>
            <a:spLocks noGrp="1"/>
          </p:cNvSpPr>
          <p:nvPr>
            <p:ph sz="quarter" idx="1"/>
          </p:nvPr>
        </p:nvSpPr>
        <p:spPr>
          <a:xfrm>
            <a:off x="301752" y="1700808"/>
            <a:ext cx="8503920" cy="4572000"/>
          </a:xfrm>
        </p:spPr>
        <p:txBody>
          <a:bodyPr>
            <a:normAutofit fontScale="92500" lnSpcReduction="20000"/>
          </a:bodyPr>
          <a:lstStyle/>
          <a:p>
            <a:pPr algn="just"/>
            <a:r>
              <a:rPr lang="fr-FR" dirty="0"/>
              <a:t>Méthodes descriptives </a:t>
            </a:r>
          </a:p>
          <a:p>
            <a:pPr lvl="1" algn="just"/>
            <a:r>
              <a:rPr lang="fr-FR" dirty="0"/>
              <a:t>visent à </a:t>
            </a:r>
            <a:r>
              <a:rPr lang="fr-FR" b="1" dirty="0"/>
              <a:t>mettre en évidence des informations présentes </a:t>
            </a:r>
            <a:r>
              <a:rPr lang="fr-FR" dirty="0"/>
              <a:t>mais cachées par le volume des données</a:t>
            </a:r>
          </a:p>
          <a:p>
            <a:pPr lvl="1" algn="just"/>
            <a:r>
              <a:rPr lang="fr-FR" dirty="0"/>
              <a:t>cas des segmentations de clientèle et des recherches d’associations de produits sur les tickets de caisse.</a:t>
            </a:r>
          </a:p>
          <a:p>
            <a:pPr lvl="1" algn="just"/>
            <a:r>
              <a:rPr lang="fr-FR" dirty="0"/>
              <a:t>réduisent, résument, synthétisent les données</a:t>
            </a:r>
          </a:p>
          <a:p>
            <a:pPr lvl="1" algn="just"/>
            <a:r>
              <a:rPr lang="fr-FR" dirty="0"/>
              <a:t>il n’y a pas de variable « cible » à prédire.</a:t>
            </a:r>
          </a:p>
          <a:p>
            <a:pPr lvl="1" algn="just"/>
            <a:endParaRPr lang="fr-FR" dirty="0"/>
          </a:p>
          <a:p>
            <a:pPr algn="just"/>
            <a:r>
              <a:rPr lang="fr-FR" dirty="0"/>
              <a:t>Méthodes prédictives</a:t>
            </a:r>
          </a:p>
          <a:p>
            <a:pPr lvl="1" algn="just"/>
            <a:r>
              <a:rPr lang="fr-FR" dirty="0"/>
              <a:t>visent à extrapoler de nouvelles informations à partir des informations présentes </a:t>
            </a:r>
          </a:p>
          <a:p>
            <a:pPr lvl="1" algn="just"/>
            <a:r>
              <a:rPr lang="fr-FR" dirty="0"/>
              <a:t>cas du </a:t>
            </a:r>
            <a:r>
              <a:rPr lang="fr-FR" dirty="0" err="1"/>
              <a:t>scoring</a:t>
            </a:r>
            <a:r>
              <a:rPr lang="fr-FR" dirty="0"/>
              <a:t> (crédit-</a:t>
            </a:r>
            <a:r>
              <a:rPr lang="fr-FR" dirty="0" err="1"/>
              <a:t>scoring</a:t>
            </a:r>
            <a:r>
              <a:rPr lang="fr-FR" dirty="0"/>
              <a:t>: analyses de risque)</a:t>
            </a:r>
          </a:p>
          <a:p>
            <a:pPr lvl="1" algn="just"/>
            <a:r>
              <a:rPr lang="fr-FR" dirty="0"/>
              <a:t>expliquent les données</a:t>
            </a:r>
          </a:p>
          <a:p>
            <a:pPr lvl="1" algn="just"/>
            <a:r>
              <a:rPr lang="fr-FR" dirty="0"/>
              <a:t>il y a une variable « cible » à prédire.</a:t>
            </a:r>
          </a:p>
        </p:txBody>
      </p:sp>
    </p:spTree>
    <p:extLst>
      <p:ext uri="{BB962C8B-B14F-4D97-AF65-F5344CB8AC3E}">
        <p14:creationId xmlns:p14="http://schemas.microsoft.com/office/powerpoint/2010/main" val="3729913575"/>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93B120-46AD-4580-A588-4C4B0CAE6F03}"/>
              </a:ext>
            </a:extLst>
          </p:cNvPr>
          <p:cNvSpPr>
            <a:spLocks noGrp="1"/>
          </p:cNvSpPr>
          <p:nvPr>
            <p:ph type="title"/>
          </p:nvPr>
        </p:nvSpPr>
        <p:spPr/>
        <p:txBody>
          <a:bodyPr>
            <a:normAutofit/>
          </a:bodyPr>
          <a:lstStyle/>
          <a:p>
            <a:r>
              <a:rPr lang="fr-FR" dirty="0"/>
              <a:t>1.5. Panorama des méthodes</a:t>
            </a:r>
          </a:p>
        </p:txBody>
      </p:sp>
      <p:sp>
        <p:nvSpPr>
          <p:cNvPr id="3" name="Espace réservé du pied de page 2">
            <a:extLst>
              <a:ext uri="{FF2B5EF4-FFF2-40B4-BE49-F238E27FC236}">
                <a16:creationId xmlns:a16="http://schemas.microsoft.com/office/drawing/2014/main" id="{13EEEED5-EF42-4F2B-95A4-6D4CE2D566A0}"/>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F066B5B1-A783-48C8-A0B3-A2C5BF3C8EE2}"/>
              </a:ext>
            </a:extLst>
          </p:cNvPr>
          <p:cNvSpPr>
            <a:spLocks noGrp="1"/>
          </p:cNvSpPr>
          <p:nvPr>
            <p:ph type="sldNum" sz="quarter" idx="12"/>
          </p:nvPr>
        </p:nvSpPr>
        <p:spPr/>
        <p:txBody>
          <a:bodyPr/>
          <a:lstStyle/>
          <a:p>
            <a:fld id="{A3F31473-23EB-4724-8B59-FE6D21D89FA4}" type="slidenum">
              <a:rPr lang="fr-FR" smtClean="0"/>
              <a:pPr/>
              <a:t>17</a:t>
            </a:fld>
            <a:endParaRPr lang="fr-FR"/>
          </a:p>
        </p:txBody>
      </p:sp>
      <p:sp>
        <p:nvSpPr>
          <p:cNvPr id="5" name="Espace réservé du contenu 4">
            <a:extLst>
              <a:ext uri="{FF2B5EF4-FFF2-40B4-BE49-F238E27FC236}">
                <a16:creationId xmlns:a16="http://schemas.microsoft.com/office/drawing/2014/main" id="{00DD7C84-4DF8-4D37-AD45-44F96C6A3078}"/>
              </a:ext>
            </a:extLst>
          </p:cNvPr>
          <p:cNvSpPr>
            <a:spLocks noGrp="1"/>
          </p:cNvSpPr>
          <p:nvPr>
            <p:ph sz="quarter" idx="1"/>
          </p:nvPr>
        </p:nvSpPr>
        <p:spPr/>
        <p:txBody>
          <a:bodyPr>
            <a:normAutofit fontScale="92500" lnSpcReduction="20000"/>
          </a:bodyPr>
          <a:lstStyle/>
          <a:p>
            <a:pPr algn="just"/>
            <a:r>
              <a:rPr lang="fr-FR" dirty="0"/>
              <a:t>Méthodes descriptives </a:t>
            </a:r>
          </a:p>
          <a:p>
            <a:pPr lvl="1" algn="just"/>
            <a:r>
              <a:rPr lang="fr-FR" dirty="0"/>
              <a:t>Analyse factorielle </a:t>
            </a:r>
            <a:r>
              <a:rPr lang="fr-FR" dirty="0">
                <a:solidFill>
                  <a:schemeClr val="bg1">
                    <a:lumMod val="65000"/>
                  </a:schemeClr>
                </a:solidFill>
              </a:rPr>
              <a:t>(projection sur un espace de dimension inférieures: ACP)</a:t>
            </a:r>
          </a:p>
          <a:p>
            <a:pPr lvl="1" algn="just"/>
            <a:r>
              <a:rPr lang="fr-FR" dirty="0"/>
              <a:t>Classification automatique </a:t>
            </a:r>
            <a:r>
              <a:rPr lang="fr-FR" dirty="0">
                <a:solidFill>
                  <a:schemeClr val="bg1">
                    <a:lumMod val="65000"/>
                  </a:schemeClr>
                </a:solidFill>
              </a:rPr>
              <a:t>(clustering)</a:t>
            </a:r>
          </a:p>
          <a:p>
            <a:pPr lvl="1" algn="just"/>
            <a:r>
              <a:rPr lang="fr-FR" dirty="0"/>
              <a:t>Recherche d’associations </a:t>
            </a:r>
            <a:r>
              <a:rPr lang="fr-FR" dirty="0">
                <a:solidFill>
                  <a:schemeClr val="bg1">
                    <a:lumMod val="65000"/>
                  </a:schemeClr>
                </a:solidFill>
              </a:rPr>
              <a:t>(analyse du ticket de caisse)</a:t>
            </a:r>
          </a:p>
          <a:p>
            <a:pPr algn="just"/>
            <a:r>
              <a:rPr lang="fr-FR" dirty="0"/>
              <a:t>Méthodes prédictives </a:t>
            </a:r>
          </a:p>
          <a:p>
            <a:pPr lvl="1" algn="just"/>
            <a:r>
              <a:rPr lang="fr-FR" dirty="0"/>
              <a:t>Classement/Discrimination (variable « cible » qualitative)</a:t>
            </a:r>
          </a:p>
          <a:p>
            <a:pPr lvl="2" algn="just"/>
            <a:r>
              <a:rPr lang="fr-FR" dirty="0"/>
              <a:t>Analyse discriminante / régression logistique</a:t>
            </a:r>
          </a:p>
          <a:p>
            <a:pPr lvl="2" algn="just"/>
            <a:r>
              <a:rPr lang="fr-FR" dirty="0"/>
              <a:t>Arbres de décision </a:t>
            </a:r>
            <a:r>
              <a:rPr lang="fr-FR" dirty="0">
                <a:solidFill>
                  <a:schemeClr val="bg1">
                    <a:lumMod val="65000"/>
                  </a:schemeClr>
                </a:solidFill>
              </a:rPr>
              <a:t>(modèles à base de règles logiques)</a:t>
            </a:r>
          </a:p>
          <a:p>
            <a:pPr lvl="2" algn="just"/>
            <a:r>
              <a:rPr lang="fr-FR" dirty="0"/>
              <a:t>Réseaux de neurones </a:t>
            </a:r>
            <a:r>
              <a:rPr lang="fr-FR" dirty="0">
                <a:solidFill>
                  <a:schemeClr val="bg1">
                    <a:lumMod val="65000"/>
                  </a:schemeClr>
                </a:solidFill>
              </a:rPr>
              <a:t>(modèles à base de fonctions mathématiques)</a:t>
            </a:r>
          </a:p>
          <a:p>
            <a:pPr lvl="2" algn="just"/>
            <a:r>
              <a:rPr lang="fr-FR" dirty="0"/>
              <a:t>K-plus proches voisins </a:t>
            </a:r>
            <a:r>
              <a:rPr lang="fr-FR" dirty="0">
                <a:solidFill>
                  <a:schemeClr val="bg1">
                    <a:lumMod val="65000"/>
                  </a:schemeClr>
                </a:solidFill>
              </a:rPr>
              <a:t>(prédiction sans modèle)</a:t>
            </a:r>
          </a:p>
          <a:p>
            <a:pPr lvl="1" algn="just"/>
            <a:r>
              <a:rPr lang="fr-FR" dirty="0"/>
              <a:t>Prédiction (variable « cible » quantitative)</a:t>
            </a:r>
          </a:p>
          <a:p>
            <a:pPr lvl="2" algn="just"/>
            <a:r>
              <a:rPr lang="fr-FR" dirty="0"/>
              <a:t>Régression linéaire (simple et multiple)</a:t>
            </a:r>
          </a:p>
          <a:p>
            <a:pPr lvl="2" algn="just"/>
            <a:r>
              <a:rPr lang="fr-FR" dirty="0"/>
              <a:t>Arbres de décision</a:t>
            </a:r>
          </a:p>
          <a:p>
            <a:pPr lvl="2" algn="just"/>
            <a:r>
              <a:rPr lang="fr-FR" dirty="0"/>
              <a:t>Réseaux de neurones</a:t>
            </a:r>
          </a:p>
        </p:txBody>
      </p:sp>
    </p:spTree>
    <p:extLst>
      <p:ext uri="{BB962C8B-B14F-4D97-AF65-F5344CB8AC3E}">
        <p14:creationId xmlns:p14="http://schemas.microsoft.com/office/powerpoint/2010/main" val="30865679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EAD28C-CDA1-4D7A-9524-5BE6493FB329}"/>
              </a:ext>
            </a:extLst>
          </p:cNvPr>
          <p:cNvSpPr>
            <a:spLocks noGrp="1"/>
          </p:cNvSpPr>
          <p:nvPr>
            <p:ph type="title"/>
          </p:nvPr>
        </p:nvSpPr>
        <p:spPr/>
        <p:txBody>
          <a:bodyPr>
            <a:normAutofit/>
          </a:bodyPr>
          <a:lstStyle/>
          <a:p>
            <a:r>
              <a:rPr lang="fr-FR" dirty="0"/>
              <a:t>1.5. Panorama des méthodes</a:t>
            </a:r>
          </a:p>
        </p:txBody>
      </p:sp>
      <p:sp>
        <p:nvSpPr>
          <p:cNvPr id="3" name="Espace réservé du pied de page 2">
            <a:extLst>
              <a:ext uri="{FF2B5EF4-FFF2-40B4-BE49-F238E27FC236}">
                <a16:creationId xmlns:a16="http://schemas.microsoft.com/office/drawing/2014/main" id="{2985B99F-9D84-4B57-875E-491C78B968C7}"/>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D739CD4A-DFA4-47CD-891C-118B2A0E6F04}"/>
              </a:ext>
            </a:extLst>
          </p:cNvPr>
          <p:cNvSpPr>
            <a:spLocks noGrp="1"/>
          </p:cNvSpPr>
          <p:nvPr>
            <p:ph type="sldNum" sz="quarter" idx="12"/>
          </p:nvPr>
        </p:nvSpPr>
        <p:spPr/>
        <p:txBody>
          <a:bodyPr/>
          <a:lstStyle/>
          <a:p>
            <a:fld id="{A3F31473-23EB-4724-8B59-FE6D21D89FA4}" type="slidenum">
              <a:rPr lang="fr-FR" smtClean="0"/>
              <a:pPr/>
              <a:t>18</a:t>
            </a:fld>
            <a:endParaRPr lang="fr-FR"/>
          </a:p>
        </p:txBody>
      </p:sp>
      <p:pic>
        <p:nvPicPr>
          <p:cNvPr id="6" name="Image 5">
            <a:extLst>
              <a:ext uri="{FF2B5EF4-FFF2-40B4-BE49-F238E27FC236}">
                <a16:creationId xmlns:a16="http://schemas.microsoft.com/office/drawing/2014/main" id="{0598C01C-1800-4D51-86E5-66BB5F8B8E87}"/>
              </a:ext>
            </a:extLst>
          </p:cNvPr>
          <p:cNvPicPr>
            <a:picLocks noChangeAspect="1"/>
          </p:cNvPicPr>
          <p:nvPr/>
        </p:nvPicPr>
        <p:blipFill>
          <a:blip r:embed="rId3"/>
          <a:stretch>
            <a:fillRect/>
          </a:stretch>
        </p:blipFill>
        <p:spPr>
          <a:xfrm>
            <a:off x="780860" y="1772816"/>
            <a:ext cx="7582279" cy="4212377"/>
          </a:xfrm>
          <a:prstGeom prst="rect">
            <a:avLst/>
          </a:prstGeom>
        </p:spPr>
      </p:pic>
    </p:spTree>
    <p:extLst>
      <p:ext uri="{BB962C8B-B14F-4D97-AF65-F5344CB8AC3E}">
        <p14:creationId xmlns:p14="http://schemas.microsoft.com/office/powerpoint/2010/main" val="1807218253"/>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1C46FA-B4E7-43E0-97FE-E1E4F8BCC85C}"/>
              </a:ext>
            </a:extLst>
          </p:cNvPr>
          <p:cNvSpPr>
            <a:spLocks noGrp="1"/>
          </p:cNvSpPr>
          <p:nvPr>
            <p:ph type="title"/>
          </p:nvPr>
        </p:nvSpPr>
        <p:spPr/>
        <p:txBody>
          <a:bodyPr>
            <a:normAutofit/>
          </a:bodyPr>
          <a:lstStyle/>
          <a:p>
            <a:r>
              <a:rPr lang="fr-FR" dirty="0"/>
              <a:t>1.5. Panorama des méthodes</a:t>
            </a:r>
          </a:p>
        </p:txBody>
      </p:sp>
      <p:sp>
        <p:nvSpPr>
          <p:cNvPr id="3" name="Espace réservé du pied de page 2">
            <a:extLst>
              <a:ext uri="{FF2B5EF4-FFF2-40B4-BE49-F238E27FC236}">
                <a16:creationId xmlns:a16="http://schemas.microsoft.com/office/drawing/2014/main" id="{4E746A4E-FFFA-4E2E-8C45-41AF9379E514}"/>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FE2B9297-33D4-4AFF-8E93-641C1E6E0D49}"/>
              </a:ext>
            </a:extLst>
          </p:cNvPr>
          <p:cNvSpPr>
            <a:spLocks noGrp="1"/>
          </p:cNvSpPr>
          <p:nvPr>
            <p:ph type="sldNum" sz="quarter" idx="12"/>
          </p:nvPr>
        </p:nvSpPr>
        <p:spPr/>
        <p:txBody>
          <a:bodyPr/>
          <a:lstStyle/>
          <a:p>
            <a:fld id="{A3F31473-23EB-4724-8B59-FE6D21D89FA4}" type="slidenum">
              <a:rPr lang="fr-FR" smtClean="0"/>
              <a:pPr/>
              <a:t>19</a:t>
            </a:fld>
            <a:endParaRPr lang="fr-FR"/>
          </a:p>
        </p:txBody>
      </p:sp>
      <p:sp>
        <p:nvSpPr>
          <p:cNvPr id="5" name="Espace réservé du contenu 4">
            <a:extLst>
              <a:ext uri="{FF2B5EF4-FFF2-40B4-BE49-F238E27FC236}">
                <a16:creationId xmlns:a16="http://schemas.microsoft.com/office/drawing/2014/main" id="{865F8740-796A-4BED-AE03-02F1D41F9F1E}"/>
              </a:ext>
            </a:extLst>
          </p:cNvPr>
          <p:cNvSpPr>
            <a:spLocks noGrp="1"/>
          </p:cNvSpPr>
          <p:nvPr>
            <p:ph sz="quarter" idx="1"/>
          </p:nvPr>
        </p:nvSpPr>
        <p:spPr>
          <a:xfrm>
            <a:off x="107504" y="1449288"/>
            <a:ext cx="4320480" cy="4572000"/>
          </a:xfrm>
        </p:spPr>
        <p:txBody>
          <a:bodyPr>
            <a:normAutofit/>
          </a:bodyPr>
          <a:lstStyle/>
          <a:p>
            <a:r>
              <a:rPr lang="fr-FR" sz="2400" dirty="0"/>
              <a:t>Ce qui n’est pas abordé dans ce cours :</a:t>
            </a:r>
          </a:p>
          <a:p>
            <a:pPr lvl="1"/>
            <a:r>
              <a:rPr lang="fr-FR" sz="1900" dirty="0">
                <a:solidFill>
                  <a:schemeClr val="tx1"/>
                </a:solidFill>
              </a:rPr>
              <a:t>Analyse factorielle </a:t>
            </a:r>
            <a:r>
              <a:rPr lang="fr-FR" sz="1900" dirty="0"/>
              <a:t>(ACP, ACM...): </a:t>
            </a:r>
          </a:p>
          <a:p>
            <a:pPr lvl="2"/>
            <a:r>
              <a:rPr lang="fr-FR" sz="1600" dirty="0"/>
              <a:t>projection et visualisation de données dans un espace de dimension faible</a:t>
            </a:r>
          </a:p>
          <a:p>
            <a:pPr lvl="1"/>
            <a:r>
              <a:rPr lang="fr-FR" sz="1900" dirty="0">
                <a:solidFill>
                  <a:schemeClr val="tx1"/>
                </a:solidFill>
              </a:rPr>
              <a:t>Régression</a:t>
            </a:r>
          </a:p>
          <a:p>
            <a:pPr lvl="2"/>
            <a:r>
              <a:rPr lang="fr-FR" sz="1600" dirty="0"/>
              <a:t>prédire une variable quantitative</a:t>
            </a:r>
          </a:p>
          <a:p>
            <a:pPr lvl="1"/>
            <a:r>
              <a:rPr lang="fr-FR" sz="2400" dirty="0"/>
              <a:t> </a:t>
            </a:r>
            <a:r>
              <a:rPr lang="fr-FR" sz="1900" dirty="0">
                <a:solidFill>
                  <a:schemeClr val="tx1"/>
                </a:solidFill>
              </a:rPr>
              <a:t>Détections de liens (règles d’association)</a:t>
            </a:r>
          </a:p>
          <a:p>
            <a:pPr lvl="2"/>
            <a:r>
              <a:rPr lang="fr-FR" sz="1600" dirty="0"/>
              <a:t>prédire une variable quantitative</a:t>
            </a:r>
          </a:p>
        </p:txBody>
      </p:sp>
      <p:sp>
        <p:nvSpPr>
          <p:cNvPr id="6" name="ZoneTexte 5">
            <a:extLst>
              <a:ext uri="{FF2B5EF4-FFF2-40B4-BE49-F238E27FC236}">
                <a16:creationId xmlns:a16="http://schemas.microsoft.com/office/drawing/2014/main" id="{73B38574-FF10-4BAD-B326-F07448FA0342}"/>
              </a:ext>
            </a:extLst>
          </p:cNvPr>
          <p:cNvSpPr txBox="1"/>
          <p:nvPr/>
        </p:nvSpPr>
        <p:spPr>
          <a:xfrm>
            <a:off x="4572000" y="1412776"/>
            <a:ext cx="4392488" cy="4484305"/>
          </a:xfrm>
          <a:prstGeom prst="rect">
            <a:avLst/>
          </a:prstGeom>
          <a:noFill/>
        </p:spPr>
        <p:txBody>
          <a:bodyPr wrap="square" rtlCol="0">
            <a:spAutoFit/>
          </a:bodyPr>
          <a:lstStyle/>
          <a:p>
            <a:pPr marL="274320" indent="-274320">
              <a:spcBef>
                <a:spcPct val="20000"/>
              </a:spcBef>
              <a:buClr>
                <a:schemeClr val="accent1"/>
              </a:buClr>
              <a:buSzPct val="85000"/>
              <a:buFont typeface="Wingdings 2"/>
              <a:buChar char=""/>
            </a:pPr>
            <a:r>
              <a:rPr lang="fr-FR" sz="2400" dirty="0"/>
              <a:t>Ce qui est abordé dans ce cours :</a:t>
            </a:r>
          </a:p>
          <a:p>
            <a:pPr marL="548640" lvl="1" indent="-274320">
              <a:spcBef>
                <a:spcPct val="20000"/>
              </a:spcBef>
              <a:buClr>
                <a:schemeClr val="accent2"/>
              </a:buClr>
              <a:buSzPct val="70000"/>
              <a:buFont typeface="Wingdings"/>
              <a:buChar char=""/>
            </a:pPr>
            <a:r>
              <a:rPr lang="fr-FR" sz="1900" dirty="0"/>
              <a:t>Clustering (classification automatique, classification non supervisée, segmentation, typologie...):</a:t>
            </a:r>
          </a:p>
          <a:p>
            <a:pPr marL="822960" lvl="2" indent="-228600">
              <a:spcBef>
                <a:spcPct val="20000"/>
              </a:spcBef>
              <a:buClr>
                <a:schemeClr val="accent3"/>
              </a:buClr>
              <a:buSzPct val="75000"/>
              <a:buFont typeface="Wingdings 2"/>
              <a:buChar char=""/>
            </a:pPr>
            <a:r>
              <a:rPr lang="fr-FR" sz="1600" dirty="0"/>
              <a:t>regrouper des individus qui se ressemblent en classes représentatives</a:t>
            </a:r>
          </a:p>
          <a:p>
            <a:pPr marL="548640" lvl="1" indent="-274320">
              <a:spcBef>
                <a:spcPct val="20000"/>
              </a:spcBef>
              <a:buClr>
                <a:schemeClr val="accent2"/>
              </a:buClr>
              <a:buSzPct val="70000"/>
              <a:buFont typeface="Wingdings"/>
              <a:buChar char=""/>
            </a:pPr>
            <a:r>
              <a:rPr lang="fr-FR" sz="2400" dirty="0"/>
              <a:t> </a:t>
            </a:r>
            <a:r>
              <a:rPr lang="fr-FR" sz="1900" dirty="0"/>
              <a:t>Classification supervisée (discrimination, analyse discriminante, </a:t>
            </a:r>
            <a:r>
              <a:rPr lang="fr-FR" sz="1900" dirty="0" err="1"/>
              <a:t>scoring</a:t>
            </a:r>
            <a:r>
              <a:rPr lang="fr-FR" sz="1900" dirty="0"/>
              <a:t>) :</a:t>
            </a:r>
          </a:p>
          <a:p>
            <a:pPr marL="822960" lvl="2" indent="-228600">
              <a:spcBef>
                <a:spcPct val="20000"/>
              </a:spcBef>
              <a:buClr>
                <a:schemeClr val="accent3"/>
              </a:buClr>
              <a:buSzPct val="75000"/>
              <a:buFont typeface="Wingdings 2"/>
              <a:buChar char=""/>
            </a:pPr>
            <a:r>
              <a:rPr lang="fr-FR" sz="1600" dirty="0"/>
              <a:t>classer des individus dans des classes définies a priori</a:t>
            </a:r>
          </a:p>
        </p:txBody>
      </p:sp>
    </p:spTree>
    <p:extLst>
      <p:ext uri="{BB962C8B-B14F-4D97-AF65-F5344CB8AC3E}">
        <p14:creationId xmlns:p14="http://schemas.microsoft.com/office/powerpoint/2010/main" val="348969092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11A6A8B-8A57-4598-A3F1-9E9739F0D237}"/>
              </a:ext>
            </a:extLst>
          </p:cNvPr>
          <p:cNvSpPr>
            <a:spLocks noGrp="1"/>
          </p:cNvSpPr>
          <p:nvPr>
            <p:ph type="body" idx="1"/>
          </p:nvPr>
        </p:nvSpPr>
        <p:spPr/>
        <p:txBody>
          <a:bodyPr/>
          <a:lstStyle/>
          <a:p>
            <a:r>
              <a:rPr lang="fr-FR" dirty="0"/>
              <a:t>Chapitre 2</a:t>
            </a:r>
          </a:p>
        </p:txBody>
      </p:sp>
      <p:sp>
        <p:nvSpPr>
          <p:cNvPr id="3" name="Espace réservé du pied de page 2">
            <a:extLst>
              <a:ext uri="{FF2B5EF4-FFF2-40B4-BE49-F238E27FC236}">
                <a16:creationId xmlns:a16="http://schemas.microsoft.com/office/drawing/2014/main" id="{FF4F76F3-9F6E-479D-8457-73321409DEE0}"/>
              </a:ext>
            </a:extLst>
          </p:cNvPr>
          <p:cNvSpPr>
            <a:spLocks noGrp="1"/>
          </p:cNvSpPr>
          <p:nvPr>
            <p:ph type="ftr" sz="quarter" idx="11"/>
          </p:nvPr>
        </p:nvSpPr>
        <p:spPr/>
        <p:txBody>
          <a:bodyPr/>
          <a:lstStyle/>
          <a:p>
            <a:r>
              <a:rPr lang="fr-FR"/>
              <a:t>Dr. H.Chikh Zaouali</a:t>
            </a:r>
          </a:p>
        </p:txBody>
      </p:sp>
      <p:sp>
        <p:nvSpPr>
          <p:cNvPr id="4" name="Espace réservé du numéro de diapositive 3">
            <a:extLst>
              <a:ext uri="{FF2B5EF4-FFF2-40B4-BE49-F238E27FC236}">
                <a16:creationId xmlns:a16="http://schemas.microsoft.com/office/drawing/2014/main" id="{36156FE8-AECB-48B8-A169-D168EADB053D}"/>
              </a:ext>
            </a:extLst>
          </p:cNvPr>
          <p:cNvSpPr>
            <a:spLocks noGrp="1"/>
          </p:cNvSpPr>
          <p:nvPr>
            <p:ph type="sldNum" sz="quarter" idx="12"/>
          </p:nvPr>
        </p:nvSpPr>
        <p:spPr/>
        <p:txBody>
          <a:bodyPr/>
          <a:lstStyle/>
          <a:p>
            <a:fld id="{A3F31473-23EB-4724-8B59-FE6D21D89FA4}" type="slidenum">
              <a:rPr lang="fr-FR" smtClean="0"/>
              <a:pPr/>
              <a:t>20</a:t>
            </a:fld>
            <a:endParaRPr lang="fr-FR"/>
          </a:p>
        </p:txBody>
      </p:sp>
      <p:sp>
        <p:nvSpPr>
          <p:cNvPr id="5" name="Titre 4">
            <a:extLst>
              <a:ext uri="{FF2B5EF4-FFF2-40B4-BE49-F238E27FC236}">
                <a16:creationId xmlns:a16="http://schemas.microsoft.com/office/drawing/2014/main" id="{00D553CB-7BAF-4804-80A6-32A11639D997}"/>
              </a:ext>
            </a:extLst>
          </p:cNvPr>
          <p:cNvSpPr>
            <a:spLocks noGrp="1"/>
          </p:cNvSpPr>
          <p:nvPr>
            <p:ph type="title"/>
          </p:nvPr>
        </p:nvSpPr>
        <p:spPr/>
        <p:txBody>
          <a:bodyPr/>
          <a:lstStyle/>
          <a:p>
            <a:r>
              <a:rPr lang="fr-FR" dirty="0"/>
              <a:t>Classification de données</a:t>
            </a:r>
          </a:p>
        </p:txBody>
      </p:sp>
    </p:spTree>
    <p:extLst>
      <p:ext uri="{BB962C8B-B14F-4D97-AF65-F5344CB8AC3E}">
        <p14:creationId xmlns:p14="http://schemas.microsoft.com/office/powerpoint/2010/main" val="3406465467"/>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marL="0" indent="0">
              <a:buNone/>
            </a:pPr>
            <a:r>
              <a:rPr lang="fr-FR" sz="2400" b="1" dirty="0"/>
              <a:t>	</a:t>
            </a:r>
          </a:p>
          <a:p>
            <a:pPr marL="0" indent="0">
              <a:buNone/>
            </a:pPr>
            <a:r>
              <a:rPr lang="fr-FR" sz="2400" b="1" dirty="0"/>
              <a:t>	Plan</a:t>
            </a:r>
          </a:p>
          <a:p>
            <a:pPr marL="0" indent="0">
              <a:buNone/>
            </a:pPr>
            <a:r>
              <a:rPr lang="fr-FR" sz="2400" dirty="0"/>
              <a:t>		2.1. Objectif</a:t>
            </a:r>
          </a:p>
          <a:p>
            <a:pPr marL="0" indent="0">
              <a:buNone/>
            </a:pPr>
            <a:r>
              <a:rPr lang="fr-FR" sz="2400" dirty="0"/>
              <a:t>		2.2. Domaines d’application </a:t>
            </a:r>
          </a:p>
          <a:p>
            <a:pPr marL="0" indent="0">
              <a:buNone/>
            </a:pPr>
            <a:r>
              <a:rPr lang="fr-FR" sz="2400" dirty="0"/>
              <a:t>		2.3. Terminologie</a:t>
            </a:r>
          </a:p>
          <a:p>
            <a:pPr marL="0" indent="0">
              <a:buNone/>
            </a:pPr>
            <a:r>
              <a:rPr lang="fr-FR" sz="2400" dirty="0"/>
              <a:t>		2.4. Mise en œuvre d’une classification</a:t>
            </a:r>
          </a:p>
          <a:p>
            <a:pPr marL="0" indent="0">
              <a:buNone/>
            </a:pPr>
            <a:r>
              <a:rPr lang="fr-FR" sz="2400" dirty="0"/>
              <a:t>		2.5. C</a:t>
            </a:r>
            <a:r>
              <a:rPr lang="fr-FR" sz="2400" dirty="0">
                <a:solidFill>
                  <a:schemeClr val="tx1"/>
                </a:solidFill>
              </a:rPr>
              <a:t>lassification supervisée vs. non supervisée</a:t>
            </a:r>
          </a:p>
          <a:p>
            <a:pPr marL="0" indent="0">
              <a:buNone/>
            </a:pPr>
            <a:r>
              <a:rPr lang="fr-FR" sz="2400" dirty="0"/>
              <a:t>		2.6. E</a:t>
            </a:r>
            <a:r>
              <a:rPr lang="fr-FR" sz="2400" dirty="0">
                <a:solidFill>
                  <a:schemeClr val="tx1"/>
                </a:solidFill>
              </a:rPr>
              <a:t>valuation de la classification</a:t>
            </a:r>
          </a:p>
          <a:p>
            <a:pPr marL="514350" indent="-514350">
              <a:buFont typeface="+mj-lt"/>
              <a:buAutoNum type="arabicPeriod"/>
            </a:pPr>
            <a:endParaRPr lang="fr-FR" sz="2400" dirty="0"/>
          </a:p>
        </p:txBody>
      </p:sp>
      <p:sp>
        <p:nvSpPr>
          <p:cNvPr id="5" name="Espace réservé du numéro de diapositive 4"/>
          <p:cNvSpPr>
            <a:spLocks noGrp="1"/>
          </p:cNvSpPr>
          <p:nvPr>
            <p:ph type="sldNum" sz="quarter" idx="12"/>
          </p:nvPr>
        </p:nvSpPr>
        <p:spPr/>
        <p:txBody>
          <a:bodyPr/>
          <a:lstStyle/>
          <a:p>
            <a:fld id="{E2529143-2798-4C11-845F-1766F045DCA1}" type="slidenum">
              <a:rPr lang="fr-FR" smtClean="0"/>
              <a:pPr/>
              <a:t>21</a:t>
            </a:fld>
            <a:endParaRPr lang="fr-FR"/>
          </a:p>
        </p:txBody>
      </p:sp>
      <p:sp>
        <p:nvSpPr>
          <p:cNvPr id="6" name="Titre 5"/>
          <p:cNvSpPr>
            <a:spLocks noGrp="1"/>
          </p:cNvSpPr>
          <p:nvPr>
            <p:ph type="title"/>
          </p:nvPr>
        </p:nvSpPr>
        <p:spPr/>
        <p:txBody>
          <a:bodyPr/>
          <a:lstStyle/>
          <a:p>
            <a:r>
              <a:rPr lang="fr-FR" dirty="0"/>
              <a:t>Classification de données</a:t>
            </a:r>
          </a:p>
        </p:txBody>
      </p:sp>
      <p:sp>
        <p:nvSpPr>
          <p:cNvPr id="7" name="Espace réservé du pied de page 6"/>
          <p:cNvSpPr>
            <a:spLocks noGrp="1"/>
          </p:cNvSpPr>
          <p:nvPr>
            <p:ph type="ftr" sz="quarter" idx="11"/>
          </p:nvPr>
        </p:nvSpPr>
        <p:spPr/>
        <p:txBody>
          <a:bodyPr/>
          <a:lstStyle/>
          <a:p>
            <a:r>
              <a:rPr lang="fr-FR"/>
              <a:t>Dr. H.Chikh Zaouali</a:t>
            </a:r>
            <a:endParaRPr lang="fr-FR" dirty="0"/>
          </a:p>
        </p:txBody>
      </p:sp>
    </p:spTree>
    <p:extLst>
      <p:ext uri="{BB962C8B-B14F-4D97-AF65-F5344CB8AC3E}">
        <p14:creationId xmlns:p14="http://schemas.microsoft.com/office/powerpoint/2010/main" val="2251062213"/>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1" name="Picture 3"/>
          <p:cNvPicPr>
            <a:picLocks noChangeAspect="1" noChangeArrowheads="1"/>
          </p:cNvPicPr>
          <p:nvPr/>
        </p:nvPicPr>
        <p:blipFill>
          <a:blip r:embed="rId2" cstate="print"/>
          <a:srcRect/>
          <a:stretch>
            <a:fillRect/>
          </a:stretch>
        </p:blipFill>
        <p:spPr bwMode="auto">
          <a:xfrm>
            <a:off x="1066800" y="2708920"/>
            <a:ext cx="7010400" cy="2209800"/>
          </a:xfrm>
          <a:prstGeom prst="rect">
            <a:avLst/>
          </a:prstGeom>
          <a:noFill/>
          <a:ln w="9525">
            <a:noFill/>
            <a:miter lim="800000"/>
            <a:headEnd/>
            <a:tailEnd/>
          </a:ln>
        </p:spPr>
      </p:pic>
      <p:sp>
        <p:nvSpPr>
          <p:cNvPr id="3" name="Espace réservé du contenu 2"/>
          <p:cNvSpPr>
            <a:spLocks noGrp="1"/>
          </p:cNvSpPr>
          <p:nvPr>
            <p:ph idx="1"/>
          </p:nvPr>
        </p:nvSpPr>
        <p:spPr>
          <a:xfrm>
            <a:off x="144016" y="1412777"/>
            <a:ext cx="8748464" cy="5445224"/>
          </a:xfrm>
        </p:spPr>
        <p:txBody>
          <a:bodyPr>
            <a:normAutofit/>
          </a:bodyPr>
          <a:lstStyle/>
          <a:p>
            <a:pPr algn="just"/>
            <a:r>
              <a:rPr lang="fr-FR" sz="1800" dirty="0"/>
              <a:t>Pour faciliter l’étude d’une population d’effectif important (animaux, plantes, malades, gènes, etc.), on les regroupe en plusieurs </a:t>
            </a:r>
            <a:r>
              <a:rPr lang="fr-FR" sz="1800" dirty="0">
                <a:solidFill>
                  <a:schemeClr val="accent1"/>
                </a:solidFill>
              </a:rPr>
              <a:t>classes</a:t>
            </a:r>
            <a:r>
              <a:rPr lang="fr-FR" sz="1800" dirty="0"/>
              <a:t> de telle sorte que :</a:t>
            </a:r>
          </a:p>
          <a:p>
            <a:pPr lvl="1" algn="just"/>
            <a:r>
              <a:rPr lang="fr-FR" sz="1600" dirty="0"/>
              <a:t>les individus d’une même classe soient le plus semblables possible et que </a:t>
            </a:r>
          </a:p>
          <a:p>
            <a:pPr lvl="1" algn="just"/>
            <a:r>
              <a:rPr lang="fr-FR" sz="1600" dirty="0"/>
              <a:t>les classes soient le plus distinctes possibles. </a:t>
            </a:r>
          </a:p>
          <a:p>
            <a:pPr algn="just"/>
            <a:endParaRPr lang="fr-FR" sz="1800" dirty="0"/>
          </a:p>
          <a:p>
            <a:pPr algn="just"/>
            <a:endParaRPr lang="fr-FR" sz="1800" dirty="0"/>
          </a:p>
          <a:p>
            <a:pPr algn="just"/>
            <a:endParaRPr lang="fr-FR" sz="1800" dirty="0"/>
          </a:p>
          <a:p>
            <a:pPr algn="just"/>
            <a:endParaRPr lang="fr-FR" sz="1800" dirty="0"/>
          </a:p>
          <a:p>
            <a:pPr algn="just"/>
            <a:endParaRPr lang="fr-FR" sz="1800" dirty="0"/>
          </a:p>
          <a:p>
            <a:pPr algn="just"/>
            <a:endParaRPr lang="fr-FR" sz="1800" dirty="0"/>
          </a:p>
          <a:p>
            <a:pPr algn="just"/>
            <a:endParaRPr lang="fr-FR" sz="1800" dirty="0"/>
          </a:p>
          <a:p>
            <a:pPr algn="just"/>
            <a:r>
              <a:rPr lang="fr-FR" sz="1800" dirty="0"/>
              <a:t>Pour cela il y a diverses façons de procéder qui peuvent conduire à des résultats différents.</a:t>
            </a:r>
          </a:p>
          <a:p>
            <a:pPr algn="just"/>
            <a:r>
              <a:rPr lang="fr-FR" sz="1800" dirty="0"/>
              <a:t> Les diverses techniques de classification visent toutes à répartir </a:t>
            </a:r>
            <a:r>
              <a:rPr lang="fr-FR" sz="1800" dirty="0">
                <a:solidFill>
                  <a:srgbClr val="C00000"/>
                </a:solidFill>
              </a:rPr>
              <a:t>n</a:t>
            </a:r>
            <a:r>
              <a:rPr lang="fr-FR" sz="1800" dirty="0"/>
              <a:t> individus (objets), caractérisés par </a:t>
            </a:r>
            <a:r>
              <a:rPr lang="fr-FR" sz="1800" dirty="0">
                <a:solidFill>
                  <a:srgbClr val="C00000"/>
                </a:solidFill>
              </a:rPr>
              <a:t>p</a:t>
            </a:r>
            <a:r>
              <a:rPr lang="fr-FR" sz="1800" dirty="0"/>
              <a:t> variables (attributs) </a:t>
            </a:r>
            <a:r>
              <a:rPr lang="fr-FR" sz="1800" dirty="0">
                <a:solidFill>
                  <a:srgbClr val="FF0000"/>
                </a:solidFill>
              </a:rPr>
              <a:t>X</a:t>
            </a:r>
            <a:r>
              <a:rPr lang="fr-FR" sz="1800" baseline="-25000" dirty="0">
                <a:solidFill>
                  <a:srgbClr val="FF0000"/>
                </a:solidFill>
              </a:rPr>
              <a:t>1</a:t>
            </a:r>
            <a:r>
              <a:rPr lang="fr-FR" sz="1800" dirty="0">
                <a:solidFill>
                  <a:srgbClr val="FF0000"/>
                </a:solidFill>
              </a:rPr>
              <a:t>, X</a:t>
            </a:r>
            <a:r>
              <a:rPr lang="fr-FR" sz="1800" baseline="-25000" dirty="0">
                <a:solidFill>
                  <a:srgbClr val="FF0000"/>
                </a:solidFill>
              </a:rPr>
              <a:t>2</a:t>
            </a:r>
            <a:r>
              <a:rPr lang="fr-FR" sz="1800" dirty="0">
                <a:solidFill>
                  <a:srgbClr val="FF0000"/>
                </a:solidFill>
              </a:rPr>
              <a:t>,..., X</a:t>
            </a:r>
            <a:r>
              <a:rPr lang="fr-FR" sz="1800" baseline="-25000" dirty="0">
                <a:solidFill>
                  <a:srgbClr val="FF0000"/>
                </a:solidFill>
              </a:rPr>
              <a:t>p</a:t>
            </a:r>
            <a:r>
              <a:rPr lang="fr-FR" sz="1800" dirty="0">
                <a:solidFill>
                  <a:srgbClr val="FF0000"/>
                </a:solidFill>
              </a:rPr>
              <a:t> </a:t>
            </a:r>
            <a:r>
              <a:rPr lang="fr-FR" sz="1800" dirty="0"/>
              <a:t>en un certain nombre </a:t>
            </a:r>
            <a:r>
              <a:rPr lang="fr-FR" sz="1800" dirty="0">
                <a:solidFill>
                  <a:srgbClr val="C00000"/>
                </a:solidFill>
              </a:rPr>
              <a:t>m</a:t>
            </a:r>
            <a:r>
              <a:rPr lang="fr-FR" sz="1800" dirty="0"/>
              <a:t> de groupes (classes) aussi homogènes (similaires)  que possible.</a:t>
            </a:r>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22</a:t>
            </a:fld>
            <a:endParaRPr lang="fr-FR"/>
          </a:p>
        </p:txBody>
      </p:sp>
      <p:sp>
        <p:nvSpPr>
          <p:cNvPr id="10" name="Titre 5"/>
          <p:cNvSpPr>
            <a:spLocks noGrp="1"/>
          </p:cNvSpPr>
          <p:nvPr>
            <p:ph type="title"/>
          </p:nvPr>
        </p:nvSpPr>
        <p:spPr/>
        <p:txBody>
          <a:bodyPr>
            <a:normAutofit/>
          </a:bodyPr>
          <a:lstStyle/>
          <a:p>
            <a:r>
              <a:rPr lang="fr-FR" dirty="0"/>
              <a:t>2.1. Objectif</a:t>
            </a:r>
          </a:p>
        </p:txBody>
      </p:sp>
    </p:spTree>
    <p:extLst>
      <p:ext uri="{BB962C8B-B14F-4D97-AF65-F5344CB8AC3E}">
        <p14:creationId xmlns:p14="http://schemas.microsoft.com/office/powerpoint/2010/main" val="3171951262"/>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p:nvPr/>
        </p:nvPicPr>
        <p:blipFill>
          <a:blip r:embed="rId2" cstate="print"/>
          <a:srcRect/>
          <a:stretch>
            <a:fillRect/>
          </a:stretch>
        </p:blipFill>
        <p:spPr bwMode="auto">
          <a:xfrm>
            <a:off x="4932040" y="3789040"/>
            <a:ext cx="4176464" cy="3068960"/>
          </a:xfrm>
          <a:prstGeom prst="rect">
            <a:avLst/>
          </a:prstGeom>
          <a:noFill/>
          <a:ln w="9525">
            <a:noFill/>
            <a:miter lim="800000"/>
            <a:headEnd/>
            <a:tailEnd/>
          </a:ln>
        </p:spPr>
      </p:pic>
      <p:sp>
        <p:nvSpPr>
          <p:cNvPr id="3" name="Espace réservé du contenu 2"/>
          <p:cNvSpPr>
            <a:spLocks noGrp="1"/>
          </p:cNvSpPr>
          <p:nvPr>
            <p:ph idx="1"/>
          </p:nvPr>
        </p:nvSpPr>
        <p:spPr>
          <a:xfrm>
            <a:off x="251521" y="1412776"/>
            <a:ext cx="8424936" cy="4525963"/>
          </a:xfrm>
        </p:spPr>
        <p:txBody>
          <a:bodyPr>
            <a:normAutofit/>
          </a:bodyPr>
          <a:lstStyle/>
          <a:p>
            <a:pPr algn="just"/>
            <a:r>
              <a:rPr lang="fr-FR" sz="2000" dirty="0"/>
              <a:t>Opérer des regroupements en classes (groupes, familles, segments ou clusters) homogènes d’un ensemble d’objets (individus) de sorte que :</a:t>
            </a:r>
          </a:p>
          <a:p>
            <a:pPr lvl="2" algn="just"/>
            <a:r>
              <a:rPr lang="fr-FR" sz="1800" dirty="0">
                <a:solidFill>
                  <a:schemeClr val="tx1"/>
                </a:solidFill>
              </a:rPr>
              <a:t>Deux  objets d’un même groupe se ressemblent le plus possible</a:t>
            </a:r>
          </a:p>
          <a:p>
            <a:pPr lvl="2" algn="just"/>
            <a:r>
              <a:rPr lang="fr-FR" sz="1800" dirty="0">
                <a:solidFill>
                  <a:schemeClr val="tx1"/>
                </a:solidFill>
              </a:rPr>
              <a:t>Deux objets de groupes distincts diffèrent le plus possible</a:t>
            </a:r>
          </a:p>
          <a:p>
            <a:pPr lvl="2" algn="just"/>
            <a:r>
              <a:rPr lang="fr-FR" sz="1800" dirty="0">
                <a:solidFill>
                  <a:schemeClr val="tx1"/>
                </a:solidFill>
              </a:rPr>
              <a:t>Le nombre de groupes est parfois fixé.</a:t>
            </a:r>
          </a:p>
          <a:p>
            <a:pPr algn="just"/>
            <a:r>
              <a:rPr lang="fr-FR" sz="2000" dirty="0"/>
              <a:t>Les données se présentent en général sous la forme d’un tableau </a:t>
            </a:r>
            <a:r>
              <a:rPr lang="fr-FR" sz="2000" dirty="0">
                <a:solidFill>
                  <a:srgbClr val="C00000"/>
                </a:solidFill>
              </a:rPr>
              <a:t>individus × variables.</a:t>
            </a:r>
          </a:p>
          <a:p>
            <a:pPr algn="just"/>
            <a:r>
              <a:rPr lang="fr-FR" sz="2000" dirty="0"/>
              <a:t>Exemple:</a:t>
            </a:r>
          </a:p>
          <a:p>
            <a:pPr lvl="1" algn="just"/>
            <a:r>
              <a:rPr lang="fr-FR" sz="1500" dirty="0"/>
              <a:t>M: moyenne des crédits sur le compte du client</a:t>
            </a:r>
          </a:p>
          <a:p>
            <a:pPr lvl="1" algn="just"/>
            <a:r>
              <a:rPr lang="fr-FR" sz="1500" dirty="0"/>
              <a:t>A: tranche d'âge</a:t>
            </a:r>
          </a:p>
          <a:p>
            <a:pPr lvl="1" algn="just"/>
            <a:r>
              <a:rPr lang="fr-FR" sz="1500" dirty="0"/>
              <a:t>R: localité du client</a:t>
            </a:r>
          </a:p>
          <a:p>
            <a:pPr lvl="1" algn="just"/>
            <a:r>
              <a:rPr lang="fr-FR" sz="1500" dirty="0"/>
              <a:t>E possède la valeur oui si le client possède un </a:t>
            </a:r>
          </a:p>
          <a:p>
            <a:pPr lvl="1" algn="just">
              <a:buNone/>
            </a:pPr>
            <a:r>
              <a:rPr lang="fr-FR" sz="1500" dirty="0"/>
              <a:t>niveau d'études supérieur au bac</a:t>
            </a: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23</a:t>
            </a:fld>
            <a:endParaRPr lang="fr-FR"/>
          </a:p>
        </p:txBody>
      </p:sp>
      <p:sp>
        <p:nvSpPr>
          <p:cNvPr id="8" name="Titre 7"/>
          <p:cNvSpPr>
            <a:spLocks noGrp="1"/>
          </p:cNvSpPr>
          <p:nvPr>
            <p:ph type="title"/>
          </p:nvPr>
        </p:nvSpPr>
        <p:spPr/>
        <p:txBody>
          <a:bodyPr/>
          <a:lstStyle/>
          <a:p>
            <a:r>
              <a:rPr lang="fr-FR" dirty="0"/>
              <a:t>2.1. Objectif</a:t>
            </a:r>
          </a:p>
        </p:txBody>
      </p:sp>
    </p:spTree>
    <p:extLst>
      <p:ext uri="{BB962C8B-B14F-4D97-AF65-F5344CB8AC3E}">
        <p14:creationId xmlns:p14="http://schemas.microsoft.com/office/powerpoint/2010/main" val="1938053540"/>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p:nvPr/>
        </p:nvPicPr>
        <p:blipFill>
          <a:blip r:embed="rId2" cstate="print"/>
          <a:srcRect/>
          <a:stretch>
            <a:fillRect/>
          </a:stretch>
        </p:blipFill>
        <p:spPr bwMode="auto">
          <a:xfrm>
            <a:off x="179512" y="2852936"/>
            <a:ext cx="2880320" cy="2304256"/>
          </a:xfrm>
          <a:prstGeom prst="rect">
            <a:avLst/>
          </a:prstGeom>
          <a:noFill/>
          <a:ln w="9525">
            <a:noFill/>
            <a:miter lim="800000"/>
            <a:headEnd/>
            <a:tailEnd/>
          </a:ln>
        </p:spPr>
      </p:pic>
      <p:sp>
        <p:nvSpPr>
          <p:cNvPr id="3" name="Espace réservé du contenu 2"/>
          <p:cNvSpPr>
            <a:spLocks noGrp="1"/>
          </p:cNvSpPr>
          <p:nvPr>
            <p:ph idx="1"/>
          </p:nvPr>
        </p:nvSpPr>
        <p:spPr>
          <a:xfrm>
            <a:off x="457200" y="1423318"/>
            <a:ext cx="6059016" cy="5174034"/>
          </a:xfrm>
        </p:spPr>
        <p:txBody>
          <a:bodyPr>
            <a:normAutofit/>
          </a:bodyPr>
          <a:lstStyle/>
          <a:p>
            <a:pPr marL="274320" lvl="1" algn="just">
              <a:lnSpc>
                <a:spcPct val="90000"/>
              </a:lnSpc>
              <a:buClr>
                <a:schemeClr val="accent1"/>
              </a:buClr>
              <a:buSzPct val="85000"/>
              <a:buFont typeface="Wingdings 2"/>
              <a:buChar char=""/>
            </a:pPr>
            <a:r>
              <a:rPr lang="fr-FR" sz="1800" dirty="0">
                <a:solidFill>
                  <a:schemeClr val="tx1"/>
                </a:solidFill>
              </a:rPr>
              <a:t>Découvrir les groupes (clusters) d'individus similaires</a:t>
            </a:r>
          </a:p>
          <a:p>
            <a:pPr marL="274320" lvl="1" algn="just">
              <a:lnSpc>
                <a:spcPct val="90000"/>
              </a:lnSpc>
              <a:buClr>
                <a:schemeClr val="accent1"/>
              </a:buClr>
              <a:buSzPct val="85000"/>
              <a:buFont typeface="Wingdings 2"/>
              <a:buChar char=""/>
            </a:pPr>
            <a:r>
              <a:rPr lang="fr-FR" sz="1800" dirty="0">
                <a:solidFill>
                  <a:schemeClr val="tx1"/>
                </a:solidFill>
              </a:rPr>
              <a:t>Maximiser la similarité </a:t>
            </a:r>
            <a:r>
              <a:rPr lang="fr-FR" sz="1800" dirty="0">
                <a:solidFill>
                  <a:srgbClr val="00B050"/>
                </a:solidFill>
              </a:rPr>
              <a:t>intra-classes</a:t>
            </a:r>
            <a:r>
              <a:rPr lang="fr-FR" sz="1800" dirty="0">
                <a:solidFill>
                  <a:schemeClr val="tx1"/>
                </a:solidFill>
              </a:rPr>
              <a:t> et minimiser la similarité </a:t>
            </a:r>
            <a:r>
              <a:rPr lang="fr-FR" sz="1800" dirty="0">
                <a:solidFill>
                  <a:srgbClr val="C00000"/>
                </a:solidFill>
              </a:rPr>
              <a:t>interclasses</a:t>
            </a:r>
            <a:r>
              <a:rPr lang="fr-FR" sz="1800" dirty="0">
                <a:solidFill>
                  <a:schemeClr val="tx1"/>
                </a:solidFill>
              </a:rPr>
              <a:t>. </a:t>
            </a:r>
          </a:p>
          <a:p>
            <a:pPr marL="274320" lvl="1" algn="just">
              <a:lnSpc>
                <a:spcPct val="90000"/>
              </a:lnSpc>
              <a:buClr>
                <a:schemeClr val="accent1"/>
              </a:buClr>
              <a:buSzPct val="85000"/>
              <a:buFont typeface="Wingdings 2"/>
              <a:buChar char=""/>
            </a:pPr>
            <a:r>
              <a:rPr lang="fr-FR" sz="1800" dirty="0">
                <a:solidFill>
                  <a:schemeClr val="tx1"/>
                </a:solidFill>
              </a:rPr>
              <a:t>Mesurer la distance en assimilant un </a:t>
            </a:r>
            <a:r>
              <a:rPr lang="fr-FR" sz="1800" dirty="0" err="1">
                <a:solidFill>
                  <a:schemeClr val="tx1"/>
                </a:solidFill>
              </a:rPr>
              <a:t>tuple</a:t>
            </a:r>
            <a:r>
              <a:rPr lang="fr-FR" sz="1800" dirty="0">
                <a:solidFill>
                  <a:schemeClr val="tx1"/>
                </a:solidFill>
              </a:rPr>
              <a:t> à un point dans un espace à </a:t>
            </a:r>
            <a:r>
              <a:rPr lang="fr-FR" sz="1800" dirty="0">
                <a:solidFill>
                  <a:srgbClr val="C00000"/>
                </a:solidFill>
              </a:rPr>
              <a:t>n</a:t>
            </a:r>
            <a:r>
              <a:rPr lang="fr-FR" sz="1800" dirty="0">
                <a:solidFill>
                  <a:schemeClr val="tx1"/>
                </a:solidFill>
              </a:rPr>
              <a:t> dimensions.</a:t>
            </a:r>
          </a:p>
          <a:p>
            <a:pPr algn="just"/>
            <a:endParaRPr lang="fr-FR" sz="28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24</a:t>
            </a:fld>
            <a:endParaRPr lang="fr-FR"/>
          </a:p>
        </p:txBody>
      </p:sp>
      <p:sp>
        <p:nvSpPr>
          <p:cNvPr id="12" name="Titre 11"/>
          <p:cNvSpPr>
            <a:spLocks noGrp="1"/>
          </p:cNvSpPr>
          <p:nvPr>
            <p:ph type="title"/>
          </p:nvPr>
        </p:nvSpPr>
        <p:spPr/>
        <p:txBody>
          <a:bodyPr/>
          <a:lstStyle/>
          <a:p>
            <a:r>
              <a:rPr lang="fr-FR" dirty="0"/>
              <a:t>2.1. Objectif</a:t>
            </a:r>
          </a:p>
        </p:txBody>
      </p:sp>
      <p:pic>
        <p:nvPicPr>
          <p:cNvPr id="70657" name="Picture 1"/>
          <p:cNvPicPr>
            <a:picLocks noChangeAspect="1" noChangeArrowheads="1"/>
          </p:cNvPicPr>
          <p:nvPr/>
        </p:nvPicPr>
        <p:blipFill>
          <a:blip r:embed="rId3" cstate="print"/>
          <a:srcRect/>
          <a:stretch>
            <a:fillRect/>
          </a:stretch>
        </p:blipFill>
        <p:spPr bwMode="auto">
          <a:xfrm>
            <a:off x="2339752" y="4621689"/>
            <a:ext cx="3586511" cy="2119679"/>
          </a:xfrm>
          <a:prstGeom prst="rect">
            <a:avLst/>
          </a:prstGeom>
          <a:noFill/>
          <a:ln w="9525">
            <a:noFill/>
            <a:miter lim="800000"/>
            <a:headEnd/>
            <a:tailEnd/>
          </a:ln>
        </p:spPr>
      </p:pic>
      <p:pic>
        <p:nvPicPr>
          <p:cNvPr id="9" name="Image 8"/>
          <p:cNvPicPr/>
          <p:nvPr/>
        </p:nvPicPr>
        <p:blipFill>
          <a:blip r:embed="rId4" cstate="print"/>
          <a:srcRect/>
          <a:stretch>
            <a:fillRect/>
          </a:stretch>
        </p:blipFill>
        <p:spPr bwMode="auto">
          <a:xfrm>
            <a:off x="5868144" y="3431257"/>
            <a:ext cx="2944942" cy="2229991"/>
          </a:xfrm>
          <a:prstGeom prst="rect">
            <a:avLst/>
          </a:prstGeom>
          <a:noFill/>
          <a:ln w="9525">
            <a:noFill/>
            <a:miter lim="800000"/>
            <a:headEnd/>
            <a:tailEnd/>
          </a:ln>
        </p:spPr>
      </p:pic>
      <p:pic>
        <p:nvPicPr>
          <p:cNvPr id="2" name="Picture 1"/>
          <p:cNvPicPr>
            <a:picLocks noChangeAspect="1" noChangeArrowheads="1"/>
          </p:cNvPicPr>
          <p:nvPr/>
        </p:nvPicPr>
        <p:blipFill>
          <a:blip r:embed="rId5" cstate="print"/>
          <a:srcRect/>
          <a:stretch>
            <a:fillRect/>
          </a:stretch>
        </p:blipFill>
        <p:spPr bwMode="auto">
          <a:xfrm>
            <a:off x="6476362" y="1340768"/>
            <a:ext cx="2488126" cy="1920801"/>
          </a:xfrm>
          <a:prstGeom prst="rect">
            <a:avLst/>
          </a:prstGeom>
          <a:noFill/>
          <a:ln w="9525">
            <a:noFill/>
            <a:miter lim="800000"/>
            <a:headEnd/>
            <a:tailEnd/>
          </a:ln>
        </p:spPr>
      </p:pic>
    </p:spTree>
    <p:extLst>
      <p:ext uri="{BB962C8B-B14F-4D97-AF65-F5344CB8AC3E}">
        <p14:creationId xmlns:p14="http://schemas.microsoft.com/office/powerpoint/2010/main" val="1198976944"/>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25</a:t>
            </a:fld>
            <a:endParaRPr lang="fr-FR"/>
          </a:p>
        </p:txBody>
      </p:sp>
      <p:sp>
        <p:nvSpPr>
          <p:cNvPr id="14" name="Espace réservé du contenu 2"/>
          <p:cNvSpPr>
            <a:spLocks noGrp="1"/>
          </p:cNvSpPr>
          <p:nvPr>
            <p:ph idx="1"/>
          </p:nvPr>
        </p:nvSpPr>
        <p:spPr>
          <a:xfrm>
            <a:off x="127746" y="1495326"/>
            <a:ext cx="8819880" cy="4525963"/>
          </a:xfrm>
        </p:spPr>
        <p:txBody>
          <a:bodyPr>
            <a:noAutofit/>
          </a:bodyPr>
          <a:lstStyle/>
          <a:p>
            <a:pPr algn="just"/>
            <a:r>
              <a:rPr lang="fr-FR" sz="2000" dirty="0"/>
              <a:t>La classification joue un rôle dans toutes les sciences et techniques qui font appel à la statistique multidimensionnelle.</a:t>
            </a:r>
          </a:p>
          <a:p>
            <a:pPr algn="just"/>
            <a:r>
              <a:rPr lang="fr-FR" sz="2000" dirty="0"/>
              <a:t>Analyse exploratoire de données (typologie) :</a:t>
            </a:r>
          </a:p>
          <a:p>
            <a:pPr lvl="1" algn="just"/>
            <a:r>
              <a:rPr lang="fr-FR" sz="2000" dirty="0">
                <a:solidFill>
                  <a:schemeClr val="tx1"/>
                </a:solidFill>
              </a:rPr>
              <a:t>Marketing : typologie des clients</a:t>
            </a:r>
          </a:p>
          <a:p>
            <a:pPr lvl="1" algn="just"/>
            <a:r>
              <a:rPr lang="fr-FR" sz="2000" dirty="0">
                <a:solidFill>
                  <a:schemeClr val="tx1"/>
                </a:solidFill>
              </a:rPr>
              <a:t>Bioinformatique : regroupement de gènes</a:t>
            </a:r>
          </a:p>
          <a:p>
            <a:pPr lvl="1" algn="just"/>
            <a:r>
              <a:rPr lang="fr-FR" sz="2000" dirty="0">
                <a:solidFill>
                  <a:schemeClr val="tx1"/>
                </a:solidFill>
              </a:rPr>
              <a:t>Image : segmentation  en zones homogènes</a:t>
            </a:r>
          </a:p>
          <a:p>
            <a:pPr algn="just"/>
            <a:r>
              <a:rPr lang="fr-FR" sz="2000" dirty="0"/>
              <a:t>Simplification de données :</a:t>
            </a:r>
          </a:p>
          <a:p>
            <a:pPr lvl="1" algn="just"/>
            <a:r>
              <a:rPr lang="fr-FR" sz="2000" dirty="0">
                <a:solidFill>
                  <a:schemeClr val="tx1"/>
                </a:solidFill>
              </a:rPr>
              <a:t>recherche d’information : regroupement de pages web</a:t>
            </a:r>
          </a:p>
          <a:p>
            <a:pPr lvl="1" algn="just"/>
            <a:r>
              <a:rPr lang="fr-FR" sz="2000" dirty="0">
                <a:solidFill>
                  <a:schemeClr val="tx1"/>
                </a:solidFill>
              </a:rPr>
              <a:t>données très volumineuses : chaque groupe est remplacé par un représentant.</a:t>
            </a:r>
          </a:p>
        </p:txBody>
      </p:sp>
      <p:sp>
        <p:nvSpPr>
          <p:cNvPr id="8" name="Titre 7"/>
          <p:cNvSpPr>
            <a:spLocks noGrp="1"/>
          </p:cNvSpPr>
          <p:nvPr>
            <p:ph type="title"/>
          </p:nvPr>
        </p:nvSpPr>
        <p:spPr/>
        <p:txBody>
          <a:bodyPr/>
          <a:lstStyle/>
          <a:p>
            <a:r>
              <a:rPr lang="fr-FR" dirty="0"/>
              <a:t>2.2. Domaines d’application</a:t>
            </a:r>
          </a:p>
        </p:txBody>
      </p:sp>
    </p:spTree>
    <p:extLst>
      <p:ext uri="{BB962C8B-B14F-4D97-AF65-F5344CB8AC3E}">
        <p14:creationId xmlns:p14="http://schemas.microsoft.com/office/powerpoint/2010/main" val="3948314086"/>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4" name="Picture 6" descr="Résultat de recherche d'images pour &quot;classification&quot;"/>
          <p:cNvPicPr>
            <a:picLocks noChangeAspect="1" noChangeArrowheads="1"/>
          </p:cNvPicPr>
          <p:nvPr/>
        </p:nvPicPr>
        <p:blipFill>
          <a:blip r:embed="rId2" cstate="print"/>
          <a:srcRect/>
          <a:stretch>
            <a:fillRect/>
          </a:stretch>
        </p:blipFill>
        <p:spPr bwMode="auto">
          <a:xfrm>
            <a:off x="6804248" y="4221088"/>
            <a:ext cx="2143125" cy="2143125"/>
          </a:xfrm>
          <a:prstGeom prst="rect">
            <a:avLst/>
          </a:prstGeom>
          <a:noFill/>
        </p:spPr>
      </p:pic>
      <p:pic>
        <p:nvPicPr>
          <p:cNvPr id="10" name="Image 9" descr="téléchargement.jpg"/>
          <p:cNvPicPr>
            <a:picLocks noChangeAspect="1"/>
          </p:cNvPicPr>
          <p:nvPr/>
        </p:nvPicPr>
        <p:blipFill>
          <a:blip r:embed="rId3" cstate="print"/>
          <a:stretch>
            <a:fillRect/>
          </a:stretch>
        </p:blipFill>
        <p:spPr>
          <a:xfrm>
            <a:off x="3203848" y="2276872"/>
            <a:ext cx="2505075" cy="1819275"/>
          </a:xfrm>
          <a:prstGeom prst="rect">
            <a:avLst/>
          </a:prstGeom>
        </p:spPr>
      </p:pic>
      <p:sp>
        <p:nvSpPr>
          <p:cNvPr id="3" name="Espace réservé du contenu 2"/>
          <p:cNvSpPr>
            <a:spLocks noGrp="1"/>
          </p:cNvSpPr>
          <p:nvPr>
            <p:ph idx="1"/>
          </p:nvPr>
        </p:nvSpPr>
        <p:spPr>
          <a:xfrm>
            <a:off x="179512" y="1556793"/>
            <a:ext cx="8712968" cy="4104455"/>
          </a:xfrm>
        </p:spPr>
        <p:txBody>
          <a:bodyPr>
            <a:normAutofit/>
          </a:bodyPr>
          <a:lstStyle/>
          <a:p>
            <a:pPr algn="just"/>
            <a:r>
              <a:rPr lang="fr-FR" sz="2400" dirty="0">
                <a:solidFill>
                  <a:srgbClr val="C00000"/>
                </a:solidFill>
              </a:rPr>
              <a:t>Classification automatique</a:t>
            </a:r>
            <a:r>
              <a:rPr lang="fr-FR" sz="2400" dirty="0"/>
              <a:t>: répartir des objets en des classes</a:t>
            </a:r>
          </a:p>
          <a:p>
            <a:pPr lvl="1" algn="just"/>
            <a:r>
              <a:rPr lang="fr-FR" sz="1900" dirty="0"/>
              <a:t>L’équivalent en Anglais de « </a:t>
            </a:r>
            <a:r>
              <a:rPr lang="fr-FR" sz="1900" dirty="0">
                <a:solidFill>
                  <a:srgbClr val="C00000"/>
                </a:solidFill>
              </a:rPr>
              <a:t>classification automatique</a:t>
            </a:r>
            <a:r>
              <a:rPr lang="fr-FR" sz="1900" dirty="0"/>
              <a:t>» est « </a:t>
            </a:r>
            <a:r>
              <a:rPr lang="fr-FR" sz="1900" dirty="0" err="1">
                <a:solidFill>
                  <a:srgbClr val="C00000"/>
                </a:solidFill>
              </a:rPr>
              <a:t>clustring</a:t>
            </a:r>
            <a:r>
              <a:rPr lang="fr-FR" sz="1900" dirty="0"/>
              <a:t> ».</a:t>
            </a:r>
          </a:p>
          <a:p>
            <a:pPr lvl="1" algn="just"/>
            <a:endParaRPr lang="fr-FR" sz="1900" dirty="0"/>
          </a:p>
          <a:p>
            <a:pPr lvl="1" algn="just"/>
            <a:endParaRPr lang="fr-FR" sz="1900" dirty="0"/>
          </a:p>
          <a:p>
            <a:pPr lvl="1" algn="just"/>
            <a:endParaRPr lang="fr-FR" sz="1900" dirty="0"/>
          </a:p>
          <a:p>
            <a:pPr lvl="1" algn="just"/>
            <a:endParaRPr lang="fr-FR" sz="1900" dirty="0"/>
          </a:p>
          <a:p>
            <a:pPr algn="just"/>
            <a:r>
              <a:rPr lang="fr-FR" sz="2400" dirty="0">
                <a:solidFill>
                  <a:srgbClr val="C00000"/>
                </a:solidFill>
              </a:rPr>
              <a:t>Classement</a:t>
            </a:r>
            <a:r>
              <a:rPr lang="fr-FR" sz="2400" dirty="0"/>
              <a:t>: À partir d’exemples d’objets répartis en classes, déterminer la classe adaptée pour un nouvel objet.</a:t>
            </a:r>
          </a:p>
          <a:p>
            <a:pPr lvl="1" algn="just"/>
            <a:r>
              <a:rPr lang="fr-FR" sz="1900" dirty="0"/>
              <a:t>Traduit en Anglais par « </a:t>
            </a:r>
            <a:r>
              <a:rPr lang="fr-FR" sz="1900" dirty="0">
                <a:solidFill>
                  <a:srgbClr val="C00000"/>
                </a:solidFill>
              </a:rPr>
              <a:t>classification</a:t>
            </a:r>
            <a:r>
              <a:rPr lang="fr-FR" sz="1900" dirty="0"/>
              <a:t> »</a:t>
            </a: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26</a:t>
            </a:fld>
            <a:endParaRPr lang="fr-FR"/>
          </a:p>
        </p:txBody>
      </p:sp>
      <p:sp>
        <p:nvSpPr>
          <p:cNvPr id="11" name="Titre 10"/>
          <p:cNvSpPr>
            <a:spLocks noGrp="1"/>
          </p:cNvSpPr>
          <p:nvPr>
            <p:ph type="title"/>
          </p:nvPr>
        </p:nvSpPr>
        <p:spPr/>
        <p:txBody>
          <a:bodyPr/>
          <a:lstStyle/>
          <a:p>
            <a:r>
              <a:rPr lang="fr-FR" dirty="0"/>
              <a:t>2.3. Terminologie</a:t>
            </a:r>
          </a:p>
        </p:txBody>
      </p:sp>
      <p:graphicFrame>
        <p:nvGraphicFramePr>
          <p:cNvPr id="7" name="Tableau 6"/>
          <p:cNvGraphicFramePr>
            <a:graphicFrameLocks noGrp="1"/>
          </p:cNvGraphicFramePr>
          <p:nvPr/>
        </p:nvGraphicFramePr>
        <p:xfrm>
          <a:off x="1475656" y="5124792"/>
          <a:ext cx="5112568" cy="1112520"/>
        </p:xfrm>
        <a:graphic>
          <a:graphicData uri="http://schemas.openxmlformats.org/drawingml/2006/table">
            <a:tbl>
              <a:tblPr firstRow="1" bandRow="1">
                <a:tableStyleId>{5C22544A-7EE6-4342-B048-85BDC9FD1C3A}</a:tableStyleId>
              </a:tblPr>
              <a:tblGrid>
                <a:gridCol w="3437761">
                  <a:extLst>
                    <a:ext uri="{9D8B030D-6E8A-4147-A177-3AD203B41FA5}">
                      <a16:colId xmlns:a16="http://schemas.microsoft.com/office/drawing/2014/main" val="20000"/>
                    </a:ext>
                  </a:extLst>
                </a:gridCol>
                <a:gridCol w="1674807">
                  <a:extLst>
                    <a:ext uri="{9D8B030D-6E8A-4147-A177-3AD203B41FA5}">
                      <a16:colId xmlns:a16="http://schemas.microsoft.com/office/drawing/2014/main" val="20001"/>
                    </a:ext>
                  </a:extLst>
                </a:gridCol>
              </a:tblGrid>
              <a:tr h="370840">
                <a:tc>
                  <a:txBody>
                    <a:bodyPr/>
                    <a:lstStyle/>
                    <a:p>
                      <a:r>
                        <a:rPr lang="fr-FR" dirty="0"/>
                        <a:t>Français</a:t>
                      </a:r>
                    </a:p>
                  </a:txBody>
                  <a:tcPr/>
                </a:tc>
                <a:tc>
                  <a:txBody>
                    <a:bodyPr/>
                    <a:lstStyle/>
                    <a:p>
                      <a:r>
                        <a:rPr lang="fr-FR" dirty="0"/>
                        <a:t>Anglais</a:t>
                      </a:r>
                    </a:p>
                  </a:txBody>
                  <a:tcPr/>
                </a:tc>
                <a:extLst>
                  <a:ext uri="{0D108BD9-81ED-4DB2-BD59-A6C34878D82A}">
                    <a16:rowId xmlns:a16="http://schemas.microsoft.com/office/drawing/2014/main" val="10000"/>
                  </a:ext>
                </a:extLst>
              </a:tr>
              <a:tr h="370840">
                <a:tc>
                  <a:txBody>
                    <a:bodyPr/>
                    <a:lstStyle/>
                    <a:p>
                      <a:r>
                        <a:rPr lang="fr-FR" dirty="0"/>
                        <a:t>Classification automatique</a:t>
                      </a:r>
                    </a:p>
                  </a:txBody>
                  <a:tcPr/>
                </a:tc>
                <a:tc>
                  <a:txBody>
                    <a:bodyPr/>
                    <a:lstStyle/>
                    <a:p>
                      <a:r>
                        <a:rPr lang="fr-FR" dirty="0" err="1"/>
                        <a:t>Clustring</a:t>
                      </a:r>
                      <a:endParaRPr lang="fr-FR" dirty="0"/>
                    </a:p>
                  </a:txBody>
                  <a:tcPr/>
                </a:tc>
                <a:extLst>
                  <a:ext uri="{0D108BD9-81ED-4DB2-BD59-A6C34878D82A}">
                    <a16:rowId xmlns:a16="http://schemas.microsoft.com/office/drawing/2014/main" val="10001"/>
                  </a:ext>
                </a:extLst>
              </a:tr>
              <a:tr h="370840">
                <a:tc>
                  <a:txBody>
                    <a:bodyPr/>
                    <a:lstStyle/>
                    <a:p>
                      <a:r>
                        <a:rPr lang="fr-FR" dirty="0"/>
                        <a:t>Classement</a:t>
                      </a:r>
                    </a:p>
                  </a:txBody>
                  <a:tcPr/>
                </a:tc>
                <a:tc>
                  <a:txBody>
                    <a:bodyPr/>
                    <a:lstStyle/>
                    <a:p>
                      <a:r>
                        <a:rPr lang="fr-FR" dirty="0"/>
                        <a:t>Classification</a:t>
                      </a:r>
                    </a:p>
                  </a:txBody>
                  <a:tcPr/>
                </a:tc>
                <a:extLst>
                  <a:ext uri="{0D108BD9-81ED-4DB2-BD59-A6C34878D82A}">
                    <a16:rowId xmlns:a16="http://schemas.microsoft.com/office/drawing/2014/main" val="10002"/>
                  </a:ext>
                </a:extLst>
              </a:tr>
            </a:tbl>
          </a:graphicData>
        </a:graphic>
      </p:graphicFrame>
      <p:sp>
        <p:nvSpPr>
          <p:cNvPr id="68610" name="AutoShape 2" descr="Résultat de recherche d'images pour &quot;classement&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68612" name="AutoShape 4" descr="Résultat de recherche d'images pour &quot;classement&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5423413"/>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7746" y="1600200"/>
            <a:ext cx="8873900" cy="4925144"/>
          </a:xfrm>
        </p:spPr>
        <p:txBody>
          <a:bodyPr>
            <a:noAutofit/>
          </a:bodyPr>
          <a:lstStyle/>
          <a:p>
            <a:pPr algn="just"/>
            <a:r>
              <a:rPr lang="fr-FR" sz="2800" dirty="0"/>
              <a:t>Classifier revient à choisir </a:t>
            </a:r>
          </a:p>
          <a:p>
            <a:pPr lvl="1" algn="just"/>
            <a:r>
              <a:rPr lang="fr-FR" sz="2400" dirty="0">
                <a:solidFill>
                  <a:schemeClr val="tx1"/>
                </a:solidFill>
              </a:rPr>
              <a:t>une mesure de la similarité/distance</a:t>
            </a:r>
          </a:p>
          <a:p>
            <a:pPr lvl="2"/>
            <a:r>
              <a:rPr lang="fr-FR" dirty="0"/>
              <a:t>comment comparer des objets ?</a:t>
            </a:r>
          </a:p>
          <a:p>
            <a:pPr lvl="1" algn="just"/>
            <a:r>
              <a:rPr lang="fr-FR" sz="2400" dirty="0">
                <a:solidFill>
                  <a:schemeClr val="tx1"/>
                </a:solidFill>
              </a:rPr>
              <a:t>un critère d'homogénéité, </a:t>
            </a:r>
          </a:p>
          <a:p>
            <a:pPr lvl="2" algn="just"/>
            <a:r>
              <a:rPr lang="fr-FR" dirty="0"/>
              <a:t>Une notion de classe: comment regrouper les objets ?</a:t>
            </a:r>
          </a:p>
          <a:p>
            <a:pPr lvl="1" algn="just"/>
            <a:r>
              <a:rPr lang="fr-FR" sz="2400" dirty="0">
                <a:solidFill>
                  <a:schemeClr val="tx1"/>
                </a:solidFill>
              </a:rPr>
              <a:t>une méthode de classification, et parfois</a:t>
            </a:r>
          </a:p>
          <a:p>
            <a:pPr lvl="2" algn="just"/>
            <a:r>
              <a:rPr lang="fr-FR" sz="1800" dirty="0"/>
              <a:t>Comment organiser les classes? </a:t>
            </a:r>
          </a:p>
          <a:p>
            <a:pPr lvl="1" algn="just"/>
            <a:r>
              <a:rPr lang="fr-FR" sz="2400" dirty="0">
                <a:solidFill>
                  <a:schemeClr val="tx1"/>
                </a:solidFill>
              </a:rPr>
              <a:t>un nombre de classes composant la partition.</a:t>
            </a:r>
          </a:p>
          <a:p>
            <a:pPr>
              <a:buNone/>
            </a:pPr>
            <a:endParaRPr lang="fr-FR" sz="2400" dirty="0"/>
          </a:p>
          <a:p>
            <a:endParaRPr lang="fr-FR" sz="28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27</a:t>
            </a:fld>
            <a:endParaRPr lang="fr-FR"/>
          </a:p>
        </p:txBody>
      </p:sp>
      <p:sp>
        <p:nvSpPr>
          <p:cNvPr id="8" name="Titre 7"/>
          <p:cNvSpPr>
            <a:spLocks noGrp="1"/>
          </p:cNvSpPr>
          <p:nvPr>
            <p:ph type="title"/>
          </p:nvPr>
        </p:nvSpPr>
        <p:spPr/>
        <p:txBody>
          <a:bodyPr/>
          <a:lstStyle/>
          <a:p>
            <a:r>
              <a:rPr lang="fr-FR" dirty="0"/>
              <a:t>2.4. Mise en œuvre</a:t>
            </a:r>
          </a:p>
        </p:txBody>
      </p:sp>
    </p:spTree>
    <p:extLst>
      <p:ext uri="{BB962C8B-B14F-4D97-AF65-F5344CB8AC3E}">
        <p14:creationId xmlns:p14="http://schemas.microsoft.com/office/powerpoint/2010/main" val="1412700628"/>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7158" y="1785926"/>
            <a:ext cx="8215338" cy="3989040"/>
          </a:xfrm>
        </p:spPr>
        <p:txBody>
          <a:bodyPr>
            <a:normAutofit/>
          </a:bodyPr>
          <a:lstStyle/>
          <a:p>
            <a:pPr lvl="1" algn="just">
              <a:buClr>
                <a:schemeClr val="accent1"/>
              </a:buClr>
              <a:buNone/>
            </a:pPr>
            <a:r>
              <a:rPr lang="fr-FR" sz="2000" dirty="0">
                <a:solidFill>
                  <a:schemeClr val="tx1"/>
                </a:solidFill>
              </a:rPr>
              <a:t>2.4.1. Données et leur représentation </a:t>
            </a:r>
          </a:p>
          <a:p>
            <a:pPr lvl="1" algn="just">
              <a:buClr>
                <a:schemeClr val="accent1"/>
              </a:buClr>
              <a:buNone/>
            </a:pPr>
            <a:r>
              <a:rPr lang="fr-FR" sz="2000" dirty="0">
                <a:solidFill>
                  <a:schemeClr val="tx1"/>
                </a:solidFill>
              </a:rPr>
              <a:t>2.4.2. Choix de la mesure de similarité ou distance entre individus : 	</a:t>
            </a:r>
            <a:r>
              <a:rPr lang="fr-FR" sz="2000" dirty="0">
                <a:solidFill>
                  <a:schemeClr val="accent1"/>
                </a:solidFill>
              </a:rPr>
              <a:t>critère de ressemblance</a:t>
            </a:r>
            <a:endParaRPr lang="fr-FR" sz="2000" dirty="0">
              <a:solidFill>
                <a:schemeClr val="tx1"/>
              </a:solidFill>
            </a:endParaRPr>
          </a:p>
          <a:p>
            <a:pPr lvl="1" algn="just">
              <a:buClr>
                <a:schemeClr val="accent1"/>
              </a:buClr>
              <a:buNone/>
            </a:pPr>
            <a:r>
              <a:rPr lang="fr-FR" sz="2000" dirty="0">
                <a:solidFill>
                  <a:schemeClr val="tx1"/>
                </a:solidFill>
              </a:rPr>
              <a:t>2.4.3. Choix du </a:t>
            </a:r>
            <a:r>
              <a:rPr lang="fr-FR" sz="2000" dirty="0">
                <a:solidFill>
                  <a:schemeClr val="accent1"/>
                </a:solidFill>
              </a:rPr>
              <a:t>critère d’homogénéité </a:t>
            </a:r>
            <a:r>
              <a:rPr lang="fr-FR" sz="2000" dirty="0">
                <a:solidFill>
                  <a:schemeClr val="tx1"/>
                </a:solidFill>
              </a:rPr>
              <a:t>des classes à optimiser</a:t>
            </a:r>
          </a:p>
          <a:p>
            <a:pPr lvl="1" algn="just">
              <a:buClr>
                <a:schemeClr val="accent1"/>
              </a:buClr>
              <a:buNone/>
            </a:pPr>
            <a:r>
              <a:rPr lang="fr-FR" sz="2000" dirty="0">
                <a:solidFill>
                  <a:schemeClr val="tx1"/>
                </a:solidFill>
              </a:rPr>
              <a:t>2.4.4. Choix de la méthode de classification.</a:t>
            </a:r>
          </a:p>
          <a:p>
            <a:pPr lvl="1" algn="just">
              <a:buClr>
                <a:schemeClr val="accent1"/>
              </a:buClr>
              <a:buNone/>
            </a:pPr>
            <a:r>
              <a:rPr lang="fr-FR" sz="2000" dirty="0">
                <a:solidFill>
                  <a:schemeClr val="tx1"/>
                </a:solidFill>
              </a:rPr>
              <a:t>2.4.5. Mesure de la qualité de la classification.</a:t>
            </a:r>
          </a:p>
          <a:p>
            <a:pPr lvl="1" algn="just">
              <a:buClr>
                <a:schemeClr val="accent1"/>
              </a:buClr>
              <a:buNone/>
            </a:pPr>
            <a:r>
              <a:rPr lang="fr-FR" sz="2000" dirty="0">
                <a:solidFill>
                  <a:schemeClr val="tx1"/>
                </a:solidFill>
              </a:rPr>
              <a:t>2.4.6. Choix du nombre de classes et leur interprétation.</a:t>
            </a:r>
          </a:p>
          <a:p>
            <a:pPr algn="just"/>
            <a:endParaRPr lang="fr-FR" sz="24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28</a:t>
            </a:fld>
            <a:endParaRPr lang="fr-FR"/>
          </a:p>
        </p:txBody>
      </p:sp>
      <p:sp>
        <p:nvSpPr>
          <p:cNvPr id="8" name="Titre 7"/>
          <p:cNvSpPr>
            <a:spLocks noGrp="1"/>
          </p:cNvSpPr>
          <p:nvPr>
            <p:ph type="title"/>
          </p:nvPr>
        </p:nvSpPr>
        <p:spPr/>
        <p:txBody>
          <a:bodyPr/>
          <a:lstStyle/>
          <a:p>
            <a:r>
              <a:rPr lang="fr-FR" dirty="0"/>
              <a:t>2.4. Mise en œuvre</a:t>
            </a:r>
          </a:p>
        </p:txBody>
      </p:sp>
    </p:spTree>
    <p:extLst>
      <p:ext uri="{BB962C8B-B14F-4D97-AF65-F5344CB8AC3E}">
        <p14:creationId xmlns:p14="http://schemas.microsoft.com/office/powerpoint/2010/main" val="1486403631"/>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lgn="just">
              <a:buNone/>
            </a:pPr>
            <a:r>
              <a:rPr lang="fr-FR" sz="2400" dirty="0">
                <a:solidFill>
                  <a:schemeClr val="accent4">
                    <a:lumMod val="75000"/>
                  </a:schemeClr>
                </a:solidFill>
              </a:rPr>
              <a:t>2.4.1. Données et leur représentation</a:t>
            </a:r>
          </a:p>
          <a:p>
            <a:pPr algn="just"/>
            <a:r>
              <a:rPr lang="fr-FR" sz="2200" dirty="0"/>
              <a:t>Préparation des données </a:t>
            </a:r>
          </a:p>
          <a:p>
            <a:pPr lvl="1" algn="just"/>
            <a:r>
              <a:rPr lang="fr-FR" sz="2000" dirty="0">
                <a:solidFill>
                  <a:schemeClr val="tx1"/>
                </a:solidFill>
              </a:rPr>
              <a:t>Données existantes ou à constituer,</a:t>
            </a:r>
          </a:p>
          <a:p>
            <a:pPr lvl="1" algn="just"/>
            <a:r>
              <a:rPr lang="fr-FR" sz="2000" dirty="0">
                <a:solidFill>
                  <a:schemeClr val="tx1"/>
                </a:solidFill>
              </a:rPr>
              <a:t>Fichiers : information contenue dans un ou plusieurs fichiers indépendants.</a:t>
            </a:r>
          </a:p>
          <a:p>
            <a:pPr lvl="1" algn="just"/>
            <a:r>
              <a:rPr lang="fr-FR" sz="2000" dirty="0">
                <a:solidFill>
                  <a:schemeClr val="tx1"/>
                </a:solidFill>
              </a:rPr>
              <a:t>BD relationnelles : information contenue dans plusieurs fichiers unis par une clé commune.</a:t>
            </a:r>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29</a:t>
            </a:fld>
            <a:endParaRPr lang="fr-FR"/>
          </a:p>
        </p:txBody>
      </p:sp>
      <p:sp>
        <p:nvSpPr>
          <p:cNvPr id="7" name="Titre 7"/>
          <p:cNvSpPr txBox="1">
            <a:spLocks/>
          </p:cNvSpPr>
          <p:nvPr/>
        </p:nvSpPr>
        <p:spPr>
          <a:xfrm>
            <a:off x="301752" y="228600"/>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2.4.Mise en œuvre</a:t>
            </a:r>
          </a:p>
        </p:txBody>
      </p:sp>
      <p:sp>
        <p:nvSpPr>
          <p:cNvPr id="5" name="Espace réservé du pied de page 4"/>
          <p:cNvSpPr>
            <a:spLocks noGrp="1"/>
          </p:cNvSpPr>
          <p:nvPr>
            <p:ph type="ftr" sz="quarter" idx="11"/>
          </p:nvPr>
        </p:nvSpPr>
        <p:spPr/>
        <p:txBody>
          <a:bodyPr/>
          <a:lstStyle/>
          <a:p>
            <a:r>
              <a:rPr lang="fr-FR"/>
              <a:t>Dr. H.Chikh Zaouali</a:t>
            </a:r>
          </a:p>
        </p:txBody>
      </p:sp>
    </p:spTree>
    <p:extLst>
      <p:ext uri="{BB962C8B-B14F-4D97-AF65-F5344CB8AC3E}">
        <p14:creationId xmlns:p14="http://schemas.microsoft.com/office/powerpoint/2010/main" val="3141389954"/>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363272" cy="4525963"/>
          </a:xfrm>
        </p:spPr>
        <p:txBody>
          <a:bodyPr>
            <a:normAutofit/>
          </a:bodyPr>
          <a:lstStyle/>
          <a:p>
            <a:pPr algn="just">
              <a:buNone/>
            </a:pPr>
            <a:r>
              <a:rPr lang="fr-FR" sz="2600" dirty="0">
                <a:solidFill>
                  <a:schemeClr val="accent4">
                    <a:lumMod val="75000"/>
                  </a:schemeClr>
                </a:solidFill>
              </a:rPr>
              <a:t>2.4.1. Données et leur représentation</a:t>
            </a:r>
          </a:p>
          <a:p>
            <a:pPr algn="just"/>
            <a:r>
              <a:rPr lang="fr-FR" sz="2400" dirty="0"/>
              <a:t>Représentation des données :</a:t>
            </a:r>
          </a:p>
          <a:p>
            <a:pPr algn="just">
              <a:buNone/>
            </a:pPr>
            <a:r>
              <a:rPr lang="fr-FR" sz="2000" dirty="0"/>
              <a:t>	Une donnée est :</a:t>
            </a:r>
          </a:p>
          <a:p>
            <a:pPr lvl="2" algn="just"/>
            <a:r>
              <a:rPr lang="fr-FR" sz="1800" dirty="0"/>
              <a:t>un </a:t>
            </a:r>
            <a:r>
              <a:rPr lang="fr-FR" sz="1800" dirty="0">
                <a:solidFill>
                  <a:srgbClr val="0070C0"/>
                </a:solidFill>
              </a:rPr>
              <a:t>enregistrement</a:t>
            </a:r>
            <a:r>
              <a:rPr lang="fr-FR" sz="1800" dirty="0"/>
              <a:t> ou </a:t>
            </a:r>
            <a:r>
              <a:rPr lang="fr-FR" sz="1800" dirty="0">
                <a:solidFill>
                  <a:srgbClr val="0070C0"/>
                </a:solidFill>
              </a:rPr>
              <a:t>description</a:t>
            </a:r>
            <a:r>
              <a:rPr lang="fr-FR" sz="1800" dirty="0"/>
              <a:t> ou </a:t>
            </a:r>
            <a:r>
              <a:rPr lang="fr-FR" sz="1800" dirty="0">
                <a:solidFill>
                  <a:srgbClr val="0070C0"/>
                </a:solidFill>
              </a:rPr>
              <a:t>tuple</a:t>
            </a:r>
            <a:r>
              <a:rPr lang="fr-FR" sz="1800" dirty="0"/>
              <a:t> (terminologie bases de données, </a:t>
            </a:r>
          </a:p>
          <a:p>
            <a:pPr lvl="2" algn="just"/>
            <a:r>
              <a:rPr lang="fr-FR" sz="1800" dirty="0"/>
              <a:t>un  </a:t>
            </a:r>
            <a:r>
              <a:rPr lang="fr-FR" sz="1800" dirty="0">
                <a:solidFill>
                  <a:srgbClr val="0070C0"/>
                </a:solidFill>
              </a:rPr>
              <a:t>individu</a:t>
            </a:r>
            <a:r>
              <a:rPr lang="fr-FR" sz="1800" dirty="0"/>
              <a:t>  (terminologie issue des statistiques),</a:t>
            </a:r>
          </a:p>
          <a:p>
            <a:pPr lvl="2" algn="just"/>
            <a:r>
              <a:rPr lang="fr-FR" sz="1800" dirty="0"/>
              <a:t>une </a:t>
            </a:r>
            <a:r>
              <a:rPr lang="fr-FR" sz="1800" dirty="0">
                <a:solidFill>
                  <a:srgbClr val="0070C0"/>
                </a:solidFill>
              </a:rPr>
              <a:t>instance</a:t>
            </a:r>
            <a:r>
              <a:rPr lang="fr-FR" sz="1800" dirty="0"/>
              <a:t> (terminologie orientée objet en informatique) ,</a:t>
            </a:r>
          </a:p>
          <a:p>
            <a:pPr lvl="2" algn="just"/>
            <a:r>
              <a:rPr lang="fr-FR" sz="1800" dirty="0"/>
              <a:t>un </a:t>
            </a:r>
            <a:r>
              <a:rPr lang="fr-FR" sz="1800" dirty="0">
                <a:solidFill>
                  <a:srgbClr val="0070C0"/>
                </a:solidFill>
              </a:rPr>
              <a:t>point</a:t>
            </a:r>
            <a:r>
              <a:rPr lang="fr-FR" sz="1800" dirty="0"/>
              <a:t> dans un espace euclidien, </a:t>
            </a:r>
          </a:p>
          <a:p>
            <a:pPr lvl="2" algn="just"/>
            <a:r>
              <a:rPr lang="fr-FR" sz="1800" dirty="0"/>
              <a:t>un </a:t>
            </a:r>
            <a:r>
              <a:rPr lang="fr-FR" sz="1800" dirty="0">
                <a:solidFill>
                  <a:srgbClr val="0070C0"/>
                </a:solidFill>
              </a:rPr>
              <a:t>vecteur</a:t>
            </a:r>
            <a:r>
              <a:rPr lang="fr-FR" sz="1800" dirty="0"/>
              <a:t> dans un espace vectoriel. </a:t>
            </a:r>
          </a:p>
          <a:p>
            <a:pPr marL="358775" lvl="2" indent="0" algn="just">
              <a:buClr>
                <a:schemeClr val="accent1"/>
              </a:buClr>
              <a:buSzPct val="85000"/>
              <a:buNone/>
              <a:tabLst>
                <a:tab pos="358775" algn="l"/>
                <a:tab pos="447675" algn="l"/>
              </a:tabLst>
            </a:pPr>
            <a:r>
              <a:rPr lang="fr-FR" sz="1800" dirty="0">
                <a:solidFill>
                  <a:schemeClr val="tx1"/>
                </a:solidFill>
              </a:rPr>
              <a:t>Une donnée est caractérisée par un ensemble de </a:t>
            </a:r>
            <a:r>
              <a:rPr lang="fr-FR" sz="1800" dirty="0">
                <a:solidFill>
                  <a:srgbClr val="C00000"/>
                </a:solidFill>
              </a:rPr>
              <a:t>champs</a:t>
            </a:r>
            <a:r>
              <a:rPr lang="fr-FR" sz="1800" dirty="0">
                <a:solidFill>
                  <a:schemeClr val="tx1"/>
                </a:solidFill>
              </a:rPr>
              <a:t>, de  </a:t>
            </a:r>
            <a:r>
              <a:rPr lang="fr-FR" sz="1800" dirty="0">
                <a:solidFill>
                  <a:srgbClr val="C00000"/>
                </a:solidFill>
              </a:rPr>
              <a:t>variables</a:t>
            </a:r>
            <a:r>
              <a:rPr lang="fr-FR" sz="1800" dirty="0">
                <a:solidFill>
                  <a:schemeClr val="tx1"/>
                </a:solidFill>
              </a:rPr>
              <a:t>, de </a:t>
            </a:r>
            <a:r>
              <a:rPr lang="fr-FR" sz="1800" dirty="0">
                <a:solidFill>
                  <a:srgbClr val="C00000"/>
                </a:solidFill>
              </a:rPr>
              <a:t>mesures</a:t>
            </a:r>
            <a:r>
              <a:rPr lang="fr-FR" sz="1800" dirty="0">
                <a:solidFill>
                  <a:schemeClr val="tx1"/>
                </a:solidFill>
              </a:rPr>
              <a:t> ou encore </a:t>
            </a:r>
            <a:r>
              <a:rPr lang="fr-FR" sz="1800" dirty="0">
                <a:solidFill>
                  <a:srgbClr val="C00000"/>
                </a:solidFill>
              </a:rPr>
              <a:t>d’attributs</a:t>
            </a:r>
            <a:r>
              <a:rPr lang="fr-FR" sz="1800" dirty="0">
                <a:solidFill>
                  <a:schemeClr val="tx1"/>
                </a:solidFill>
              </a:rPr>
              <a:t>.</a:t>
            </a:r>
          </a:p>
          <a:p>
            <a:pPr lvl="1" algn="just"/>
            <a:endParaRPr lang="fr-FR" dirty="0"/>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30</a:t>
            </a:fld>
            <a:endParaRPr lang="fr-FR"/>
          </a:p>
        </p:txBody>
      </p:sp>
      <p:sp>
        <p:nvSpPr>
          <p:cNvPr id="7" name="Titre 6"/>
          <p:cNvSpPr>
            <a:spLocks noGrp="1"/>
          </p:cNvSpPr>
          <p:nvPr>
            <p:ph type="title"/>
          </p:nvPr>
        </p:nvSpPr>
        <p:spPr/>
        <p:txBody>
          <a:bodyPr/>
          <a:lstStyle/>
          <a:p>
            <a:pPr lvl="0">
              <a:defRPr/>
            </a:pPr>
            <a:r>
              <a:rPr lang="fr-FR" dirty="0"/>
              <a:t>2.4.Mise en œuvre</a:t>
            </a:r>
          </a:p>
        </p:txBody>
      </p:sp>
      <p:sp>
        <p:nvSpPr>
          <p:cNvPr id="8"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extLst>
      <p:ext uri="{BB962C8B-B14F-4D97-AF65-F5344CB8AC3E}">
        <p14:creationId xmlns:p14="http://schemas.microsoft.com/office/powerpoint/2010/main" val="969590940"/>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6024" y="1639341"/>
            <a:ext cx="8460432" cy="4525963"/>
          </a:xfrm>
        </p:spPr>
        <p:txBody>
          <a:bodyPr>
            <a:noAutofit/>
          </a:bodyPr>
          <a:lstStyle/>
          <a:p>
            <a:pPr algn="just">
              <a:buNone/>
            </a:pPr>
            <a:r>
              <a:rPr lang="fr-FR" sz="2600" dirty="0">
                <a:solidFill>
                  <a:schemeClr val="accent4">
                    <a:lumMod val="75000"/>
                  </a:schemeClr>
                </a:solidFill>
              </a:rPr>
              <a:t>2.4.1. Données et leur représentation</a:t>
            </a:r>
          </a:p>
          <a:p>
            <a:pPr algn="just"/>
            <a:r>
              <a:rPr lang="fr-FR" sz="2400" dirty="0"/>
              <a:t>Types d’attributs :</a:t>
            </a:r>
          </a:p>
          <a:p>
            <a:pPr marL="548640" lvl="2" algn="just">
              <a:buClr>
                <a:schemeClr val="accent1"/>
              </a:buClr>
              <a:buSzPct val="85000"/>
              <a:buFont typeface="Wingdings 2"/>
              <a:buChar char=""/>
            </a:pPr>
            <a:r>
              <a:rPr lang="fr-FR" sz="2200" dirty="0">
                <a:solidFill>
                  <a:schemeClr val="tx1"/>
                </a:solidFill>
              </a:rPr>
              <a:t>Données </a:t>
            </a:r>
            <a:r>
              <a:rPr lang="fr-FR" sz="2200" dirty="0">
                <a:solidFill>
                  <a:srgbClr val="C00000"/>
                </a:solidFill>
              </a:rPr>
              <a:t>discrètes </a:t>
            </a:r>
            <a:r>
              <a:rPr lang="fr-FR" sz="2200" dirty="0">
                <a:solidFill>
                  <a:schemeClr val="tx1"/>
                </a:solidFill>
              </a:rPr>
              <a:t>:</a:t>
            </a:r>
          </a:p>
          <a:p>
            <a:pPr lvl="3" algn="just">
              <a:buFont typeface="Courier New" pitchFamily="49" charset="0"/>
              <a:buChar char="o"/>
            </a:pPr>
            <a:r>
              <a:rPr lang="fr-FR" dirty="0">
                <a:solidFill>
                  <a:srgbClr val="00B050"/>
                </a:solidFill>
              </a:rPr>
              <a:t>binaires</a:t>
            </a:r>
            <a:r>
              <a:rPr lang="fr-FR" dirty="0"/>
              <a:t> ou </a:t>
            </a:r>
            <a:r>
              <a:rPr lang="fr-FR" dirty="0">
                <a:solidFill>
                  <a:srgbClr val="00B050"/>
                </a:solidFill>
              </a:rPr>
              <a:t>logiques</a:t>
            </a:r>
            <a:r>
              <a:rPr lang="fr-FR" dirty="0"/>
              <a:t> : 0 ou 1 ; oui ou non ; vrai ou faux (être bon client ou non, ...)</a:t>
            </a:r>
          </a:p>
          <a:p>
            <a:pPr lvl="3" algn="just">
              <a:buFont typeface="Courier New" pitchFamily="49" charset="0"/>
              <a:buChar char="o"/>
            </a:pPr>
            <a:r>
              <a:rPr lang="fr-FR" dirty="0">
                <a:solidFill>
                  <a:srgbClr val="00B050"/>
                </a:solidFill>
              </a:rPr>
              <a:t>énumératives</a:t>
            </a:r>
            <a:r>
              <a:rPr lang="fr-FR" dirty="0"/>
              <a:t> :  pour lesquelles il n'existe pas d'ordre défini a priori (la couleur: rouge, vert, bleu, ...)</a:t>
            </a:r>
          </a:p>
          <a:p>
            <a:pPr lvl="3" algn="just">
              <a:buFont typeface="Courier New" pitchFamily="49" charset="0"/>
              <a:buChar char="o"/>
            </a:pPr>
            <a:r>
              <a:rPr lang="fr-FR" dirty="0">
                <a:solidFill>
                  <a:srgbClr val="00B050"/>
                </a:solidFill>
              </a:rPr>
              <a:t>énumératives</a:t>
            </a:r>
            <a:r>
              <a:rPr lang="fr-FR" dirty="0"/>
              <a:t> </a:t>
            </a:r>
            <a:r>
              <a:rPr lang="fr-FR" dirty="0">
                <a:solidFill>
                  <a:srgbClr val="00B050"/>
                </a:solidFill>
              </a:rPr>
              <a:t>ordonnées</a:t>
            </a:r>
            <a:r>
              <a:rPr lang="fr-FR" dirty="0"/>
              <a:t> : les réponses à une enquête d'opinion (1: très satisfait, 2 : satisfait, ...)</a:t>
            </a:r>
          </a:p>
          <a:p>
            <a:pPr marL="548640" lvl="2" algn="just">
              <a:buClr>
                <a:schemeClr val="accent1"/>
              </a:buClr>
              <a:buSzPct val="85000"/>
              <a:buFont typeface="Wingdings 2"/>
              <a:buChar char=""/>
            </a:pPr>
            <a:r>
              <a:rPr lang="fr-FR" sz="2200" dirty="0">
                <a:solidFill>
                  <a:schemeClr val="tx1"/>
                </a:solidFill>
              </a:rPr>
              <a:t>Les données </a:t>
            </a:r>
            <a:r>
              <a:rPr lang="fr-FR" sz="2200" dirty="0">
                <a:solidFill>
                  <a:srgbClr val="C00000"/>
                </a:solidFill>
              </a:rPr>
              <a:t>continues</a:t>
            </a:r>
            <a:r>
              <a:rPr lang="fr-FR" sz="2200" dirty="0">
                <a:solidFill>
                  <a:schemeClr val="tx1"/>
                </a:solidFill>
              </a:rPr>
              <a:t> : </a:t>
            </a:r>
          </a:p>
          <a:p>
            <a:pPr lvl="3" algn="just">
              <a:buFont typeface="Courier New" pitchFamily="49" charset="0"/>
              <a:buChar char="o"/>
            </a:pPr>
            <a:r>
              <a:rPr lang="fr-FR" dirty="0">
                <a:solidFill>
                  <a:srgbClr val="00B050"/>
                </a:solidFill>
              </a:rPr>
              <a:t>entières</a:t>
            </a:r>
            <a:r>
              <a:rPr lang="fr-FR" dirty="0"/>
              <a:t> ou </a:t>
            </a:r>
            <a:r>
              <a:rPr lang="fr-FR" dirty="0">
                <a:solidFill>
                  <a:srgbClr val="00B050"/>
                </a:solidFill>
              </a:rPr>
              <a:t>réelles</a:t>
            </a:r>
            <a:r>
              <a:rPr lang="fr-FR" dirty="0"/>
              <a:t> (l'âge, le revenu moyen, …)</a:t>
            </a:r>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31</a:t>
            </a:fld>
            <a:endParaRPr lang="fr-FR"/>
          </a:p>
        </p:txBody>
      </p:sp>
      <p:sp>
        <p:nvSpPr>
          <p:cNvPr id="6" name="Titre 5"/>
          <p:cNvSpPr>
            <a:spLocks noGrp="1"/>
          </p:cNvSpPr>
          <p:nvPr>
            <p:ph type="title"/>
          </p:nvPr>
        </p:nvSpPr>
        <p:spPr/>
        <p:txBody>
          <a:bodyPr/>
          <a:lstStyle/>
          <a:p>
            <a:pPr lvl="0">
              <a:defRPr/>
            </a:pPr>
            <a:r>
              <a:rPr lang="fr-FR" dirty="0"/>
              <a:t>2.4.Mise en œuvre</a:t>
            </a:r>
          </a:p>
        </p:txBody>
      </p:sp>
      <p:sp>
        <p:nvSpPr>
          <p:cNvPr id="7" name="Espace réservé du pied de page 6"/>
          <p:cNvSpPr>
            <a:spLocks noGrp="1"/>
          </p:cNvSpPr>
          <p:nvPr>
            <p:ph type="ftr" sz="quarter" idx="11"/>
          </p:nvPr>
        </p:nvSpPr>
        <p:spPr>
          <a:xfrm>
            <a:off x="304800" y="6410848"/>
            <a:ext cx="3581400" cy="365760"/>
          </a:xfrm>
        </p:spPr>
        <p:txBody>
          <a:bodyPr/>
          <a:lstStyle/>
          <a:p>
            <a:r>
              <a:rPr lang="fr-FR"/>
              <a:t>Dr. H.Chikh Zaouali</a:t>
            </a:r>
            <a:endParaRPr lang="fr-FR" dirty="0"/>
          </a:p>
        </p:txBody>
      </p:sp>
    </p:spTree>
    <p:extLst>
      <p:ext uri="{BB962C8B-B14F-4D97-AF65-F5344CB8AC3E}">
        <p14:creationId xmlns:p14="http://schemas.microsoft.com/office/powerpoint/2010/main" val="3955445861"/>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484784"/>
            <a:ext cx="8229600" cy="4968552"/>
          </a:xfrm>
        </p:spPr>
        <p:txBody>
          <a:bodyPr>
            <a:noAutofit/>
          </a:bodyPr>
          <a:lstStyle/>
          <a:p>
            <a:pPr algn="just">
              <a:buNone/>
            </a:pPr>
            <a:r>
              <a:rPr lang="fr-FR" sz="2400" dirty="0">
                <a:solidFill>
                  <a:schemeClr val="accent4">
                    <a:lumMod val="75000"/>
                  </a:schemeClr>
                </a:solidFill>
              </a:rPr>
              <a:t>2.4.1. Données et leur représentation</a:t>
            </a:r>
          </a:p>
          <a:p>
            <a:pPr algn="just"/>
            <a:r>
              <a:rPr lang="fr-FR" sz="2000" dirty="0"/>
              <a:t>Types d’attributs :</a:t>
            </a:r>
          </a:p>
          <a:p>
            <a:pPr lvl="1" algn="just"/>
            <a:r>
              <a:rPr lang="fr-FR" sz="1900" dirty="0"/>
              <a:t>Un attribut peut être </a:t>
            </a:r>
            <a:r>
              <a:rPr lang="fr-FR" sz="1900" dirty="0">
                <a:solidFill>
                  <a:srgbClr val="C00000"/>
                </a:solidFill>
              </a:rPr>
              <a:t>qualitatif</a:t>
            </a:r>
            <a:r>
              <a:rPr lang="fr-FR" sz="1900" dirty="0"/>
              <a:t> ou </a:t>
            </a:r>
            <a:r>
              <a:rPr lang="fr-FR" sz="1900" dirty="0">
                <a:solidFill>
                  <a:srgbClr val="C00000"/>
                </a:solidFill>
              </a:rPr>
              <a:t>quantitatif</a:t>
            </a:r>
            <a:r>
              <a:rPr lang="fr-FR" sz="1900" dirty="0"/>
              <a:t> en fonction de l’ensemble des valeurs qu’il peut prendre. </a:t>
            </a:r>
          </a:p>
          <a:p>
            <a:pPr lvl="2" algn="just"/>
            <a:r>
              <a:rPr lang="fr-FR" sz="1700" dirty="0">
                <a:solidFill>
                  <a:srgbClr val="C00000"/>
                </a:solidFill>
              </a:rPr>
              <a:t>qualitatif</a:t>
            </a:r>
            <a:r>
              <a:rPr lang="fr-FR" sz="1700" dirty="0"/>
              <a:t> si on ne peut pas en faire une moyenne ; sa valeur est d’un type défini en extension (une couleur, une marque de voiture, ...). </a:t>
            </a:r>
          </a:p>
          <a:p>
            <a:pPr lvl="2" algn="just"/>
            <a:r>
              <a:rPr lang="fr-FR" sz="1700" dirty="0">
                <a:solidFill>
                  <a:srgbClr val="C00000"/>
                </a:solidFill>
              </a:rPr>
              <a:t>quantitatif</a:t>
            </a:r>
            <a:r>
              <a:rPr lang="fr-FR" sz="1700" dirty="0"/>
              <a:t> : un entier, un réel, ... Il peut représenter un salaire, une surface, un nombre d’habitants, ... </a:t>
            </a:r>
          </a:p>
          <a:p>
            <a:pPr lvl="1" algn="just"/>
            <a:r>
              <a:rPr lang="fr-FR" sz="1900" dirty="0"/>
              <a:t>On peut appliquer les opérateurs arithmétiques habituels sur les attributs quantitatifs, ce qui n’est pas le cas des attributs qualitatifs.</a:t>
            </a:r>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32</a:t>
            </a:fld>
            <a:endParaRPr lang="fr-FR"/>
          </a:p>
        </p:txBody>
      </p:sp>
      <p:sp>
        <p:nvSpPr>
          <p:cNvPr id="8" name="Titre 7"/>
          <p:cNvSpPr>
            <a:spLocks noGrp="1"/>
          </p:cNvSpPr>
          <p:nvPr>
            <p:ph type="title"/>
          </p:nvPr>
        </p:nvSpPr>
        <p:spPr>
          <a:xfrm>
            <a:off x="301752" y="228600"/>
            <a:ext cx="8534400" cy="758952"/>
          </a:xfrm>
        </p:spPr>
        <p:txBody>
          <a:bodyPr/>
          <a:lstStyle/>
          <a:p>
            <a:pPr lvl="0">
              <a:defRPr/>
            </a:pPr>
            <a:r>
              <a:rPr lang="fr-FR" dirty="0"/>
              <a:t>2.4.Mise en œuvre</a:t>
            </a:r>
          </a:p>
        </p:txBody>
      </p:sp>
      <p:sp>
        <p:nvSpPr>
          <p:cNvPr id="5" name="Espace réservé du pied de page 4"/>
          <p:cNvSpPr>
            <a:spLocks noGrp="1"/>
          </p:cNvSpPr>
          <p:nvPr>
            <p:ph type="ftr" sz="quarter" idx="11"/>
          </p:nvPr>
        </p:nvSpPr>
        <p:spPr/>
        <p:txBody>
          <a:bodyPr/>
          <a:lstStyle/>
          <a:p>
            <a:r>
              <a:rPr lang="fr-FR"/>
              <a:t>Dr. H.Chikh Zaouali</a:t>
            </a:r>
          </a:p>
        </p:txBody>
      </p:sp>
    </p:spTree>
    <p:extLst>
      <p:ext uri="{BB962C8B-B14F-4D97-AF65-F5344CB8AC3E}">
        <p14:creationId xmlns:p14="http://schemas.microsoft.com/office/powerpoint/2010/main" val="1585511199"/>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2"/>
            <a:ext cx="8507288" cy="4525963"/>
          </a:xfrm>
        </p:spPr>
        <p:txBody>
          <a:bodyPr>
            <a:normAutofit/>
          </a:bodyPr>
          <a:lstStyle/>
          <a:p>
            <a:pPr algn="just">
              <a:buNone/>
            </a:pPr>
            <a:r>
              <a:rPr lang="fr-FR" sz="2800" dirty="0">
                <a:solidFill>
                  <a:schemeClr val="accent4">
                    <a:lumMod val="75000"/>
                  </a:schemeClr>
                </a:solidFill>
              </a:rPr>
              <a:t>2.4.1. Données et leur représentation</a:t>
            </a:r>
          </a:p>
          <a:p>
            <a:pPr algn="just"/>
            <a:r>
              <a:rPr lang="fr-FR" sz="2400" dirty="0"/>
              <a:t>Types d’attributs :</a:t>
            </a:r>
          </a:p>
          <a:p>
            <a:pPr lvl="1" algn="just"/>
            <a:r>
              <a:rPr lang="fr-FR" dirty="0"/>
              <a:t>Attention:</a:t>
            </a:r>
          </a:p>
          <a:p>
            <a:pPr lvl="2" algn="just"/>
            <a:r>
              <a:rPr lang="fr-FR" dirty="0">
                <a:solidFill>
                  <a:srgbClr val="C00000"/>
                </a:solidFill>
              </a:rPr>
              <a:t>Quantitatif</a:t>
            </a:r>
            <a:r>
              <a:rPr lang="fr-FR" dirty="0">
                <a:solidFill>
                  <a:schemeClr val="tx1"/>
                </a:solidFill>
              </a:rPr>
              <a:t> ne signifie pas forcément </a:t>
            </a:r>
            <a:r>
              <a:rPr lang="fr-FR" dirty="0">
                <a:solidFill>
                  <a:srgbClr val="C00000"/>
                </a:solidFill>
              </a:rPr>
              <a:t>numérique</a:t>
            </a:r>
            <a:r>
              <a:rPr lang="fr-FR" dirty="0">
                <a:solidFill>
                  <a:schemeClr val="tx1"/>
                </a:solidFill>
              </a:rPr>
              <a:t>:</a:t>
            </a:r>
          </a:p>
          <a:p>
            <a:pPr lvl="3" algn="just"/>
            <a:r>
              <a:rPr lang="fr-FR" u="sng" dirty="0">
                <a:solidFill>
                  <a:schemeClr val="tx1"/>
                </a:solidFill>
              </a:rPr>
              <a:t>Exemple: </a:t>
            </a:r>
            <a:r>
              <a:rPr lang="fr-FR" dirty="0">
                <a:solidFill>
                  <a:schemeClr val="bg2">
                    <a:lumMod val="75000"/>
                  </a:schemeClr>
                </a:solidFill>
              </a:rPr>
              <a:t>(date: quantitatif mais n’est pas numérique)</a:t>
            </a:r>
          </a:p>
          <a:p>
            <a:pPr lvl="3" algn="just"/>
            <a:r>
              <a:rPr lang="fr-FR" dirty="0">
                <a:solidFill>
                  <a:schemeClr val="tx1"/>
                </a:solidFill>
              </a:rPr>
              <a:t> L’attribut « date »  (composée lui-même de sous-attributs: jour, mois, année) sur lequel on peut définir les opérateurs arithmétiques habituels (incrémenter, trier, etc.) : </a:t>
            </a:r>
          </a:p>
          <a:p>
            <a:pPr lvl="2" algn="just"/>
            <a:r>
              <a:rPr lang="fr-FR" dirty="0">
                <a:solidFill>
                  <a:srgbClr val="C00000"/>
                </a:solidFill>
              </a:rPr>
              <a:t>Numérique ne signifie pas forcément:</a:t>
            </a:r>
          </a:p>
          <a:p>
            <a:pPr lvl="3" algn="just"/>
            <a:r>
              <a:rPr lang="fr-FR" u="sng" dirty="0">
                <a:solidFill>
                  <a:schemeClr val="tx1"/>
                </a:solidFill>
              </a:rPr>
              <a:t>Exemple:</a:t>
            </a:r>
            <a:r>
              <a:rPr lang="fr-FR" dirty="0">
                <a:solidFill>
                  <a:schemeClr val="tx1"/>
                </a:solidFill>
              </a:rPr>
              <a:t> </a:t>
            </a:r>
            <a:r>
              <a:rPr lang="fr-FR" dirty="0">
                <a:solidFill>
                  <a:schemeClr val="bg2">
                    <a:lumMod val="75000"/>
                  </a:schemeClr>
                </a:solidFill>
              </a:rPr>
              <a:t>(code postale numérique mais pas quantitatif)</a:t>
            </a:r>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33</a:t>
            </a:fld>
            <a:endParaRPr lang="fr-FR"/>
          </a:p>
        </p:txBody>
      </p:sp>
      <p:sp>
        <p:nvSpPr>
          <p:cNvPr id="8" name="Titre 7"/>
          <p:cNvSpPr>
            <a:spLocks noGrp="1"/>
          </p:cNvSpPr>
          <p:nvPr>
            <p:ph type="title"/>
          </p:nvPr>
        </p:nvSpPr>
        <p:spPr>
          <a:xfrm>
            <a:off x="301752" y="228600"/>
            <a:ext cx="8534400" cy="758952"/>
          </a:xfrm>
        </p:spPr>
        <p:txBody>
          <a:bodyPr/>
          <a:lstStyle/>
          <a:p>
            <a:r>
              <a:rPr lang="fr-FR" dirty="0"/>
              <a:t>2.4. Mise en œuvre</a:t>
            </a:r>
          </a:p>
        </p:txBody>
      </p:sp>
      <p:sp>
        <p:nvSpPr>
          <p:cNvPr id="5" name="Espace réservé du pied de page 4"/>
          <p:cNvSpPr>
            <a:spLocks noGrp="1"/>
          </p:cNvSpPr>
          <p:nvPr>
            <p:ph type="ftr" sz="quarter" idx="11"/>
          </p:nvPr>
        </p:nvSpPr>
        <p:spPr/>
        <p:txBody>
          <a:bodyPr/>
          <a:lstStyle/>
          <a:p>
            <a:r>
              <a:rPr lang="fr-FR"/>
              <a:t>Dr. H.Chikh Zaouali</a:t>
            </a:r>
          </a:p>
        </p:txBody>
      </p:sp>
    </p:spTree>
    <p:extLst>
      <p:ext uri="{BB962C8B-B14F-4D97-AF65-F5344CB8AC3E}">
        <p14:creationId xmlns:p14="http://schemas.microsoft.com/office/powerpoint/2010/main" val="3767281864"/>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556792"/>
            <a:ext cx="8229600" cy="4709120"/>
          </a:xfrm>
        </p:spPr>
        <p:txBody>
          <a:bodyPr>
            <a:normAutofit fontScale="77500" lnSpcReduction="20000"/>
          </a:bodyPr>
          <a:lstStyle/>
          <a:p>
            <a:pPr algn="just">
              <a:buNone/>
            </a:pPr>
            <a:r>
              <a:rPr lang="fr-FR" sz="2800" dirty="0">
                <a:solidFill>
                  <a:schemeClr val="accent4">
                    <a:lumMod val="75000"/>
                  </a:schemeClr>
                </a:solidFill>
              </a:rPr>
              <a:t>2.4.1. Données et leur représentation</a:t>
            </a:r>
          </a:p>
          <a:p>
            <a:pPr algn="just"/>
            <a:r>
              <a:rPr lang="fr-FR" sz="2400" dirty="0"/>
              <a:t>Types d’attributs :</a:t>
            </a:r>
          </a:p>
          <a:p>
            <a:pPr lvl="1" algn="just"/>
            <a:r>
              <a:rPr lang="fr-FR" sz="2300" dirty="0"/>
              <a:t>Au-delà de la distinction qualitatif/quantitatif, il y a des distinctions plus subtiles entre les valeurs d’attributs:</a:t>
            </a:r>
          </a:p>
          <a:p>
            <a:pPr lvl="2" algn="just"/>
            <a:r>
              <a:rPr lang="fr-FR" sz="2600" dirty="0"/>
              <a:t>Attribut nominal: </a:t>
            </a:r>
            <a:r>
              <a:rPr lang="fr-FR" sz="2600" dirty="0">
                <a:solidFill>
                  <a:schemeClr val="tx1"/>
                </a:solidFill>
              </a:rPr>
              <a:t>valeurs arbitraires, non ordonnées et incomparables. </a:t>
            </a:r>
          </a:p>
          <a:p>
            <a:pPr lvl="3" algn="just"/>
            <a:r>
              <a:rPr lang="fr-FR" sz="2300" u="sng" dirty="0"/>
              <a:t>Exemple</a:t>
            </a:r>
            <a:r>
              <a:rPr lang="fr-FR" sz="2300" dirty="0"/>
              <a:t>: couleur: rouge, vert, bleu, etc. (comparer deux couleurs n’a pas de sens) </a:t>
            </a:r>
          </a:p>
          <a:p>
            <a:pPr lvl="2" algn="just"/>
            <a:r>
              <a:rPr lang="fr-FR" sz="2600" dirty="0"/>
              <a:t>Attribut ordinal: </a:t>
            </a:r>
            <a:r>
              <a:rPr lang="fr-FR" sz="2600" dirty="0">
                <a:solidFill>
                  <a:schemeClr val="tx1"/>
                </a:solidFill>
              </a:rPr>
              <a:t>valeurs arbitraires, ordonnées et comparables</a:t>
            </a:r>
          </a:p>
          <a:p>
            <a:pPr lvl="3" algn="just"/>
            <a:r>
              <a:rPr lang="fr-FR" sz="2100" u="sng" dirty="0"/>
              <a:t>Exemple</a:t>
            </a:r>
            <a:r>
              <a:rPr lang="fr-FR" sz="2100" dirty="0"/>
              <a:t>: température:  18°, 40°, etc. (on peut comparer les deux valeurs d’attributs, cela a un sens)</a:t>
            </a:r>
          </a:p>
          <a:p>
            <a:pPr lvl="3" fontAlgn="ctr">
              <a:buNone/>
            </a:pPr>
            <a:r>
              <a:rPr lang="fr-FR" sz="2100" dirty="0"/>
              <a:t>	Ces valeurs sont aussi arbitraires que les mots  « bleu»  et  « vert» et dépendent des unités de mesure (degré Celsius, Kelvin, degré Fahrenheit)</a:t>
            </a:r>
          </a:p>
          <a:p>
            <a:pPr lvl="2" algn="just"/>
            <a:r>
              <a:rPr lang="fr-FR" sz="2600" dirty="0"/>
              <a:t>Attribut à valeur absolue: </a:t>
            </a:r>
            <a:r>
              <a:rPr lang="fr-FR" sz="2600" dirty="0">
                <a:solidFill>
                  <a:schemeClr val="tx1"/>
                </a:solidFill>
              </a:rPr>
              <a:t>valeurs non arbitraires et comparables.</a:t>
            </a:r>
          </a:p>
          <a:p>
            <a:pPr lvl="3" algn="just"/>
            <a:r>
              <a:rPr lang="fr-FR" u="sng" dirty="0"/>
              <a:t>Exemple: </a:t>
            </a:r>
            <a:r>
              <a:rPr lang="fr-FR" dirty="0"/>
              <a:t>Nombre d’enfants: 2 ou 3 enfants</a:t>
            </a:r>
            <a:r>
              <a:rPr lang="fr-FR" u="sng" dirty="0"/>
              <a:t> </a:t>
            </a:r>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34</a:t>
            </a:fld>
            <a:endParaRPr lang="fr-FR"/>
          </a:p>
        </p:txBody>
      </p:sp>
      <p:sp>
        <p:nvSpPr>
          <p:cNvPr id="8" name="Titre 7"/>
          <p:cNvSpPr>
            <a:spLocks noGrp="1"/>
          </p:cNvSpPr>
          <p:nvPr>
            <p:ph type="title"/>
          </p:nvPr>
        </p:nvSpPr>
        <p:spPr>
          <a:xfrm>
            <a:off x="301752" y="228600"/>
            <a:ext cx="8534400" cy="758952"/>
          </a:xfrm>
        </p:spPr>
        <p:txBody>
          <a:bodyPr/>
          <a:lstStyle/>
          <a:p>
            <a:r>
              <a:rPr lang="fr-FR" dirty="0"/>
              <a:t>2.4. Mise en œuvre</a:t>
            </a:r>
          </a:p>
        </p:txBody>
      </p:sp>
      <p:sp>
        <p:nvSpPr>
          <p:cNvPr id="5" name="Espace réservé du pied de page 4"/>
          <p:cNvSpPr>
            <a:spLocks noGrp="1"/>
          </p:cNvSpPr>
          <p:nvPr>
            <p:ph type="ftr" sz="quarter" idx="11"/>
          </p:nvPr>
        </p:nvSpPr>
        <p:spPr/>
        <p:txBody>
          <a:bodyPr/>
          <a:lstStyle/>
          <a:p>
            <a:r>
              <a:rPr lang="fr-FR"/>
              <a:t>Dr. H.Chikh Zaouali</a:t>
            </a:r>
          </a:p>
        </p:txBody>
      </p:sp>
    </p:spTree>
    <p:extLst>
      <p:ext uri="{BB962C8B-B14F-4D97-AF65-F5344CB8AC3E}">
        <p14:creationId xmlns:p14="http://schemas.microsoft.com/office/powerpoint/2010/main" val="2756713836"/>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28800"/>
            <a:ext cx="8229600" cy="3528392"/>
          </a:xfrm>
        </p:spPr>
        <p:txBody>
          <a:bodyPr>
            <a:normAutofit/>
          </a:bodyPr>
          <a:lstStyle/>
          <a:p>
            <a:pPr algn="just">
              <a:buNone/>
            </a:pPr>
            <a:r>
              <a:rPr lang="fr-FR" sz="2400" dirty="0">
                <a:solidFill>
                  <a:schemeClr val="accent4">
                    <a:lumMod val="75000"/>
                  </a:schemeClr>
                </a:solidFill>
              </a:rPr>
              <a:t>2.4.1. Données et leur représentation</a:t>
            </a:r>
          </a:p>
          <a:p>
            <a:pPr algn="just"/>
            <a:r>
              <a:rPr lang="fr-FR" sz="2000" dirty="0"/>
              <a:t>Types d’attributs :</a:t>
            </a:r>
          </a:p>
          <a:p>
            <a:pPr lvl="1" algn="just"/>
            <a:r>
              <a:rPr lang="fr-FR" sz="1900" dirty="0"/>
              <a:t>Les différentes natures entraînent le fait que les opérations que l’on peut faire sur ces attributs ne sont pas les mêmes : </a:t>
            </a:r>
          </a:p>
          <a:p>
            <a:pPr lvl="2" algn="just"/>
            <a:r>
              <a:rPr lang="fr-FR" sz="1800" dirty="0"/>
              <a:t>on ne peut pas soustraire deux couleurs, </a:t>
            </a:r>
          </a:p>
          <a:p>
            <a:pPr lvl="2" algn="just"/>
            <a:r>
              <a:rPr lang="fr-FR" sz="1800" dirty="0"/>
              <a:t>on peut soustraire deux températures mais on ne peut pas en faire le rapport</a:t>
            </a:r>
          </a:p>
          <a:p>
            <a:pPr lvl="2" algn="just"/>
            <a:r>
              <a:rPr lang="fr-FR" sz="1800" dirty="0"/>
              <a:t>alors que l’on peut soustraire et faire le rapport du nombre d’enfants de deux personnes.</a:t>
            </a:r>
          </a:p>
          <a:p>
            <a:pPr lvl="1" algn="just">
              <a:buNone/>
            </a:pPr>
            <a:endParaRPr lang="fr-FR" sz="2400" dirty="0"/>
          </a:p>
        </p:txBody>
      </p:sp>
      <p:sp>
        <p:nvSpPr>
          <p:cNvPr id="4" name="Espace réservé du numéro de diapositive 3"/>
          <p:cNvSpPr>
            <a:spLocks noGrp="1"/>
          </p:cNvSpPr>
          <p:nvPr>
            <p:ph type="sldNum" sz="quarter" idx="12"/>
          </p:nvPr>
        </p:nvSpPr>
        <p:spPr/>
        <p:txBody>
          <a:bodyPr/>
          <a:lstStyle/>
          <a:p>
            <a:fld id="{E2529143-2798-4C11-845F-1766F045DCA1}" type="slidenum">
              <a:rPr lang="fr-FR" smtClean="0"/>
              <a:pPr/>
              <a:t>35</a:t>
            </a:fld>
            <a:endParaRPr lang="fr-FR" dirty="0"/>
          </a:p>
        </p:txBody>
      </p:sp>
      <p:sp>
        <p:nvSpPr>
          <p:cNvPr id="8" name="Titre 7"/>
          <p:cNvSpPr>
            <a:spLocks noGrp="1"/>
          </p:cNvSpPr>
          <p:nvPr>
            <p:ph type="title"/>
          </p:nvPr>
        </p:nvSpPr>
        <p:spPr>
          <a:xfrm>
            <a:off x="301752" y="228600"/>
            <a:ext cx="8534400" cy="758952"/>
          </a:xfrm>
        </p:spPr>
        <p:txBody>
          <a:bodyPr/>
          <a:lstStyle/>
          <a:p>
            <a:r>
              <a:rPr lang="fr-FR" dirty="0"/>
              <a:t>2.4. Mise en œuvre</a:t>
            </a:r>
          </a:p>
        </p:txBody>
      </p:sp>
      <p:sp>
        <p:nvSpPr>
          <p:cNvPr id="5" name="Espace réservé du pied de page 4"/>
          <p:cNvSpPr>
            <a:spLocks noGrp="1"/>
          </p:cNvSpPr>
          <p:nvPr>
            <p:ph type="ftr" sz="quarter" idx="11"/>
          </p:nvPr>
        </p:nvSpPr>
        <p:spPr/>
        <p:txBody>
          <a:bodyPr/>
          <a:lstStyle/>
          <a:p>
            <a:r>
              <a:rPr lang="fr-FR"/>
              <a:t>Dr. H.Chikh Zaouali</a:t>
            </a:r>
          </a:p>
        </p:txBody>
      </p:sp>
    </p:spTree>
    <p:extLst>
      <p:ext uri="{BB962C8B-B14F-4D97-AF65-F5344CB8AC3E}">
        <p14:creationId xmlns:p14="http://schemas.microsoft.com/office/powerpoint/2010/main" val="86098206"/>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7746" y="1423318"/>
            <a:ext cx="8819880" cy="4958011"/>
          </a:xfrm>
        </p:spPr>
        <p:txBody>
          <a:bodyPr>
            <a:normAutofit fontScale="92500" lnSpcReduction="10000"/>
          </a:bodyPr>
          <a:lstStyle/>
          <a:p>
            <a:pPr algn="just">
              <a:buNone/>
            </a:pPr>
            <a:r>
              <a:rPr lang="fr-FR" sz="2400" dirty="0">
                <a:solidFill>
                  <a:schemeClr val="accent4">
                    <a:lumMod val="75000"/>
                  </a:schemeClr>
                </a:solidFill>
              </a:rPr>
              <a:t>2.4.1. Données et leur représentation</a:t>
            </a:r>
          </a:p>
          <a:p>
            <a:pPr lvl="1" algn="just"/>
            <a:r>
              <a:rPr lang="fr-FR" sz="1900" dirty="0"/>
              <a:t>Les données brutes peuvent être représentées par une matrice </a:t>
            </a:r>
            <a:r>
              <a:rPr lang="fr-FR" sz="1900" dirty="0">
                <a:solidFill>
                  <a:srgbClr val="0070C0"/>
                </a:solidFill>
              </a:rPr>
              <a:t>X</a:t>
            </a:r>
            <a:r>
              <a:rPr lang="fr-FR" sz="1900" dirty="0"/>
              <a:t> à </a:t>
            </a:r>
            <a:r>
              <a:rPr lang="fr-FR" sz="1900" dirty="0">
                <a:solidFill>
                  <a:srgbClr val="0070C0"/>
                </a:solidFill>
              </a:rPr>
              <a:t>n</a:t>
            </a:r>
            <a:r>
              <a:rPr lang="fr-FR" sz="1900" dirty="0"/>
              <a:t> lignes et </a:t>
            </a:r>
            <a:r>
              <a:rPr lang="fr-FR" sz="1900" dirty="0">
                <a:solidFill>
                  <a:srgbClr val="0070C0"/>
                </a:solidFill>
              </a:rPr>
              <a:t>p</a:t>
            </a:r>
            <a:r>
              <a:rPr lang="fr-FR" sz="1900" dirty="0"/>
              <a:t> colonnes. </a:t>
            </a:r>
          </a:p>
          <a:p>
            <a:pPr lvl="1" algn="just"/>
            <a:r>
              <a:rPr lang="fr-FR" sz="1900" dirty="0"/>
              <a:t>Chaque ligne correspond à l’un des </a:t>
            </a:r>
            <a:r>
              <a:rPr lang="fr-FR" sz="1900" dirty="0">
                <a:solidFill>
                  <a:srgbClr val="0070C0"/>
                </a:solidFill>
              </a:rPr>
              <a:t>n</a:t>
            </a:r>
            <a:r>
              <a:rPr lang="fr-FR" sz="1900" dirty="0"/>
              <a:t> éléments qu’on désire classer, caractérisée par </a:t>
            </a:r>
            <a:r>
              <a:rPr lang="fr-FR" sz="1900" dirty="0">
                <a:solidFill>
                  <a:srgbClr val="0070C0"/>
                </a:solidFill>
              </a:rPr>
              <a:t>p</a:t>
            </a:r>
            <a:r>
              <a:rPr lang="fr-FR" sz="1900" dirty="0"/>
              <a:t> mesures.</a:t>
            </a:r>
          </a:p>
          <a:p>
            <a:pPr lvl="1" algn="just"/>
            <a:r>
              <a:rPr lang="fr-FR" sz="1900" dirty="0"/>
              <a:t>Matrice de données brutes :</a:t>
            </a:r>
          </a:p>
          <a:p>
            <a:pPr algn="just"/>
            <a:endParaRPr lang="fr-FR" sz="2400" dirty="0"/>
          </a:p>
          <a:p>
            <a:pPr algn="just"/>
            <a:endParaRPr lang="fr-FR" sz="2400" dirty="0"/>
          </a:p>
          <a:p>
            <a:pPr algn="just"/>
            <a:endParaRPr lang="fr-FR" sz="2400" dirty="0"/>
          </a:p>
          <a:p>
            <a:pPr algn="just"/>
            <a:endParaRPr lang="fr-FR" sz="2400" dirty="0"/>
          </a:p>
          <a:p>
            <a:pPr algn="just"/>
            <a:endParaRPr lang="fr-FR" sz="2400" dirty="0"/>
          </a:p>
          <a:p>
            <a:pPr algn="just"/>
            <a:endParaRPr lang="fr-FR" sz="2400" dirty="0"/>
          </a:p>
          <a:p>
            <a:pPr algn="just"/>
            <a:endParaRPr lang="fr-FR" sz="2400" dirty="0"/>
          </a:p>
          <a:p>
            <a:pPr lvl="1" algn="just"/>
            <a:r>
              <a:rPr lang="fr-FR" sz="1900" dirty="0"/>
              <a:t>Les colonnes ne sont pas forcément du même type et il peut y avoir des entrées vides correspondant aux entrées manquantes.</a:t>
            </a:r>
          </a:p>
          <a:p>
            <a:pPr algn="just"/>
            <a:endParaRPr lang="fr-FR" sz="2400" dirty="0"/>
          </a:p>
        </p:txBody>
      </p:sp>
      <p:pic>
        <p:nvPicPr>
          <p:cNvPr id="10241" name="Picture 1"/>
          <p:cNvPicPr>
            <a:picLocks noChangeAspect="1" noChangeArrowheads="1"/>
          </p:cNvPicPr>
          <p:nvPr/>
        </p:nvPicPr>
        <p:blipFill>
          <a:blip r:embed="rId2" cstate="print"/>
          <a:srcRect/>
          <a:stretch>
            <a:fillRect/>
          </a:stretch>
        </p:blipFill>
        <p:spPr bwMode="auto">
          <a:xfrm>
            <a:off x="3714744" y="2857496"/>
            <a:ext cx="5124900" cy="2857520"/>
          </a:xfrm>
          <a:prstGeom prst="rect">
            <a:avLst/>
          </a:prstGeom>
          <a:noFill/>
          <a:ln w="9525">
            <a:noFill/>
            <a:miter lim="800000"/>
            <a:headEnd/>
            <a:tailEnd/>
          </a:ln>
          <a:effectLst/>
        </p:spPr>
      </p:pic>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36</a:t>
            </a:fld>
            <a:endParaRPr lang="fr-FR"/>
          </a:p>
        </p:txBody>
      </p:sp>
      <p:sp>
        <p:nvSpPr>
          <p:cNvPr id="10" name="Titre 9"/>
          <p:cNvSpPr>
            <a:spLocks noGrp="1"/>
          </p:cNvSpPr>
          <p:nvPr>
            <p:ph type="title"/>
          </p:nvPr>
        </p:nvSpPr>
        <p:spPr/>
        <p:txBody>
          <a:bodyPr/>
          <a:lstStyle/>
          <a:p>
            <a:r>
              <a:rPr lang="fr-FR" dirty="0"/>
              <a:t>2.4. Mise en œuvre</a:t>
            </a:r>
          </a:p>
        </p:txBody>
      </p:sp>
    </p:spTree>
    <p:extLst>
      <p:ext uri="{BB962C8B-B14F-4D97-AF65-F5344CB8AC3E}">
        <p14:creationId xmlns:p14="http://schemas.microsoft.com/office/powerpoint/2010/main" val="3948469038"/>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7" y="1772816"/>
            <a:ext cx="8229600" cy="4513704"/>
          </a:xfrm>
        </p:spPr>
        <p:txBody>
          <a:bodyPr>
            <a:normAutofit fontScale="92500" lnSpcReduction="10000"/>
          </a:bodyPr>
          <a:lstStyle/>
          <a:p>
            <a:pPr algn="just">
              <a:buNone/>
            </a:pPr>
            <a:r>
              <a:rPr lang="fr-FR" sz="2400" dirty="0">
                <a:solidFill>
                  <a:schemeClr val="accent4">
                    <a:lumMod val="75000"/>
                  </a:schemeClr>
                </a:solidFill>
              </a:rPr>
              <a:t>2.4.1. Données et leur représentation</a:t>
            </a:r>
          </a:p>
          <a:p>
            <a:pPr algn="just"/>
            <a:r>
              <a:rPr lang="fr-FR" sz="2400" dirty="0"/>
              <a:t>Bruit:</a:t>
            </a:r>
          </a:p>
          <a:p>
            <a:pPr marL="548640" lvl="2" algn="just">
              <a:buClr>
                <a:schemeClr val="accent1"/>
              </a:buClr>
              <a:buSzPct val="85000"/>
              <a:buFont typeface="Courier New" pitchFamily="49" charset="0"/>
              <a:buChar char="o"/>
            </a:pPr>
            <a:r>
              <a:rPr lang="fr-FR" dirty="0"/>
              <a:t>Des données dont certains attributs ont une valeur </a:t>
            </a:r>
            <a:r>
              <a:rPr lang="fr-FR" dirty="0">
                <a:solidFill>
                  <a:srgbClr val="C00000"/>
                </a:solidFill>
              </a:rPr>
              <a:t>inconnue </a:t>
            </a:r>
            <a:r>
              <a:rPr lang="fr-FR" dirty="0"/>
              <a:t>ou </a:t>
            </a:r>
            <a:r>
              <a:rPr lang="fr-FR" dirty="0">
                <a:solidFill>
                  <a:srgbClr val="C00000"/>
                </a:solidFill>
              </a:rPr>
              <a:t>invalide</a:t>
            </a:r>
            <a:r>
              <a:rPr lang="fr-FR" dirty="0"/>
              <a:t>. </a:t>
            </a:r>
          </a:p>
          <a:p>
            <a:pPr marL="548640" lvl="2" algn="just">
              <a:buClr>
                <a:schemeClr val="accent1"/>
              </a:buClr>
              <a:buSzPct val="85000"/>
              <a:buFont typeface="Courier New" pitchFamily="49" charset="0"/>
              <a:buChar char="o"/>
            </a:pPr>
            <a:r>
              <a:rPr lang="fr-FR" dirty="0"/>
              <a:t>La simple élimination des données ayant un attribut dont la valeur est inconnue ou invalide pourrait vider complètement la base de données. </a:t>
            </a:r>
          </a:p>
          <a:p>
            <a:pPr marL="548640" lvl="2" algn="just">
              <a:buClr>
                <a:schemeClr val="accent1"/>
              </a:buClr>
              <a:buSzPct val="85000"/>
              <a:buFont typeface="Courier New" pitchFamily="49" charset="0"/>
              <a:buChar char="o"/>
            </a:pPr>
            <a:r>
              <a:rPr lang="fr-FR" dirty="0"/>
              <a:t>On touche le </a:t>
            </a:r>
            <a:r>
              <a:rPr lang="fr-FR" dirty="0">
                <a:solidFill>
                  <a:srgbClr val="C00000"/>
                </a:solidFill>
              </a:rPr>
              <a:t>problème de la collecte de données fiables </a:t>
            </a:r>
            <a:r>
              <a:rPr lang="fr-FR" dirty="0"/>
              <a:t>qui est un problème pratique très difficile à résoudre.</a:t>
            </a:r>
          </a:p>
          <a:p>
            <a:pPr algn="just"/>
            <a:endParaRPr lang="fr-FR" sz="2400" dirty="0"/>
          </a:p>
          <a:p>
            <a:pPr algn="just"/>
            <a:r>
              <a:rPr lang="fr-FR" sz="2400" dirty="0"/>
              <a:t>Si une mesure est manquante pour un élément, on peut:</a:t>
            </a:r>
          </a:p>
          <a:p>
            <a:pPr marL="548640" lvl="2" algn="just">
              <a:buClr>
                <a:schemeClr val="accent1"/>
              </a:buClr>
              <a:buSzPct val="85000"/>
              <a:buFont typeface="Courier New" pitchFamily="49" charset="0"/>
              <a:buChar char="o"/>
            </a:pPr>
            <a:r>
              <a:rPr lang="fr-FR" sz="1900" dirty="0"/>
              <a:t>L</a:t>
            </a:r>
            <a:r>
              <a:rPr lang="fr-FR" sz="2100" dirty="0"/>
              <a:t>’ignorer dans le calcul de distances.</a:t>
            </a:r>
          </a:p>
          <a:p>
            <a:pPr marL="548640" lvl="2" algn="just">
              <a:buClr>
                <a:schemeClr val="accent1"/>
              </a:buClr>
              <a:buSzPct val="85000"/>
              <a:buFont typeface="Courier New" pitchFamily="49" charset="0"/>
              <a:buChar char="o"/>
            </a:pPr>
            <a:r>
              <a:rPr lang="fr-FR" sz="2100" dirty="0"/>
              <a:t>Remplacer la valeur manquante par la moyenne des autres valeurs ou bien par la valeur de l’élément le plus similaire.</a:t>
            </a:r>
          </a:p>
          <a:p>
            <a:pPr algn="just"/>
            <a:endParaRPr lang="fr-FR" sz="2400" dirty="0"/>
          </a:p>
          <a:p>
            <a:pPr algn="just"/>
            <a:endParaRPr lang="fr-FR" sz="24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37</a:t>
            </a:fld>
            <a:endParaRPr lang="fr-FR"/>
          </a:p>
        </p:txBody>
      </p:sp>
      <p:sp>
        <p:nvSpPr>
          <p:cNvPr id="8" name="Titre 7"/>
          <p:cNvSpPr>
            <a:spLocks noGrp="1"/>
          </p:cNvSpPr>
          <p:nvPr>
            <p:ph type="title"/>
          </p:nvPr>
        </p:nvSpPr>
        <p:spPr/>
        <p:txBody>
          <a:bodyPr/>
          <a:lstStyle/>
          <a:p>
            <a:r>
              <a:rPr lang="fr-FR" dirty="0"/>
              <a:t>2.4. Mise en œuvre</a:t>
            </a:r>
          </a:p>
        </p:txBody>
      </p:sp>
    </p:spTree>
    <p:extLst>
      <p:ext uri="{BB962C8B-B14F-4D97-AF65-F5344CB8AC3E}">
        <p14:creationId xmlns:p14="http://schemas.microsoft.com/office/powerpoint/2010/main" val="3289221564"/>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1767" y="1401848"/>
            <a:ext cx="8638706" cy="4907472"/>
          </a:xfrm>
        </p:spPr>
        <p:txBody>
          <a:bodyPr>
            <a:normAutofit/>
          </a:bodyPr>
          <a:lstStyle/>
          <a:p>
            <a:pPr algn="just">
              <a:buNone/>
            </a:pPr>
            <a:r>
              <a:rPr lang="fr-FR" sz="2400" dirty="0">
                <a:solidFill>
                  <a:schemeClr val="accent4">
                    <a:lumMod val="75000"/>
                  </a:schemeClr>
                </a:solidFill>
              </a:rPr>
              <a:t>2.4.1. Données et leur représentation</a:t>
            </a:r>
          </a:p>
          <a:p>
            <a:pPr algn="just"/>
            <a:r>
              <a:rPr lang="fr-FR" sz="2000" dirty="0"/>
              <a:t>Très souvent, les données brutes sont de plusieurs types. </a:t>
            </a:r>
          </a:p>
          <a:p>
            <a:pPr lvl="1" algn="just"/>
            <a:r>
              <a:rPr lang="fr-FR" sz="2000" u="sng" dirty="0"/>
              <a:t>Exemple:</a:t>
            </a:r>
            <a:r>
              <a:rPr lang="fr-FR" sz="2000" dirty="0"/>
              <a:t> un sol peut être caractérisé par son acidité Ph (numérique), sa couleur (ordinal), le type de pierres présentes (nominal) et la présence de vers (binaires).</a:t>
            </a:r>
          </a:p>
          <a:p>
            <a:pPr algn="just"/>
            <a:r>
              <a:rPr lang="fr-FR" sz="2000" dirty="0"/>
              <a:t>Si la majorité des mesures sont d’un type, on peut essayer de ramener toutes les données à ce type :</a:t>
            </a:r>
          </a:p>
          <a:p>
            <a:pPr algn="just"/>
            <a:endParaRPr lang="fr-FR" sz="2400" dirty="0"/>
          </a:p>
          <a:p>
            <a:pPr algn="just"/>
            <a:endParaRPr lang="fr-FR" sz="2400" dirty="0"/>
          </a:p>
          <a:p>
            <a:pPr algn="just"/>
            <a:endParaRPr lang="fr-FR" sz="2400" dirty="0"/>
          </a:p>
          <a:p>
            <a:pPr algn="just"/>
            <a:endParaRPr lang="fr-FR" sz="2400" dirty="0"/>
          </a:p>
          <a:p>
            <a:pPr algn="just"/>
            <a:endParaRPr lang="fr-FR" sz="2400" dirty="0"/>
          </a:p>
          <a:p>
            <a:pPr algn="just"/>
            <a:endParaRPr lang="fr-FR" sz="2400" dirty="0"/>
          </a:p>
          <a:p>
            <a:pPr algn="just"/>
            <a:endParaRPr lang="fr-FR" sz="2400" dirty="0"/>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38</a:t>
            </a:fld>
            <a:endParaRPr lang="fr-FR"/>
          </a:p>
        </p:txBody>
      </p:sp>
      <p:pic>
        <p:nvPicPr>
          <p:cNvPr id="67586" name="Picture 2"/>
          <p:cNvPicPr>
            <a:picLocks noChangeAspect="1" noChangeArrowheads="1"/>
          </p:cNvPicPr>
          <p:nvPr/>
        </p:nvPicPr>
        <p:blipFill>
          <a:blip r:embed="rId2" cstate="print"/>
          <a:srcRect/>
          <a:stretch>
            <a:fillRect/>
          </a:stretch>
        </p:blipFill>
        <p:spPr bwMode="auto">
          <a:xfrm>
            <a:off x="1785918" y="4071942"/>
            <a:ext cx="6265613" cy="2143140"/>
          </a:xfrm>
          <a:prstGeom prst="rect">
            <a:avLst/>
          </a:prstGeom>
          <a:noFill/>
          <a:ln w="9525">
            <a:noFill/>
            <a:miter lim="800000"/>
            <a:headEnd/>
            <a:tailEnd/>
          </a:ln>
          <a:effectLst/>
        </p:spPr>
      </p:pic>
      <p:sp>
        <p:nvSpPr>
          <p:cNvPr id="9" name="Titre 8"/>
          <p:cNvSpPr>
            <a:spLocks noGrp="1"/>
          </p:cNvSpPr>
          <p:nvPr>
            <p:ph type="title"/>
          </p:nvPr>
        </p:nvSpPr>
        <p:spPr/>
        <p:txBody>
          <a:bodyPr/>
          <a:lstStyle/>
          <a:p>
            <a:r>
              <a:rPr lang="fr-FR" dirty="0"/>
              <a:t>2.4. Mise en œuvre</a:t>
            </a:r>
          </a:p>
        </p:txBody>
      </p:sp>
    </p:spTree>
    <p:extLst>
      <p:ext uri="{BB962C8B-B14F-4D97-AF65-F5344CB8AC3E}">
        <p14:creationId xmlns:p14="http://schemas.microsoft.com/office/powerpoint/2010/main" val="2757616665"/>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2" name="Picture 4"/>
          <p:cNvPicPr>
            <a:picLocks noChangeAspect="1" noChangeArrowheads="1"/>
          </p:cNvPicPr>
          <p:nvPr/>
        </p:nvPicPr>
        <p:blipFill>
          <a:blip r:embed="rId2" cstate="print"/>
          <a:srcRect/>
          <a:stretch>
            <a:fillRect/>
          </a:stretch>
        </p:blipFill>
        <p:spPr bwMode="auto">
          <a:xfrm>
            <a:off x="2500298" y="4929198"/>
            <a:ext cx="4782474" cy="1368152"/>
          </a:xfrm>
          <a:prstGeom prst="rect">
            <a:avLst/>
          </a:prstGeom>
          <a:noFill/>
          <a:ln w="9525">
            <a:noFill/>
            <a:miter lim="800000"/>
            <a:headEnd/>
            <a:tailEnd/>
          </a:ln>
        </p:spPr>
      </p:pic>
      <p:sp>
        <p:nvSpPr>
          <p:cNvPr id="3" name="Espace réservé du contenu 2"/>
          <p:cNvSpPr>
            <a:spLocks noGrp="1"/>
          </p:cNvSpPr>
          <p:nvPr>
            <p:ph idx="1"/>
          </p:nvPr>
        </p:nvSpPr>
        <p:spPr>
          <a:xfrm>
            <a:off x="181766" y="1484784"/>
            <a:ext cx="8710714" cy="2515720"/>
          </a:xfrm>
        </p:spPr>
        <p:txBody>
          <a:bodyPr>
            <a:noAutofit/>
          </a:bodyPr>
          <a:lstStyle/>
          <a:p>
            <a:pPr algn="just">
              <a:buNone/>
            </a:pPr>
            <a:r>
              <a:rPr lang="fr-FR" sz="2400" dirty="0">
                <a:solidFill>
                  <a:schemeClr val="accent4">
                    <a:lumMod val="75000"/>
                  </a:schemeClr>
                </a:solidFill>
              </a:rPr>
              <a:t>2.4.2. Mesures de similarité ou de distance</a:t>
            </a:r>
          </a:p>
          <a:p>
            <a:pPr lvl="1" algn="just"/>
            <a:r>
              <a:rPr lang="fr-FR" sz="2000" dirty="0">
                <a:solidFill>
                  <a:schemeClr val="tx1"/>
                </a:solidFill>
              </a:rPr>
              <a:t>Pour regrouper les individus qui se ressemblent (et séparer ceux qui ne se ressemblent pas), il faut un “critère de ressemblance”</a:t>
            </a:r>
          </a:p>
          <a:p>
            <a:pPr lvl="1" algn="just"/>
            <a:r>
              <a:rPr lang="fr-FR" sz="2000" dirty="0">
                <a:solidFill>
                  <a:schemeClr val="tx1"/>
                </a:solidFill>
              </a:rPr>
              <a:t>Groupe homogène: les objets du groupe se ressemblent.</a:t>
            </a:r>
          </a:p>
          <a:p>
            <a:pPr lvl="1" algn="just"/>
            <a:r>
              <a:rPr lang="fr-FR" sz="2000" dirty="0">
                <a:solidFill>
                  <a:schemeClr val="tx1"/>
                </a:solidFill>
              </a:rPr>
              <a:t>Groupes bien distincts: les objets de groupes distincts ne se ressemblent pas</a:t>
            </a:r>
            <a:r>
              <a:rPr lang="fr-FR" sz="1900" dirty="0"/>
              <a:t>.</a:t>
            </a:r>
          </a:p>
          <a:p>
            <a:pPr algn="just"/>
            <a:endParaRPr lang="fr-FR" sz="2400" dirty="0"/>
          </a:p>
          <a:p>
            <a:pPr algn="just">
              <a:buNone/>
            </a:pPr>
            <a:endParaRPr lang="fr-FR" sz="2400" dirty="0"/>
          </a:p>
          <a:p>
            <a:pPr algn="just"/>
            <a:endParaRPr lang="fr-FR" sz="2400" dirty="0"/>
          </a:p>
        </p:txBody>
      </p:sp>
      <p:sp>
        <p:nvSpPr>
          <p:cNvPr id="5" name="Espace réservé du pied de page 4"/>
          <p:cNvSpPr>
            <a:spLocks noGrp="1"/>
          </p:cNvSpPr>
          <p:nvPr>
            <p:ph type="ftr" sz="quarter" idx="11"/>
          </p:nvPr>
        </p:nvSpPr>
        <p:spPr>
          <a:xfrm>
            <a:off x="196375" y="6453337"/>
            <a:ext cx="2895600" cy="365125"/>
          </a:xfrm>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39</a:t>
            </a:fld>
            <a:endParaRPr lang="fr-FR"/>
          </a:p>
        </p:txBody>
      </p:sp>
      <p:grpSp>
        <p:nvGrpSpPr>
          <p:cNvPr id="36" name="Groupe 35"/>
          <p:cNvGrpSpPr/>
          <p:nvPr/>
        </p:nvGrpSpPr>
        <p:grpSpPr>
          <a:xfrm>
            <a:off x="2500298" y="3429000"/>
            <a:ext cx="4105524" cy="1440160"/>
            <a:chOff x="1967029" y="3501008"/>
            <a:chExt cx="7294910" cy="1872208"/>
          </a:xfrm>
        </p:grpSpPr>
        <p:sp>
          <p:nvSpPr>
            <p:cNvPr id="10" name="Ellipse 9"/>
            <p:cNvSpPr/>
            <p:nvPr/>
          </p:nvSpPr>
          <p:spPr>
            <a:xfrm>
              <a:off x="1967029" y="3645024"/>
              <a:ext cx="2399642" cy="1728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p:cNvSpPr/>
            <p:nvPr/>
          </p:nvSpPr>
          <p:spPr>
            <a:xfrm>
              <a:off x="6670327" y="3645024"/>
              <a:ext cx="2495627" cy="1728192"/>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p:cNvSpPr/>
            <p:nvPr/>
          </p:nvSpPr>
          <p:spPr>
            <a:xfrm>
              <a:off x="2350971" y="4293096"/>
              <a:ext cx="383943" cy="288032"/>
            </a:xfrm>
            <a:prstGeom prst="ellipse">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p:cNvSpPr/>
            <p:nvPr/>
          </p:nvSpPr>
          <p:spPr>
            <a:xfrm>
              <a:off x="3118857" y="4725144"/>
              <a:ext cx="383943" cy="288032"/>
            </a:xfrm>
            <a:prstGeom prst="ellipse">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p:cNvSpPr/>
            <p:nvPr/>
          </p:nvSpPr>
          <p:spPr>
            <a:xfrm>
              <a:off x="8398068" y="4221088"/>
              <a:ext cx="383943" cy="28803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p:cNvSpPr/>
            <p:nvPr/>
          </p:nvSpPr>
          <p:spPr>
            <a:xfrm>
              <a:off x="7534197" y="4797152"/>
              <a:ext cx="383943" cy="28803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Connecteur droit avec flèche 18"/>
            <p:cNvCxnSpPr/>
            <p:nvPr/>
          </p:nvCxnSpPr>
          <p:spPr>
            <a:xfrm>
              <a:off x="2734914" y="4509120"/>
              <a:ext cx="383943" cy="288032"/>
            </a:xfrm>
            <a:prstGeom prst="straightConnector1">
              <a:avLst/>
            </a:prstGeom>
            <a:ln w="158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a:endCxn id="14" idx="3"/>
            </p:cNvCxnSpPr>
            <p:nvPr/>
          </p:nvCxnSpPr>
          <p:spPr>
            <a:xfrm flipV="1">
              <a:off x="7822155" y="4466940"/>
              <a:ext cx="632141" cy="330213"/>
            </a:xfrm>
            <a:prstGeom prst="straightConnector1">
              <a:avLst/>
            </a:prstGeom>
            <a:ln w="158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3" name="ZoneTexte 22"/>
            <p:cNvSpPr txBox="1"/>
            <p:nvPr/>
          </p:nvSpPr>
          <p:spPr>
            <a:xfrm>
              <a:off x="2350971" y="4221088"/>
              <a:ext cx="598714" cy="400110"/>
            </a:xfrm>
            <a:prstGeom prst="rect">
              <a:avLst/>
            </a:prstGeom>
            <a:noFill/>
          </p:spPr>
          <p:txBody>
            <a:bodyPr wrap="none" rtlCol="0">
              <a:spAutoFit/>
            </a:bodyPr>
            <a:lstStyle/>
            <a:p>
              <a:r>
                <a:rPr lang="fr-FR" sz="2000" b="1" dirty="0">
                  <a:solidFill>
                    <a:schemeClr val="bg1"/>
                  </a:solidFill>
                </a:rPr>
                <a:t>a</a:t>
              </a:r>
              <a:endParaRPr lang="fr-FR" b="1" dirty="0">
                <a:solidFill>
                  <a:schemeClr val="bg1"/>
                </a:solidFill>
              </a:endParaRPr>
            </a:p>
          </p:txBody>
        </p:sp>
        <p:sp>
          <p:nvSpPr>
            <p:cNvPr id="24" name="ZoneTexte 23"/>
            <p:cNvSpPr txBox="1"/>
            <p:nvPr/>
          </p:nvSpPr>
          <p:spPr>
            <a:xfrm>
              <a:off x="3087835" y="4653136"/>
              <a:ext cx="621500" cy="400110"/>
            </a:xfrm>
            <a:prstGeom prst="rect">
              <a:avLst/>
            </a:prstGeom>
            <a:noFill/>
          </p:spPr>
          <p:txBody>
            <a:bodyPr wrap="none" rtlCol="0">
              <a:spAutoFit/>
            </a:bodyPr>
            <a:lstStyle/>
            <a:p>
              <a:r>
                <a:rPr lang="fr-FR" sz="2000" b="1" dirty="0">
                  <a:solidFill>
                    <a:schemeClr val="bg1"/>
                  </a:solidFill>
                </a:rPr>
                <a:t>b</a:t>
              </a:r>
              <a:endParaRPr lang="fr-FR" b="1" dirty="0">
                <a:solidFill>
                  <a:schemeClr val="bg1"/>
                </a:solidFill>
              </a:endParaRPr>
            </a:p>
          </p:txBody>
        </p:sp>
        <p:sp>
          <p:nvSpPr>
            <p:cNvPr id="25" name="ZoneTexte 24"/>
            <p:cNvSpPr txBox="1"/>
            <p:nvPr/>
          </p:nvSpPr>
          <p:spPr>
            <a:xfrm>
              <a:off x="7503177" y="4757082"/>
              <a:ext cx="547445" cy="369332"/>
            </a:xfrm>
            <a:prstGeom prst="rect">
              <a:avLst/>
            </a:prstGeom>
            <a:noFill/>
          </p:spPr>
          <p:txBody>
            <a:bodyPr wrap="none" rtlCol="0">
              <a:spAutoFit/>
            </a:bodyPr>
            <a:lstStyle/>
            <a:p>
              <a:r>
                <a:rPr lang="fr-FR" b="1" dirty="0">
                  <a:solidFill>
                    <a:schemeClr val="bg1"/>
                  </a:solidFill>
                </a:rPr>
                <a:t>c</a:t>
              </a:r>
            </a:p>
          </p:txBody>
        </p:sp>
        <p:sp>
          <p:nvSpPr>
            <p:cNvPr id="26" name="ZoneTexte 25"/>
            <p:cNvSpPr txBox="1"/>
            <p:nvPr/>
          </p:nvSpPr>
          <p:spPr>
            <a:xfrm>
              <a:off x="8367047" y="4149080"/>
              <a:ext cx="630043" cy="400110"/>
            </a:xfrm>
            <a:prstGeom prst="rect">
              <a:avLst/>
            </a:prstGeom>
            <a:noFill/>
          </p:spPr>
          <p:txBody>
            <a:bodyPr wrap="none" rtlCol="0">
              <a:spAutoFit/>
            </a:bodyPr>
            <a:lstStyle/>
            <a:p>
              <a:r>
                <a:rPr lang="fr-FR" sz="2000" b="1" dirty="0">
                  <a:solidFill>
                    <a:schemeClr val="bg1"/>
                  </a:solidFill>
                </a:rPr>
                <a:t>d</a:t>
              </a:r>
              <a:endParaRPr lang="fr-FR" b="1" dirty="0">
                <a:solidFill>
                  <a:schemeClr val="bg1"/>
                </a:solidFill>
              </a:endParaRPr>
            </a:p>
          </p:txBody>
        </p:sp>
        <p:sp>
          <p:nvSpPr>
            <p:cNvPr id="27" name="Légende encadrée avec une bordure 2 26"/>
            <p:cNvSpPr/>
            <p:nvPr/>
          </p:nvSpPr>
          <p:spPr>
            <a:xfrm>
              <a:off x="4174699" y="3645024"/>
              <a:ext cx="479928" cy="288032"/>
            </a:xfrm>
            <a:prstGeom prst="accentBorderCallout2">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a:t>
              </a:r>
            </a:p>
          </p:txBody>
        </p:sp>
        <p:sp>
          <p:nvSpPr>
            <p:cNvPr id="28" name="Légende encadrée avec une bordure 2 27"/>
            <p:cNvSpPr/>
            <p:nvPr/>
          </p:nvSpPr>
          <p:spPr>
            <a:xfrm>
              <a:off x="8782011" y="3501008"/>
              <a:ext cx="479928" cy="288032"/>
            </a:xfrm>
            <a:prstGeom prst="accentBorderCallout2">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B</a:t>
              </a:r>
            </a:p>
          </p:txBody>
        </p:sp>
        <p:cxnSp>
          <p:nvCxnSpPr>
            <p:cNvPr id="30" name="Connecteur droit avec flèche 29"/>
            <p:cNvCxnSpPr>
              <a:stCxn id="23" idx="3"/>
              <a:endCxn id="25" idx="1"/>
            </p:cNvCxnSpPr>
            <p:nvPr/>
          </p:nvCxnSpPr>
          <p:spPr>
            <a:xfrm>
              <a:off x="2949685" y="4421143"/>
              <a:ext cx="4553492" cy="52060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 name="Connecteur droit avec flèche 30"/>
            <p:cNvCxnSpPr>
              <a:endCxn id="26" idx="1"/>
            </p:cNvCxnSpPr>
            <p:nvPr/>
          </p:nvCxnSpPr>
          <p:spPr>
            <a:xfrm>
              <a:off x="2638928" y="4293097"/>
              <a:ext cx="5728119" cy="5603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Connecteur droit avec flèche 33"/>
            <p:cNvCxnSpPr>
              <a:stCxn id="24" idx="3"/>
              <a:endCxn id="25" idx="1"/>
            </p:cNvCxnSpPr>
            <p:nvPr/>
          </p:nvCxnSpPr>
          <p:spPr>
            <a:xfrm>
              <a:off x="3709336" y="4853191"/>
              <a:ext cx="3793841" cy="8855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5" name="Connecteur droit avec flèche 34"/>
            <p:cNvCxnSpPr/>
            <p:nvPr/>
          </p:nvCxnSpPr>
          <p:spPr>
            <a:xfrm flipV="1">
              <a:off x="3406814" y="4349136"/>
              <a:ext cx="4960233" cy="376009"/>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29" name="Titre 7"/>
          <p:cNvSpPr txBox="1">
            <a:spLocks/>
          </p:cNvSpPr>
          <p:nvPr/>
        </p:nvSpPr>
        <p:spPr>
          <a:xfrm>
            <a:off x="301752" y="228600"/>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2.4. Mise en œuvre</a:t>
            </a:r>
          </a:p>
        </p:txBody>
      </p:sp>
    </p:spTree>
    <p:extLst>
      <p:ext uri="{BB962C8B-B14F-4D97-AF65-F5344CB8AC3E}">
        <p14:creationId xmlns:p14="http://schemas.microsoft.com/office/powerpoint/2010/main" val="4005006456"/>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40</a:t>
            </a:fld>
            <a:endParaRPr lang="fr-FR"/>
          </a:p>
        </p:txBody>
      </p:sp>
      <p:sp>
        <p:nvSpPr>
          <p:cNvPr id="9" name="Titre 8"/>
          <p:cNvSpPr>
            <a:spLocks noGrp="1"/>
          </p:cNvSpPr>
          <p:nvPr>
            <p:ph type="title"/>
          </p:nvPr>
        </p:nvSpPr>
        <p:spPr/>
        <p:txBody>
          <a:bodyPr>
            <a:normAutofit/>
          </a:bodyPr>
          <a:lstStyle/>
          <a:p>
            <a:pPr lvl="0"/>
            <a:r>
              <a:rPr lang="fr-FR" dirty="0"/>
              <a:t>2.4. Mise en œuvre</a:t>
            </a:r>
          </a:p>
        </p:txBody>
      </p:sp>
      <p:sp>
        <p:nvSpPr>
          <p:cNvPr id="10" name="ZoneTexte 9"/>
          <p:cNvSpPr txBox="1"/>
          <p:nvPr/>
        </p:nvSpPr>
        <p:spPr>
          <a:xfrm>
            <a:off x="251520" y="1412776"/>
            <a:ext cx="8463884" cy="3434786"/>
          </a:xfrm>
          <a:prstGeom prst="rect">
            <a:avLst/>
          </a:prstGeom>
          <a:noFill/>
        </p:spPr>
        <p:txBody>
          <a:bodyPr wrap="square" rtlCol="0">
            <a:spAutoFit/>
          </a:bodyPr>
          <a:lstStyle/>
          <a:p>
            <a:pPr marL="274320" indent="-274320" algn="just">
              <a:spcBef>
                <a:spcPct val="20000"/>
              </a:spcBef>
              <a:buClr>
                <a:schemeClr val="accent1"/>
              </a:buClr>
              <a:buSzPct val="85000"/>
            </a:pPr>
            <a:r>
              <a:rPr lang="fr-FR" sz="2400" dirty="0">
                <a:solidFill>
                  <a:schemeClr val="accent4">
                    <a:lumMod val="75000"/>
                  </a:schemeClr>
                </a:solidFill>
              </a:rPr>
              <a:t>2.4.2. Mesures de similarité ou de distance</a:t>
            </a:r>
          </a:p>
          <a:p>
            <a:pPr marL="274320" indent="-274320" algn="just">
              <a:spcBef>
                <a:spcPct val="20000"/>
              </a:spcBef>
              <a:buClr>
                <a:schemeClr val="accent1"/>
              </a:buClr>
              <a:buSzPct val="85000"/>
              <a:buFont typeface="Arial" pitchFamily="34" charset="0"/>
              <a:buChar char="•"/>
            </a:pPr>
            <a:r>
              <a:rPr lang="fr-FR" sz="2200" dirty="0">
                <a:solidFill>
                  <a:schemeClr val="accent1"/>
                </a:solidFill>
              </a:rPr>
              <a:t>Similarité </a:t>
            </a:r>
            <a:r>
              <a:rPr lang="fr-FR" sz="2200" dirty="0"/>
              <a:t>sur un ensemble d’objets </a:t>
            </a:r>
          </a:p>
          <a:p>
            <a:pPr marL="731520" lvl="1" indent="-274320" algn="just">
              <a:spcBef>
                <a:spcPct val="20000"/>
              </a:spcBef>
              <a:buClr>
                <a:schemeClr val="accent1"/>
              </a:buClr>
              <a:buSzPct val="85000"/>
              <a:buFont typeface="Wingdings 2"/>
              <a:buChar char=""/>
            </a:pPr>
            <a:r>
              <a:rPr lang="fr-FR" sz="2000" dirty="0">
                <a:sym typeface="Symbol"/>
              </a:rPr>
              <a:t>Maximale: s(</a:t>
            </a:r>
            <a:r>
              <a:rPr lang="fr-FR" sz="2000" dirty="0" err="1">
                <a:sym typeface="Symbol"/>
              </a:rPr>
              <a:t>a,a</a:t>
            </a:r>
            <a:r>
              <a:rPr lang="fr-FR" sz="2000" dirty="0">
                <a:sym typeface="Symbol"/>
              </a:rPr>
              <a:t>)s(</a:t>
            </a:r>
            <a:r>
              <a:rPr lang="fr-FR" sz="2000" dirty="0" err="1">
                <a:sym typeface="Symbol"/>
              </a:rPr>
              <a:t>a,b</a:t>
            </a:r>
            <a:r>
              <a:rPr lang="fr-FR" sz="2000" dirty="0">
                <a:sym typeface="Symbol"/>
              </a:rPr>
              <a:t>)</a:t>
            </a:r>
          </a:p>
          <a:p>
            <a:pPr marL="731520" lvl="1" indent="-274320" algn="just">
              <a:spcBef>
                <a:spcPct val="20000"/>
              </a:spcBef>
              <a:buClr>
                <a:schemeClr val="accent1"/>
              </a:buClr>
              <a:buSzPct val="85000"/>
              <a:buFont typeface="Wingdings 2"/>
              <a:buChar char=""/>
            </a:pPr>
            <a:r>
              <a:rPr lang="fr-FR" sz="2000" dirty="0">
                <a:sym typeface="Symbol"/>
              </a:rPr>
              <a:t>Symétrique: s(</a:t>
            </a:r>
            <a:r>
              <a:rPr lang="fr-FR" sz="2000" dirty="0" err="1">
                <a:sym typeface="Symbol"/>
              </a:rPr>
              <a:t>a,b</a:t>
            </a:r>
            <a:r>
              <a:rPr lang="fr-FR" sz="2000" dirty="0">
                <a:sym typeface="Symbol"/>
              </a:rPr>
              <a:t>)=s(</a:t>
            </a:r>
            <a:r>
              <a:rPr lang="fr-FR" sz="2000" dirty="0" err="1">
                <a:sym typeface="Symbol"/>
              </a:rPr>
              <a:t>b,a</a:t>
            </a:r>
            <a:r>
              <a:rPr lang="fr-FR" sz="2000" dirty="0">
                <a:sym typeface="Symbol"/>
              </a:rPr>
              <a:t>)</a:t>
            </a:r>
          </a:p>
          <a:p>
            <a:pPr marL="274320" indent="-274320" algn="just">
              <a:spcBef>
                <a:spcPct val="20000"/>
              </a:spcBef>
              <a:buClr>
                <a:schemeClr val="accent1"/>
              </a:buClr>
              <a:buSzPct val="85000"/>
              <a:buFont typeface="Arial" pitchFamily="34" charset="0"/>
              <a:buChar char="•"/>
            </a:pPr>
            <a:r>
              <a:rPr lang="fr-FR" sz="2200" dirty="0">
                <a:solidFill>
                  <a:schemeClr val="accent1"/>
                </a:solidFill>
              </a:rPr>
              <a:t>Distance (dis-similarité, éloignement)</a:t>
            </a:r>
            <a:r>
              <a:rPr lang="fr-FR" sz="2200" dirty="0"/>
              <a:t>: opération inverse </a:t>
            </a:r>
          </a:p>
          <a:p>
            <a:pPr marL="731520" lvl="1" indent="-274320" algn="just">
              <a:spcBef>
                <a:spcPct val="20000"/>
              </a:spcBef>
              <a:buClr>
                <a:schemeClr val="accent1"/>
              </a:buClr>
              <a:buSzPct val="85000"/>
              <a:buFont typeface="Wingdings 2"/>
              <a:buChar char=""/>
            </a:pPr>
            <a:r>
              <a:rPr lang="fr-FR" sz="2000" dirty="0">
                <a:sym typeface="Symbol"/>
              </a:rPr>
              <a:t>d(</a:t>
            </a:r>
            <a:r>
              <a:rPr lang="fr-FR" sz="2000" dirty="0" err="1">
                <a:sym typeface="Symbol"/>
              </a:rPr>
              <a:t>a,a</a:t>
            </a:r>
            <a:r>
              <a:rPr lang="fr-FR" sz="2000" dirty="0">
                <a:sym typeface="Symbol"/>
              </a:rPr>
              <a:t>)=d(</a:t>
            </a:r>
            <a:r>
              <a:rPr lang="fr-FR" sz="2000" dirty="0" err="1">
                <a:sym typeface="Symbol"/>
              </a:rPr>
              <a:t>b,b</a:t>
            </a:r>
            <a:r>
              <a:rPr lang="fr-FR" sz="2000" dirty="0">
                <a:sym typeface="Symbol"/>
              </a:rPr>
              <a:t>)</a:t>
            </a:r>
          </a:p>
          <a:p>
            <a:pPr marL="731520" lvl="1" indent="-274320" algn="just">
              <a:spcBef>
                <a:spcPct val="20000"/>
              </a:spcBef>
              <a:buClr>
                <a:schemeClr val="accent1"/>
              </a:buClr>
              <a:buSzPct val="85000"/>
              <a:buFont typeface="Wingdings 2"/>
              <a:buChar char=""/>
            </a:pPr>
            <a:r>
              <a:rPr lang="fr-FR" sz="2000" dirty="0">
                <a:sym typeface="Symbol"/>
              </a:rPr>
              <a:t>d(</a:t>
            </a:r>
            <a:r>
              <a:rPr lang="fr-FR" sz="2000" dirty="0" err="1">
                <a:sym typeface="Symbol"/>
              </a:rPr>
              <a:t>a,b</a:t>
            </a:r>
            <a:r>
              <a:rPr lang="fr-FR" sz="2000" dirty="0">
                <a:sym typeface="Symbol"/>
              </a:rPr>
              <a:t>)=d(</a:t>
            </a:r>
            <a:r>
              <a:rPr lang="fr-FR" sz="2000" dirty="0" err="1">
                <a:sym typeface="Symbol"/>
              </a:rPr>
              <a:t>b,a</a:t>
            </a:r>
            <a:r>
              <a:rPr lang="fr-FR" sz="2000" dirty="0">
                <a:sym typeface="Symbol"/>
              </a:rPr>
              <a:t>)</a:t>
            </a:r>
            <a:endParaRPr lang="fr-FR" sz="2000" dirty="0"/>
          </a:p>
          <a:p>
            <a:pPr marL="731520" lvl="1" indent="-274320" algn="just">
              <a:spcBef>
                <a:spcPct val="20000"/>
              </a:spcBef>
              <a:buClr>
                <a:schemeClr val="accent1"/>
              </a:buClr>
              <a:buSzPct val="85000"/>
              <a:buFont typeface="Wingdings 2"/>
              <a:buChar char=""/>
            </a:pPr>
            <a:endParaRPr lang="fr-FR" sz="2000" dirty="0"/>
          </a:p>
          <a:p>
            <a:endParaRPr lang="fr-FR" dirty="0"/>
          </a:p>
        </p:txBody>
      </p:sp>
    </p:spTree>
    <p:extLst>
      <p:ext uri="{BB962C8B-B14F-4D97-AF65-F5344CB8AC3E}">
        <p14:creationId xmlns:p14="http://schemas.microsoft.com/office/powerpoint/2010/main" val="2317628708"/>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Résultat de recherche d'images pour &quot;matrice de distance&quot;"/>
          <p:cNvPicPr>
            <a:picLocks noChangeAspect="1" noChangeArrowheads="1"/>
          </p:cNvPicPr>
          <p:nvPr/>
        </p:nvPicPr>
        <p:blipFill>
          <a:blip r:embed="rId2" cstate="print"/>
          <a:srcRect/>
          <a:stretch>
            <a:fillRect/>
          </a:stretch>
        </p:blipFill>
        <p:spPr bwMode="auto">
          <a:xfrm>
            <a:off x="4429124" y="4000504"/>
            <a:ext cx="4477681" cy="2357454"/>
          </a:xfrm>
          <a:prstGeom prst="rect">
            <a:avLst/>
          </a:prstGeom>
          <a:noFill/>
        </p:spPr>
      </p:pic>
      <p:sp>
        <p:nvSpPr>
          <p:cNvPr id="3" name="Espace réservé du contenu 2"/>
          <p:cNvSpPr>
            <a:spLocks noGrp="1"/>
          </p:cNvSpPr>
          <p:nvPr>
            <p:ph idx="1"/>
          </p:nvPr>
        </p:nvSpPr>
        <p:spPr>
          <a:xfrm>
            <a:off x="214282" y="1428736"/>
            <a:ext cx="8638706" cy="3888431"/>
          </a:xfrm>
        </p:spPr>
        <p:txBody>
          <a:bodyPr>
            <a:normAutofit/>
          </a:bodyPr>
          <a:lstStyle/>
          <a:p>
            <a:pPr algn="just">
              <a:buNone/>
            </a:pPr>
            <a:r>
              <a:rPr lang="fr-FR" sz="2400" dirty="0">
                <a:solidFill>
                  <a:schemeClr val="accent4">
                    <a:lumMod val="75000"/>
                  </a:schemeClr>
                </a:solidFill>
              </a:rPr>
              <a:t>2.4.2. Mesures de similarité ou de distance</a:t>
            </a:r>
          </a:p>
          <a:p>
            <a:pPr algn="just"/>
            <a:r>
              <a:rPr lang="fr-FR" sz="2200" dirty="0"/>
              <a:t>On peut associer à chaque nuage d’individus une matrice                                                                        dite </a:t>
            </a:r>
            <a:r>
              <a:rPr lang="fr-FR" sz="2200" dirty="0">
                <a:solidFill>
                  <a:srgbClr val="C00000"/>
                </a:solidFill>
              </a:rPr>
              <a:t>matrice des distances :</a:t>
            </a:r>
          </a:p>
          <a:p>
            <a:pPr lvl="1" algn="just"/>
            <a:r>
              <a:rPr lang="fr-FR" sz="2000" dirty="0"/>
              <a:t>à </a:t>
            </a:r>
            <a:r>
              <a:rPr lang="fr-FR" sz="2000" dirty="0">
                <a:solidFill>
                  <a:srgbClr val="C00000"/>
                </a:solidFill>
              </a:rPr>
              <a:t>n</a:t>
            </a:r>
            <a:r>
              <a:rPr lang="fr-FR" sz="2000" dirty="0"/>
              <a:t> lignes et </a:t>
            </a:r>
            <a:r>
              <a:rPr lang="fr-FR" sz="2000" dirty="0">
                <a:solidFill>
                  <a:srgbClr val="C00000"/>
                </a:solidFill>
              </a:rPr>
              <a:t>n</a:t>
            </a:r>
            <a:r>
              <a:rPr lang="fr-FR" sz="2000" dirty="0"/>
              <a:t> colonnes</a:t>
            </a:r>
          </a:p>
          <a:p>
            <a:pPr lvl="1" algn="just"/>
            <a:r>
              <a:rPr lang="fr-FR" sz="2000" i="1" dirty="0"/>
              <a:t>D=(</a:t>
            </a:r>
            <a:r>
              <a:rPr lang="fr-FR" sz="2000" i="1" dirty="0" err="1"/>
              <a:t>d</a:t>
            </a:r>
            <a:r>
              <a:rPr lang="fr-FR" sz="2000" i="1" baseline="-25000" dirty="0" err="1"/>
              <a:t>ij</a:t>
            </a:r>
            <a:r>
              <a:rPr lang="fr-FR" sz="2000" i="1" dirty="0"/>
              <a:t>)</a:t>
            </a:r>
            <a:r>
              <a:rPr lang="fr-FR" sz="2000" i="1" baseline="-25000" dirty="0"/>
              <a:t>0≤i≤n</a:t>
            </a:r>
            <a:r>
              <a:rPr lang="fr-FR" sz="2000" i="1" dirty="0"/>
              <a:t>=d</a:t>
            </a:r>
            <a:r>
              <a:rPr lang="fr-FR" sz="2000" i="1" baseline="-25000" dirty="0"/>
              <a:t>2</a:t>
            </a:r>
            <a:r>
              <a:rPr lang="fr-FR" sz="2000" i="1" dirty="0"/>
              <a:t>(</a:t>
            </a:r>
            <a:r>
              <a:rPr lang="fr-FR" sz="2000" i="1" dirty="0" err="1"/>
              <a:t>M</a:t>
            </a:r>
            <a:r>
              <a:rPr lang="fr-FR" sz="2000" i="1" baseline="-25000" dirty="0" err="1"/>
              <a:t>i</a:t>
            </a:r>
            <a:r>
              <a:rPr lang="fr-FR" sz="2000" i="1" dirty="0" err="1"/>
              <a:t>,M</a:t>
            </a:r>
            <a:r>
              <a:rPr lang="fr-FR" sz="2000" i="1" baseline="-25000" dirty="0" err="1"/>
              <a:t>j</a:t>
            </a:r>
            <a:r>
              <a:rPr lang="fr-FR" sz="2000" i="1" dirty="0"/>
              <a:t>) </a:t>
            </a:r>
          </a:p>
          <a:p>
            <a:pPr lvl="1" algn="just"/>
            <a:r>
              <a:rPr lang="fr-FR" sz="2000" dirty="0"/>
              <a:t>à coefficients positifs</a:t>
            </a:r>
            <a:r>
              <a:rPr lang="fr-FR" sz="2000" i="1" dirty="0"/>
              <a:t>, </a:t>
            </a:r>
            <a:r>
              <a:rPr lang="fr-FR" sz="2000" dirty="0"/>
              <a:t>symétrique et nulle </a:t>
            </a:r>
          </a:p>
          <a:p>
            <a:pPr lvl="1" algn="just">
              <a:buNone/>
            </a:pPr>
            <a:r>
              <a:rPr lang="fr-FR" sz="2000" dirty="0"/>
              <a:t>(puisque d</a:t>
            </a:r>
            <a:r>
              <a:rPr lang="fr-FR" sz="2000" baseline="-25000" dirty="0"/>
              <a:t>2</a:t>
            </a:r>
            <a:r>
              <a:rPr lang="fr-FR" sz="2000" dirty="0"/>
              <a:t>(M</a:t>
            </a:r>
            <a:r>
              <a:rPr lang="fr-FR" sz="2000" baseline="-25000" dirty="0"/>
              <a:t>i</a:t>
            </a:r>
            <a:r>
              <a:rPr lang="fr-FR" sz="2000" dirty="0"/>
              <a:t>, M</a:t>
            </a:r>
            <a:r>
              <a:rPr lang="fr-FR" sz="2000" baseline="-25000" dirty="0"/>
              <a:t>i</a:t>
            </a:r>
            <a:r>
              <a:rPr lang="fr-FR" sz="2000" dirty="0"/>
              <a:t>)=0) sur la diagonale</a:t>
            </a:r>
            <a:endParaRPr lang="fr-FR" sz="24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41</a:t>
            </a:fld>
            <a:endParaRPr lang="fr-FR"/>
          </a:p>
        </p:txBody>
      </p:sp>
      <p:sp>
        <p:nvSpPr>
          <p:cNvPr id="12" name="Titre 11"/>
          <p:cNvSpPr>
            <a:spLocks noGrp="1"/>
          </p:cNvSpPr>
          <p:nvPr>
            <p:ph type="title"/>
          </p:nvPr>
        </p:nvSpPr>
        <p:spPr/>
        <p:txBody>
          <a:bodyPr>
            <a:normAutofit/>
          </a:bodyPr>
          <a:lstStyle/>
          <a:p>
            <a:pPr lvl="0"/>
            <a:r>
              <a:rPr lang="fr-FR" dirty="0"/>
              <a:t>2.4. Mise en œuvre</a:t>
            </a:r>
          </a:p>
        </p:txBody>
      </p:sp>
    </p:spTree>
    <p:extLst>
      <p:ext uri="{BB962C8B-B14F-4D97-AF65-F5344CB8AC3E}">
        <p14:creationId xmlns:p14="http://schemas.microsoft.com/office/powerpoint/2010/main" val="3299439286"/>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4282" y="1285860"/>
            <a:ext cx="8643212" cy="5214974"/>
          </a:xfrm>
        </p:spPr>
        <p:txBody>
          <a:bodyPr>
            <a:noAutofit/>
          </a:bodyPr>
          <a:lstStyle/>
          <a:p>
            <a:pPr algn="just">
              <a:buNone/>
            </a:pPr>
            <a:r>
              <a:rPr lang="fr-FR" sz="2400" dirty="0">
                <a:solidFill>
                  <a:schemeClr val="accent4">
                    <a:lumMod val="75000"/>
                  </a:schemeClr>
                </a:solidFill>
              </a:rPr>
              <a:t>2.4.2. Mesures de similarité ou de distance</a:t>
            </a:r>
          </a:p>
          <a:p>
            <a:pPr algn="just"/>
            <a:r>
              <a:rPr lang="fr-FR" sz="2000" dirty="0"/>
              <a:t>On examine l’ensemble des informations concernant les individus</a:t>
            </a:r>
          </a:p>
          <a:p>
            <a:pPr lvl="1" algn="just"/>
            <a:r>
              <a:rPr lang="fr-FR" sz="1500" dirty="0"/>
              <a:t>Exemple:  Pression artérielle, température, taux de métabolisme, notées </a:t>
            </a:r>
            <a:r>
              <a:rPr lang="fr-FR" sz="1500" dirty="0">
                <a:solidFill>
                  <a:srgbClr val="0070C0"/>
                </a:solidFill>
              </a:rPr>
              <a:t>(X</a:t>
            </a:r>
            <a:r>
              <a:rPr lang="fr-FR" sz="1500" baseline="-25000" dirty="0">
                <a:solidFill>
                  <a:srgbClr val="0070C0"/>
                </a:solidFill>
              </a:rPr>
              <a:t>i</a:t>
            </a:r>
            <a:r>
              <a:rPr lang="fr-FR" sz="1500" dirty="0">
                <a:solidFill>
                  <a:srgbClr val="0070C0"/>
                </a:solidFill>
              </a:rPr>
              <a:t>, Y</a:t>
            </a:r>
            <a:r>
              <a:rPr lang="fr-FR" sz="1500" baseline="-25000" dirty="0">
                <a:solidFill>
                  <a:srgbClr val="0070C0"/>
                </a:solidFill>
              </a:rPr>
              <a:t>i</a:t>
            </a:r>
            <a:r>
              <a:rPr lang="fr-FR" sz="1500" dirty="0">
                <a:solidFill>
                  <a:srgbClr val="0070C0"/>
                </a:solidFill>
              </a:rPr>
              <a:t>,…, Z</a:t>
            </a:r>
            <a:r>
              <a:rPr lang="fr-FR" sz="1500" baseline="-25000" dirty="0">
                <a:solidFill>
                  <a:srgbClr val="0070C0"/>
                </a:solidFill>
              </a:rPr>
              <a:t>n</a:t>
            </a:r>
            <a:r>
              <a:rPr lang="fr-FR" sz="1500" dirty="0">
                <a:solidFill>
                  <a:srgbClr val="0070C0"/>
                </a:solidFill>
              </a:rPr>
              <a:t>)</a:t>
            </a:r>
            <a:r>
              <a:rPr lang="fr-FR" sz="1500" dirty="0"/>
              <a:t>  de l’espace et on imagine que chaque individu est un point M</a:t>
            </a:r>
            <a:r>
              <a:rPr lang="fr-FR" sz="1500" baseline="-25000" dirty="0"/>
              <a:t>i </a:t>
            </a:r>
            <a:r>
              <a:rPr lang="fr-FR" sz="1500" dirty="0"/>
              <a:t>=</a:t>
            </a:r>
            <a:r>
              <a:rPr lang="fr-FR" sz="1500" dirty="0">
                <a:solidFill>
                  <a:srgbClr val="0070C0"/>
                </a:solidFill>
              </a:rPr>
              <a:t> (X</a:t>
            </a:r>
            <a:r>
              <a:rPr lang="fr-FR" sz="1500" baseline="-25000" dirty="0">
                <a:solidFill>
                  <a:srgbClr val="0070C0"/>
                </a:solidFill>
              </a:rPr>
              <a:t>i</a:t>
            </a:r>
            <a:r>
              <a:rPr lang="fr-FR" sz="1500" dirty="0">
                <a:solidFill>
                  <a:srgbClr val="0070C0"/>
                </a:solidFill>
              </a:rPr>
              <a:t>, Y</a:t>
            </a:r>
            <a:r>
              <a:rPr lang="fr-FR" sz="1500" baseline="-25000" dirty="0">
                <a:solidFill>
                  <a:srgbClr val="0070C0"/>
                </a:solidFill>
              </a:rPr>
              <a:t>i</a:t>
            </a:r>
            <a:r>
              <a:rPr lang="fr-FR" sz="1500" dirty="0">
                <a:solidFill>
                  <a:srgbClr val="0070C0"/>
                </a:solidFill>
              </a:rPr>
              <a:t>,…, Z</a:t>
            </a:r>
            <a:r>
              <a:rPr lang="fr-FR" sz="1500" baseline="-25000" dirty="0">
                <a:solidFill>
                  <a:srgbClr val="0070C0"/>
                </a:solidFill>
              </a:rPr>
              <a:t>n</a:t>
            </a:r>
            <a:r>
              <a:rPr lang="fr-FR" sz="1500" dirty="0">
                <a:solidFill>
                  <a:srgbClr val="0070C0"/>
                </a:solidFill>
              </a:rPr>
              <a:t>)</a:t>
            </a:r>
            <a:r>
              <a:rPr lang="fr-FR" sz="1500" dirty="0"/>
              <a:t> de l’espace.</a:t>
            </a:r>
          </a:p>
          <a:p>
            <a:pPr algn="just"/>
            <a:r>
              <a:rPr lang="fr-FR" sz="2000" dirty="0"/>
              <a:t>S’il n’y a que deux variables relevées </a:t>
            </a:r>
            <a:r>
              <a:rPr lang="fr-FR" sz="2000" dirty="0">
                <a:solidFill>
                  <a:srgbClr val="C00000"/>
                </a:solidFill>
              </a:rPr>
              <a:t>(X</a:t>
            </a:r>
            <a:r>
              <a:rPr lang="fr-FR" sz="2000" baseline="-25000" dirty="0">
                <a:solidFill>
                  <a:srgbClr val="C00000"/>
                </a:solidFill>
              </a:rPr>
              <a:t>i</a:t>
            </a:r>
            <a:r>
              <a:rPr lang="fr-FR" sz="2000" dirty="0">
                <a:solidFill>
                  <a:srgbClr val="C00000"/>
                </a:solidFill>
              </a:rPr>
              <a:t>, Y</a:t>
            </a:r>
            <a:r>
              <a:rPr lang="fr-FR" sz="2000" baseline="-25000" dirty="0">
                <a:solidFill>
                  <a:srgbClr val="C00000"/>
                </a:solidFill>
              </a:rPr>
              <a:t>i</a:t>
            </a:r>
            <a:r>
              <a:rPr lang="fr-FR" sz="2000" dirty="0">
                <a:solidFill>
                  <a:srgbClr val="C00000"/>
                </a:solidFill>
              </a:rPr>
              <a:t>) </a:t>
            </a:r>
            <a:r>
              <a:rPr lang="fr-FR" sz="2000" dirty="0"/>
              <a:t>on obtient ainsi un nuage de points dans le plan </a:t>
            </a:r>
            <a:r>
              <a:rPr lang="fr-FR" sz="2000" dirty="0">
                <a:solidFill>
                  <a:srgbClr val="C00000"/>
                </a:solidFill>
              </a:rPr>
              <a:t>Γ={M</a:t>
            </a:r>
            <a:r>
              <a:rPr lang="fr-FR" sz="2000" baseline="-25000" dirty="0">
                <a:solidFill>
                  <a:srgbClr val="C00000"/>
                </a:solidFill>
              </a:rPr>
              <a:t>i , i=1,...,n</a:t>
            </a:r>
            <a:r>
              <a:rPr lang="fr-FR" sz="2000" dirty="0">
                <a:solidFill>
                  <a:srgbClr val="C00000"/>
                </a:solidFill>
              </a:rPr>
              <a:t>}  </a:t>
            </a:r>
            <a:r>
              <a:rPr lang="fr-FR" sz="2000" dirty="0"/>
              <a:t>où </a:t>
            </a:r>
            <a:r>
              <a:rPr lang="fr-FR" sz="2000" dirty="0">
                <a:solidFill>
                  <a:srgbClr val="C00000"/>
                </a:solidFill>
              </a:rPr>
              <a:t>n</a:t>
            </a:r>
            <a:r>
              <a:rPr lang="fr-FR" sz="2000" dirty="0">
                <a:solidFill>
                  <a:srgbClr val="0070C0"/>
                </a:solidFill>
              </a:rPr>
              <a:t> </a:t>
            </a:r>
            <a:r>
              <a:rPr lang="fr-FR" sz="2000" dirty="0"/>
              <a:t>est l’effectif total de la population.</a:t>
            </a:r>
          </a:p>
          <a:p>
            <a:pPr algn="just"/>
            <a:endParaRPr lang="fr-FR" sz="2000" dirty="0"/>
          </a:p>
          <a:p>
            <a:pPr algn="just"/>
            <a:endParaRPr lang="fr-FR" sz="2000" dirty="0"/>
          </a:p>
          <a:p>
            <a:pPr algn="just"/>
            <a:endParaRPr lang="fr-FR" sz="2000" dirty="0"/>
          </a:p>
          <a:p>
            <a:pPr algn="just">
              <a:spcBef>
                <a:spcPts val="1800"/>
              </a:spcBef>
            </a:pPr>
            <a:endParaRPr lang="fr-FR" sz="2000" dirty="0"/>
          </a:p>
          <a:p>
            <a:pPr algn="just"/>
            <a:r>
              <a:rPr lang="fr-FR" sz="2000" dirty="0"/>
              <a:t>La distance euclidienne de deux individus </a:t>
            </a:r>
            <a:r>
              <a:rPr lang="fr-FR" sz="2000" dirty="0">
                <a:solidFill>
                  <a:srgbClr val="C00000"/>
                </a:solidFill>
              </a:rPr>
              <a:t>M</a:t>
            </a:r>
            <a:r>
              <a:rPr lang="fr-FR" sz="2000" baseline="-25000" dirty="0">
                <a:solidFill>
                  <a:srgbClr val="C00000"/>
                </a:solidFill>
              </a:rPr>
              <a:t>i</a:t>
            </a:r>
            <a:r>
              <a:rPr lang="fr-FR" sz="2000" dirty="0"/>
              <a:t> et </a:t>
            </a:r>
            <a:r>
              <a:rPr lang="fr-FR" sz="2000" dirty="0" err="1">
                <a:solidFill>
                  <a:srgbClr val="C00000"/>
                </a:solidFill>
              </a:rPr>
              <a:t>M</a:t>
            </a:r>
            <a:r>
              <a:rPr lang="fr-FR" sz="2000" baseline="-25000" dirty="0" err="1">
                <a:solidFill>
                  <a:srgbClr val="C00000"/>
                </a:solidFill>
              </a:rPr>
              <a:t>j</a:t>
            </a:r>
            <a:r>
              <a:rPr lang="fr-FR" sz="2000" dirty="0"/>
              <a:t> est par définition:</a:t>
            </a:r>
          </a:p>
          <a:p>
            <a:pPr marL="274320" lvl="1" algn="just">
              <a:buClr>
                <a:schemeClr val="accent1"/>
              </a:buClr>
              <a:buSzPct val="85000"/>
              <a:buFont typeface="Wingdings 2"/>
              <a:buChar char=""/>
            </a:pPr>
            <a:endParaRPr lang="fr-FR" sz="1500" dirty="0"/>
          </a:p>
          <a:p>
            <a:pPr marL="274320" lvl="1" algn="just">
              <a:buClr>
                <a:schemeClr val="accent1"/>
              </a:buClr>
              <a:buSzPct val="85000"/>
              <a:buFont typeface="Wingdings 2"/>
              <a:buChar char=""/>
            </a:pPr>
            <a:endParaRPr lang="fr-FR" sz="1500" dirty="0"/>
          </a:p>
          <a:p>
            <a:pPr marL="274320" lvl="1" algn="just">
              <a:buClr>
                <a:schemeClr val="accent1"/>
              </a:buClr>
              <a:buSzPct val="85000"/>
              <a:buFont typeface="Wingdings 2"/>
              <a:buChar char=""/>
            </a:pPr>
            <a:r>
              <a:rPr lang="fr-FR" sz="2000" dirty="0">
                <a:solidFill>
                  <a:schemeClr val="tx1"/>
                </a:solidFill>
              </a:rPr>
              <a:t>Le choix d'une mesure dépend du type des attributs (numériques, binaires, etc.). </a:t>
            </a:r>
          </a:p>
          <a:p>
            <a:pPr algn="just"/>
            <a:endParaRPr lang="fr-FR" sz="2000" dirty="0"/>
          </a:p>
          <a:p>
            <a:pPr algn="just"/>
            <a:endParaRPr lang="fr-FR" sz="2000" dirty="0"/>
          </a:p>
          <a:p>
            <a:pPr algn="just"/>
            <a:endParaRPr lang="fr-FR" sz="2000" dirty="0"/>
          </a:p>
          <a:p>
            <a:pPr algn="just">
              <a:buNone/>
            </a:pPr>
            <a:endParaRPr lang="fr-FR" sz="2000" dirty="0"/>
          </a:p>
          <a:p>
            <a:pPr algn="just"/>
            <a:endParaRPr lang="fr-FR" sz="2000" dirty="0"/>
          </a:p>
          <a:p>
            <a:pPr algn="just"/>
            <a:endParaRPr lang="fr-FR" sz="2000" dirty="0"/>
          </a:p>
          <a:p>
            <a:pPr algn="just">
              <a:buNone/>
            </a:pPr>
            <a:endParaRPr lang="fr-FR" sz="2000" dirty="0"/>
          </a:p>
          <a:p>
            <a:pPr algn="just"/>
            <a:endParaRPr lang="fr-FR" sz="2000" dirty="0"/>
          </a:p>
          <a:p>
            <a:pPr algn="just"/>
            <a:endParaRPr lang="fr-FR" sz="2000" dirty="0"/>
          </a:p>
        </p:txBody>
      </p:sp>
      <p:pic>
        <p:nvPicPr>
          <p:cNvPr id="54275" name="Picture 3" descr="Résultat de recherche d'images pour &quot;classification à deux variables&quot;"/>
          <p:cNvPicPr>
            <a:picLocks noChangeAspect="1" noChangeArrowheads="1"/>
          </p:cNvPicPr>
          <p:nvPr/>
        </p:nvPicPr>
        <p:blipFill>
          <a:blip r:embed="rId4" cstate="print"/>
          <a:srcRect/>
          <a:stretch>
            <a:fillRect/>
          </a:stretch>
        </p:blipFill>
        <p:spPr bwMode="auto">
          <a:xfrm>
            <a:off x="2857488" y="3286124"/>
            <a:ext cx="2809875" cy="1628776"/>
          </a:xfrm>
          <a:prstGeom prst="rect">
            <a:avLst/>
          </a:prstGeom>
          <a:noFill/>
        </p:spPr>
      </p:pic>
      <p:sp>
        <p:nvSpPr>
          <p:cNvPr id="5" name="Espace réservé du pied de page 4"/>
          <p:cNvSpPr>
            <a:spLocks noGrp="1"/>
          </p:cNvSpPr>
          <p:nvPr>
            <p:ph type="ftr" sz="quarter" idx="11"/>
          </p:nvPr>
        </p:nvSpPr>
        <p:spPr>
          <a:xfrm>
            <a:off x="179512" y="6381328"/>
            <a:ext cx="3581400" cy="365760"/>
          </a:xfrm>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42</a:t>
            </a:fld>
            <a:endParaRPr lang="fr-FR" dirty="0"/>
          </a:p>
        </p:txBody>
      </p:sp>
      <p:sp>
        <p:nvSpPr>
          <p:cNvPr id="9" name="Titre 8"/>
          <p:cNvSpPr>
            <a:spLocks noGrp="1"/>
          </p:cNvSpPr>
          <p:nvPr>
            <p:ph type="title"/>
          </p:nvPr>
        </p:nvSpPr>
        <p:spPr/>
        <p:txBody>
          <a:bodyPr/>
          <a:lstStyle/>
          <a:p>
            <a:r>
              <a:rPr lang="fr-FR" dirty="0"/>
              <a:t>2.4. Mise en œuvre</a:t>
            </a:r>
          </a:p>
        </p:txBody>
      </p:sp>
      <p:graphicFrame>
        <p:nvGraphicFramePr>
          <p:cNvPr id="8" name="Objet 7"/>
          <p:cNvGraphicFramePr>
            <a:graphicFrameLocks noChangeAspect="1"/>
          </p:cNvGraphicFramePr>
          <p:nvPr/>
        </p:nvGraphicFramePr>
        <p:xfrm>
          <a:off x="2428860" y="5286388"/>
          <a:ext cx="4104456" cy="643836"/>
        </p:xfrm>
        <a:graphic>
          <a:graphicData uri="http://schemas.openxmlformats.org/presentationml/2006/ole">
            <mc:AlternateContent xmlns:mc="http://schemas.openxmlformats.org/markup-compatibility/2006">
              <mc:Choice xmlns:v="urn:schemas-microsoft-com:vml" Requires="v">
                <p:oleObj spid="_x0000_s218159" name="Équation" r:id="rId5" imgW="53644800" imgH="7315200" progId="Equation.3">
                  <p:embed/>
                </p:oleObj>
              </mc:Choice>
              <mc:Fallback>
                <p:oleObj name="Équation" r:id="rId5" imgW="53644800" imgH="73152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8860" y="5286388"/>
                        <a:ext cx="4104456" cy="6438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99252255"/>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43</a:t>
            </a:fld>
            <a:endParaRPr lang="fr-FR"/>
          </a:p>
        </p:txBody>
      </p:sp>
      <p:pic>
        <p:nvPicPr>
          <p:cNvPr id="65538" name="Picture 2"/>
          <p:cNvPicPr>
            <a:picLocks noChangeAspect="1" noChangeArrowheads="1"/>
          </p:cNvPicPr>
          <p:nvPr/>
        </p:nvPicPr>
        <p:blipFill>
          <a:blip r:embed="rId4" cstate="print"/>
          <a:srcRect/>
          <a:stretch>
            <a:fillRect/>
          </a:stretch>
        </p:blipFill>
        <p:spPr bwMode="auto">
          <a:xfrm>
            <a:off x="714348" y="2000240"/>
            <a:ext cx="6840065" cy="4236090"/>
          </a:xfrm>
          <a:prstGeom prst="rect">
            <a:avLst/>
          </a:prstGeom>
          <a:noFill/>
          <a:ln w="9525">
            <a:noFill/>
            <a:miter lim="800000"/>
            <a:headEnd/>
            <a:tailEnd/>
          </a:ln>
        </p:spPr>
      </p:pic>
      <p:sp>
        <p:nvSpPr>
          <p:cNvPr id="11"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55297" name="Picture 1"/>
          <p:cNvPicPr>
            <a:picLocks noChangeAspect="1" noChangeArrowheads="1"/>
          </p:cNvPicPr>
          <p:nvPr/>
        </p:nvPicPr>
        <p:blipFill>
          <a:blip r:embed="rId5" cstate="print"/>
          <a:srcRect/>
          <a:stretch>
            <a:fillRect/>
          </a:stretch>
        </p:blipFill>
        <p:spPr bwMode="auto">
          <a:xfrm>
            <a:off x="6372200" y="3212976"/>
            <a:ext cx="2304256" cy="1008112"/>
          </a:xfrm>
          <a:prstGeom prst="rect">
            <a:avLst/>
          </a:prstGeom>
          <a:noFill/>
          <a:ln w="9525">
            <a:noFill/>
            <a:miter lim="800000"/>
            <a:headEnd/>
            <a:tailEnd/>
          </a:ln>
        </p:spPr>
      </p:pic>
      <p:sp>
        <p:nvSpPr>
          <p:cNvPr id="10" name="Titre 9"/>
          <p:cNvSpPr>
            <a:spLocks noGrp="1"/>
          </p:cNvSpPr>
          <p:nvPr>
            <p:ph type="title"/>
          </p:nvPr>
        </p:nvSpPr>
        <p:spPr/>
        <p:txBody>
          <a:bodyPr/>
          <a:lstStyle/>
          <a:p>
            <a:r>
              <a:rPr lang="fr-FR" dirty="0"/>
              <a:t>2.4. Mise en œuvre</a:t>
            </a:r>
          </a:p>
        </p:txBody>
      </p:sp>
      <p:graphicFrame>
        <p:nvGraphicFramePr>
          <p:cNvPr id="52225" name="Object 1"/>
          <p:cNvGraphicFramePr>
            <a:graphicFrameLocks noChangeAspect="1"/>
          </p:cNvGraphicFramePr>
          <p:nvPr/>
        </p:nvGraphicFramePr>
        <p:xfrm>
          <a:off x="4499992" y="4221088"/>
          <a:ext cx="2376264" cy="827867"/>
        </p:xfrm>
        <a:graphic>
          <a:graphicData uri="http://schemas.openxmlformats.org/presentationml/2006/ole">
            <mc:AlternateContent xmlns:mc="http://schemas.openxmlformats.org/markup-compatibility/2006">
              <mc:Choice xmlns:v="urn:schemas-microsoft-com:vml" Requires="v">
                <p:oleObj spid="_x0000_s219232" r:id="rId6" imgW="29565600" imgH="10363200" progId="">
                  <p:embed/>
                </p:oleObj>
              </mc:Choice>
              <mc:Fallback>
                <p:oleObj r:id="rId6" imgW="29565600" imgH="10363200" progId="">
                  <p:embed/>
                  <p:pic>
                    <p:nvPicPr>
                      <p:cNvPr id="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9992" y="4221088"/>
                        <a:ext cx="2376264" cy="8278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6" name="Object 2"/>
          <p:cNvGraphicFramePr>
            <a:graphicFrameLocks noChangeAspect="1"/>
          </p:cNvGraphicFramePr>
          <p:nvPr/>
        </p:nvGraphicFramePr>
        <p:xfrm>
          <a:off x="6084168" y="4509120"/>
          <a:ext cx="2808312" cy="923759"/>
        </p:xfrm>
        <a:graphic>
          <a:graphicData uri="http://schemas.openxmlformats.org/presentationml/2006/ole">
            <mc:AlternateContent xmlns:mc="http://schemas.openxmlformats.org/markup-compatibility/2006">
              <mc:Choice xmlns:v="urn:schemas-microsoft-com:vml" Requires="v">
                <p:oleObj spid="_x0000_s219233" r:id="rId8" imgW="35356800" imgH="11582400" progId="">
                  <p:embed/>
                </p:oleObj>
              </mc:Choice>
              <mc:Fallback>
                <p:oleObj r:id="rId8" imgW="35356800" imgH="11582400" progId="">
                  <p:embed/>
                  <p:pic>
                    <p:nvPicPr>
                      <p:cNvPr id="0"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168" y="4509120"/>
                        <a:ext cx="2808312" cy="9237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p:nvPr/>
        </p:nvSpPr>
        <p:spPr>
          <a:xfrm>
            <a:off x="232577" y="1196752"/>
            <a:ext cx="5982497" cy="830997"/>
          </a:xfrm>
          <a:prstGeom prst="rect">
            <a:avLst/>
          </a:prstGeom>
        </p:spPr>
        <p:txBody>
          <a:bodyPr wrap="square">
            <a:spAutoFit/>
          </a:bodyPr>
          <a:lstStyle/>
          <a:p>
            <a:pPr algn="just"/>
            <a:r>
              <a:rPr lang="fr-FR" sz="2400" dirty="0">
                <a:solidFill>
                  <a:schemeClr val="accent4">
                    <a:lumMod val="75000"/>
                  </a:schemeClr>
                </a:solidFill>
              </a:rPr>
              <a:t>2.4.2. Mesures de similarité ou de distance</a:t>
            </a:r>
          </a:p>
          <a:p>
            <a:pPr algn="just">
              <a:buClr>
                <a:srgbClr val="C00000"/>
              </a:buClr>
              <a:buFont typeface="Arial" pitchFamily="34" charset="0"/>
              <a:buChar char="•"/>
            </a:pPr>
            <a:r>
              <a:rPr lang="fr-CA" sz="2400" dirty="0"/>
              <a:t> Données numériques</a:t>
            </a:r>
          </a:p>
        </p:txBody>
      </p:sp>
    </p:spTree>
    <p:extLst>
      <p:ext uri="{BB962C8B-B14F-4D97-AF65-F5344CB8AC3E}">
        <p14:creationId xmlns:p14="http://schemas.microsoft.com/office/powerpoint/2010/main" val="534377176"/>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2.4. Mise en œuvre</a:t>
            </a: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44</a:t>
            </a:fld>
            <a:endParaRPr lang="fr-FR"/>
          </a:p>
        </p:txBody>
      </p:sp>
      <p:sp>
        <p:nvSpPr>
          <p:cNvPr id="5" name="Espace réservé du contenu 4"/>
          <p:cNvSpPr>
            <a:spLocks noGrp="1"/>
          </p:cNvSpPr>
          <p:nvPr>
            <p:ph sz="quarter" idx="1"/>
          </p:nvPr>
        </p:nvSpPr>
        <p:spPr/>
        <p:txBody>
          <a:bodyPr>
            <a:normAutofit/>
          </a:bodyPr>
          <a:lstStyle/>
          <a:p>
            <a:pPr algn="just"/>
            <a:r>
              <a:rPr lang="fr-FR" sz="2400" dirty="0">
                <a:solidFill>
                  <a:schemeClr val="accent4">
                    <a:lumMod val="75000"/>
                  </a:schemeClr>
                </a:solidFill>
              </a:rPr>
              <a:t>2.4.2. Mesures de similarité ou de distance</a:t>
            </a:r>
          </a:p>
          <a:p>
            <a:pPr algn="just">
              <a:buClr>
                <a:srgbClr val="C00000"/>
              </a:buClr>
              <a:buFont typeface="Arial" pitchFamily="34" charset="0"/>
              <a:buChar char="•"/>
            </a:pPr>
            <a:r>
              <a:rPr lang="fr-CA" sz="2400" dirty="0"/>
              <a:t> Données numériques</a:t>
            </a:r>
          </a:p>
          <a:p>
            <a:pPr lvl="1" algn="just"/>
            <a:r>
              <a:rPr lang="fr-CA" sz="1900" dirty="0"/>
              <a:t>La distance euclidienne : le type de distance le plus couramment utilisé. Il s'agit d'une distance géométrique dans un espace multidimensionnel.</a:t>
            </a:r>
          </a:p>
          <a:p>
            <a:pPr lvl="1" algn="just"/>
            <a:r>
              <a:rPr lang="fr-FR" sz="1900" dirty="0"/>
              <a:t>Distance Euclidienne au carré : Permet de "</a:t>
            </a:r>
            <a:r>
              <a:rPr lang="fr-FR" sz="1900" dirty="0" err="1"/>
              <a:t>sur-pondérer</a:t>
            </a:r>
            <a:r>
              <a:rPr lang="fr-FR" sz="1900" dirty="0"/>
              <a:t>" les objets atypiques (éloignés), en élevant la distance euclidienne au carré.</a:t>
            </a:r>
            <a:endParaRPr lang="fr-CA" sz="1900" dirty="0"/>
          </a:p>
          <a:p>
            <a:pPr lvl="1" algn="just"/>
            <a:r>
              <a:rPr lang="fr-WINDIES" sz="1900" dirty="0"/>
              <a:t>La distance du City-block (Manhattan) : cette distance est simplement la somme des différences entre les dimensions.</a:t>
            </a:r>
            <a:endParaRPr lang="fr-FR" sz="1900" dirty="0"/>
          </a:p>
          <a:p>
            <a:endParaRPr lang="fr-FR" dirty="0"/>
          </a:p>
        </p:txBody>
      </p:sp>
    </p:spTree>
    <p:extLst>
      <p:ext uri="{BB962C8B-B14F-4D97-AF65-F5344CB8AC3E}">
        <p14:creationId xmlns:p14="http://schemas.microsoft.com/office/powerpoint/2010/main" val="1933461547"/>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45</a:t>
            </a:fld>
            <a:endParaRPr lang="fr-FR"/>
          </a:p>
        </p:txBody>
      </p:sp>
      <p:sp>
        <p:nvSpPr>
          <p:cNvPr id="12"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57351" name="Picture 7"/>
          <p:cNvPicPr>
            <a:picLocks noChangeAspect="1" noChangeArrowheads="1"/>
          </p:cNvPicPr>
          <p:nvPr/>
        </p:nvPicPr>
        <p:blipFill>
          <a:blip r:embed="rId2" cstate="print"/>
          <a:srcRect/>
          <a:stretch>
            <a:fillRect/>
          </a:stretch>
        </p:blipFill>
        <p:spPr bwMode="auto">
          <a:xfrm>
            <a:off x="1285852" y="3429000"/>
            <a:ext cx="7304288" cy="2346697"/>
          </a:xfrm>
          <a:prstGeom prst="rect">
            <a:avLst/>
          </a:prstGeom>
          <a:noFill/>
          <a:ln w="9525">
            <a:noFill/>
            <a:miter lim="800000"/>
            <a:headEnd/>
            <a:tailEnd/>
          </a:ln>
        </p:spPr>
      </p:pic>
      <p:sp>
        <p:nvSpPr>
          <p:cNvPr id="20"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1"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2"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Titre 9"/>
          <p:cNvSpPr>
            <a:spLocks noGrp="1"/>
          </p:cNvSpPr>
          <p:nvPr>
            <p:ph type="title"/>
          </p:nvPr>
        </p:nvSpPr>
        <p:spPr>
          <a:xfrm>
            <a:off x="301752" y="228600"/>
            <a:ext cx="8534400" cy="758952"/>
          </a:xfrm>
        </p:spPr>
        <p:txBody>
          <a:bodyPr/>
          <a:lstStyle/>
          <a:p>
            <a:r>
              <a:rPr lang="fr-FR" dirty="0"/>
              <a:t>2.4. Mise en œuvre</a:t>
            </a:r>
          </a:p>
        </p:txBody>
      </p:sp>
      <p:sp>
        <p:nvSpPr>
          <p:cNvPr id="18" name="Rectangle 17"/>
          <p:cNvSpPr/>
          <p:nvPr/>
        </p:nvSpPr>
        <p:spPr>
          <a:xfrm>
            <a:off x="232577" y="1414283"/>
            <a:ext cx="8515887" cy="2092881"/>
          </a:xfrm>
          <a:prstGeom prst="rect">
            <a:avLst/>
          </a:prstGeom>
        </p:spPr>
        <p:txBody>
          <a:bodyPr wrap="square">
            <a:spAutoFit/>
          </a:bodyPr>
          <a:lstStyle/>
          <a:p>
            <a:pPr algn="just"/>
            <a:r>
              <a:rPr lang="fr-FR" sz="2400" dirty="0">
                <a:solidFill>
                  <a:schemeClr val="accent4">
                    <a:lumMod val="75000"/>
                  </a:schemeClr>
                </a:solidFill>
              </a:rPr>
              <a:t>2.4.2. Mesures de similarité ou de distance</a:t>
            </a:r>
          </a:p>
          <a:p>
            <a:pPr algn="just">
              <a:buClr>
                <a:srgbClr val="C00000"/>
              </a:buClr>
              <a:buFont typeface="Arial" pitchFamily="34" charset="0"/>
              <a:buChar char="•"/>
            </a:pPr>
            <a:r>
              <a:rPr lang="fr-CA" sz="2400" dirty="0"/>
              <a:t> Données binaires</a:t>
            </a:r>
          </a:p>
          <a:p>
            <a:pPr lvl="1" algn="just">
              <a:buClr>
                <a:srgbClr val="C00000"/>
              </a:buClr>
              <a:buFont typeface="Courier New" pitchFamily="49" charset="0"/>
              <a:buChar char="o"/>
            </a:pPr>
            <a:r>
              <a:rPr lang="fr-CA" sz="2000" dirty="0">
                <a:solidFill>
                  <a:srgbClr val="0070C0"/>
                </a:solidFill>
              </a:rPr>
              <a:t> </a:t>
            </a:r>
            <a:r>
              <a:rPr lang="fr-CA" sz="2000" dirty="0">
                <a:solidFill>
                  <a:srgbClr val="C00000"/>
                </a:solidFill>
              </a:rPr>
              <a:t>La distance de </a:t>
            </a:r>
            <a:r>
              <a:rPr lang="fr-CA" sz="2000" dirty="0" err="1">
                <a:solidFill>
                  <a:srgbClr val="C00000"/>
                </a:solidFill>
              </a:rPr>
              <a:t>Hamming</a:t>
            </a:r>
            <a:r>
              <a:rPr lang="fr-CA" sz="2000" dirty="0">
                <a:solidFill>
                  <a:srgbClr val="C00000"/>
                </a:solidFill>
              </a:rPr>
              <a:t> </a:t>
            </a:r>
            <a:r>
              <a:rPr lang="fr-CA" sz="2000" dirty="0"/>
              <a:t>calcule le nombre d’éléments différents dans les vecteurs binaires.</a:t>
            </a:r>
          </a:p>
          <a:p>
            <a:pPr marL="1005840" lvl="2" indent="-274320" algn="just">
              <a:spcBef>
                <a:spcPct val="20000"/>
              </a:spcBef>
              <a:buClr>
                <a:schemeClr val="accent2"/>
              </a:buClr>
              <a:buSzPct val="70000"/>
              <a:buFont typeface="Wingdings"/>
              <a:buChar char=""/>
            </a:pPr>
            <a:r>
              <a:rPr lang="fr-CA" sz="1500" u="sng" dirty="0">
                <a:solidFill>
                  <a:schemeClr val="tx2"/>
                </a:solidFill>
              </a:rPr>
              <a:t>Exemple:</a:t>
            </a:r>
            <a:endParaRPr lang="fr-FR" sz="1500" u="sng" dirty="0">
              <a:solidFill>
                <a:schemeClr val="tx2"/>
              </a:solidFill>
            </a:endParaRPr>
          </a:p>
          <a:p>
            <a:pPr algn="just">
              <a:buNone/>
            </a:pPr>
            <a:endParaRPr lang="fr-CA" sz="2400" dirty="0">
              <a:solidFill>
                <a:schemeClr val="accent5">
                  <a:lumMod val="75000"/>
                </a:schemeClr>
              </a:solidFill>
            </a:endParaRPr>
          </a:p>
        </p:txBody>
      </p:sp>
    </p:spTree>
    <p:extLst>
      <p:ext uri="{BB962C8B-B14F-4D97-AF65-F5344CB8AC3E}">
        <p14:creationId xmlns:p14="http://schemas.microsoft.com/office/powerpoint/2010/main" val="2973896194"/>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8520" y="1628800"/>
            <a:ext cx="8783960" cy="5040560"/>
          </a:xfrm>
        </p:spPr>
        <p:txBody>
          <a:bodyPr>
            <a:normAutofit fontScale="92500" lnSpcReduction="10000"/>
          </a:bodyPr>
          <a:lstStyle/>
          <a:p>
            <a:pPr algn="just">
              <a:buNone/>
            </a:pPr>
            <a:r>
              <a:rPr lang="fr-FR" sz="2400" dirty="0">
                <a:solidFill>
                  <a:schemeClr val="accent4">
                    <a:lumMod val="75000"/>
                  </a:schemeClr>
                </a:solidFill>
              </a:rPr>
              <a:t>2.4.2. Mesures de similarité ou de distance</a:t>
            </a:r>
          </a:p>
          <a:p>
            <a:pPr algn="just">
              <a:buClr>
                <a:srgbClr val="C00000"/>
              </a:buClr>
              <a:buFont typeface="Arial" pitchFamily="34" charset="0"/>
              <a:buChar char="•"/>
            </a:pPr>
            <a:r>
              <a:rPr lang="fr-CA" sz="2400" dirty="0"/>
              <a:t>Données binaires :</a:t>
            </a:r>
          </a:p>
          <a:p>
            <a:pPr marL="548640" lvl="2" algn="just">
              <a:buClr>
                <a:schemeClr val="accent1"/>
              </a:buClr>
              <a:buSzPct val="85000"/>
              <a:buFont typeface="Courier New" pitchFamily="49" charset="0"/>
              <a:buChar char="o"/>
            </a:pPr>
            <a:r>
              <a:rPr lang="fr-FR" sz="1800" dirty="0">
                <a:solidFill>
                  <a:srgbClr val="C00000"/>
                </a:solidFill>
              </a:rPr>
              <a:t>Indices de dis-similarité </a:t>
            </a:r>
          </a:p>
          <a:p>
            <a:pPr lvl="2" algn="just"/>
            <a:r>
              <a:rPr lang="fr-FR" sz="1800" dirty="0"/>
              <a:t>déduits des indices de similarité (ou di similitude) </a:t>
            </a:r>
          </a:p>
          <a:p>
            <a:pPr lvl="2" algn="just"/>
            <a:r>
              <a:rPr lang="fr-FR" sz="1800" dirty="0"/>
              <a:t>combinent de diverses manières quatre nombres associés à un couple d’individus. </a:t>
            </a:r>
          </a:p>
          <a:p>
            <a:pPr marL="548640" lvl="2" algn="just">
              <a:buClr>
                <a:schemeClr val="accent1"/>
              </a:buClr>
              <a:buSzPct val="85000"/>
              <a:buFont typeface="Courier New" pitchFamily="49" charset="0"/>
              <a:buChar char="o"/>
            </a:pPr>
            <a:r>
              <a:rPr lang="fr-FR" sz="1800" dirty="0">
                <a:solidFill>
                  <a:schemeClr val="tx1"/>
                </a:solidFill>
              </a:rPr>
              <a:t>X</a:t>
            </a:r>
            <a:r>
              <a:rPr lang="fr-FR" sz="1800" baseline="-25000" dirty="0">
                <a:solidFill>
                  <a:schemeClr val="tx1"/>
                </a:solidFill>
              </a:rPr>
              <a:t>1</a:t>
            </a:r>
            <a:r>
              <a:rPr lang="fr-FR" sz="1800" dirty="0">
                <a:solidFill>
                  <a:schemeClr val="tx1"/>
                </a:solidFill>
              </a:rPr>
              <a:t> et X</a:t>
            </a:r>
            <a:r>
              <a:rPr lang="fr-FR" sz="1800" baseline="-25000" dirty="0">
                <a:solidFill>
                  <a:schemeClr val="tx1"/>
                </a:solidFill>
              </a:rPr>
              <a:t>2</a:t>
            </a:r>
            <a:r>
              <a:rPr lang="fr-FR" sz="1800" dirty="0">
                <a:solidFill>
                  <a:schemeClr val="tx1"/>
                </a:solidFill>
              </a:rPr>
              <a:t> deux vecteurs binaires : La similarité entre ces vecteurs se calcule sur la base des valeurs suivantes :</a:t>
            </a:r>
          </a:p>
          <a:p>
            <a:pPr lvl="2" algn="just"/>
            <a:r>
              <a:rPr lang="fr-FR" sz="1900" dirty="0">
                <a:solidFill>
                  <a:schemeClr val="tx1"/>
                </a:solidFill>
              </a:rPr>
              <a:t>a=nombre de caractéristiques communes   </a:t>
            </a:r>
          </a:p>
          <a:p>
            <a:pPr lvl="3" algn="just"/>
            <a:r>
              <a:rPr lang="fr-FR" sz="1900" dirty="0">
                <a:solidFill>
                  <a:schemeClr val="tx1"/>
                </a:solidFill>
              </a:rPr>
              <a:t>le nombre de fois où </a:t>
            </a:r>
            <a:r>
              <a:rPr lang="fr-FR" sz="1900" dirty="0">
                <a:solidFill>
                  <a:srgbClr val="C00000"/>
                </a:solidFill>
              </a:rPr>
              <a:t>X</a:t>
            </a:r>
            <a:r>
              <a:rPr lang="fr-FR" sz="1900" baseline="-25000" dirty="0">
                <a:solidFill>
                  <a:srgbClr val="C00000"/>
                </a:solidFill>
              </a:rPr>
              <a:t>1j</a:t>
            </a:r>
            <a:r>
              <a:rPr lang="fr-FR" sz="1900" dirty="0">
                <a:solidFill>
                  <a:srgbClr val="C00000"/>
                </a:solidFill>
              </a:rPr>
              <a:t> = X</a:t>
            </a:r>
            <a:r>
              <a:rPr lang="fr-FR" sz="1900" baseline="-25000" dirty="0">
                <a:solidFill>
                  <a:srgbClr val="C00000"/>
                </a:solidFill>
              </a:rPr>
              <a:t>2j</a:t>
            </a:r>
            <a:r>
              <a:rPr lang="fr-FR" sz="1900" dirty="0">
                <a:solidFill>
                  <a:srgbClr val="C00000"/>
                </a:solidFill>
              </a:rPr>
              <a:t> = 1</a:t>
            </a:r>
          </a:p>
          <a:p>
            <a:pPr lvl="2" algn="just"/>
            <a:r>
              <a:rPr lang="fr-FR" sz="1900" dirty="0">
                <a:solidFill>
                  <a:schemeClr val="tx1"/>
                </a:solidFill>
              </a:rPr>
              <a:t>b = nombre de caractéristiques possédées par X</a:t>
            </a:r>
            <a:r>
              <a:rPr lang="fr-FR" sz="1900" baseline="-25000" dirty="0">
                <a:solidFill>
                  <a:schemeClr val="tx1"/>
                </a:solidFill>
              </a:rPr>
              <a:t>1</a:t>
            </a:r>
            <a:r>
              <a:rPr lang="fr-FR" sz="1900" dirty="0">
                <a:solidFill>
                  <a:schemeClr val="tx1"/>
                </a:solidFill>
              </a:rPr>
              <a:t> et pas par X</a:t>
            </a:r>
            <a:r>
              <a:rPr lang="fr-FR" sz="1900" baseline="-25000" dirty="0">
                <a:solidFill>
                  <a:schemeClr val="tx1"/>
                </a:solidFill>
              </a:rPr>
              <a:t>2</a:t>
            </a:r>
            <a:r>
              <a:rPr lang="fr-FR" sz="1900" dirty="0">
                <a:solidFill>
                  <a:schemeClr val="tx1"/>
                </a:solidFill>
              </a:rPr>
              <a:t> </a:t>
            </a:r>
          </a:p>
          <a:p>
            <a:pPr lvl="3" algn="just"/>
            <a:r>
              <a:rPr lang="fr-FR" sz="1900" dirty="0">
                <a:solidFill>
                  <a:srgbClr val="C00000"/>
                </a:solidFill>
              </a:rPr>
              <a:t>X</a:t>
            </a:r>
            <a:r>
              <a:rPr lang="fr-FR" sz="1900" baseline="-25000" dirty="0">
                <a:solidFill>
                  <a:srgbClr val="C00000"/>
                </a:solidFill>
              </a:rPr>
              <a:t>1j</a:t>
            </a:r>
            <a:r>
              <a:rPr lang="fr-FR" sz="1900" dirty="0">
                <a:solidFill>
                  <a:srgbClr val="C00000"/>
                </a:solidFill>
              </a:rPr>
              <a:t> = 1 et X</a:t>
            </a:r>
            <a:r>
              <a:rPr lang="fr-FR" sz="1900" baseline="-25000" dirty="0">
                <a:solidFill>
                  <a:srgbClr val="C00000"/>
                </a:solidFill>
              </a:rPr>
              <a:t>2j</a:t>
            </a:r>
            <a:r>
              <a:rPr lang="fr-FR" sz="1900" dirty="0">
                <a:solidFill>
                  <a:srgbClr val="C00000"/>
                </a:solidFill>
              </a:rPr>
              <a:t> = 0</a:t>
            </a:r>
          </a:p>
          <a:p>
            <a:pPr lvl="2" algn="just"/>
            <a:r>
              <a:rPr lang="fr-FR" sz="1900" dirty="0">
                <a:solidFill>
                  <a:schemeClr val="tx1"/>
                </a:solidFill>
              </a:rPr>
              <a:t>c = nombre de caractéristiques possédées par X</a:t>
            </a:r>
            <a:r>
              <a:rPr lang="fr-FR" sz="1900" baseline="-25000" dirty="0">
                <a:solidFill>
                  <a:schemeClr val="tx1"/>
                </a:solidFill>
              </a:rPr>
              <a:t>2</a:t>
            </a:r>
            <a:r>
              <a:rPr lang="fr-FR" sz="1900" dirty="0">
                <a:solidFill>
                  <a:schemeClr val="tx1"/>
                </a:solidFill>
              </a:rPr>
              <a:t> et pas par X</a:t>
            </a:r>
            <a:r>
              <a:rPr lang="fr-FR" sz="1900" baseline="-25000" dirty="0">
                <a:solidFill>
                  <a:schemeClr val="tx1"/>
                </a:solidFill>
              </a:rPr>
              <a:t>1</a:t>
            </a:r>
            <a:r>
              <a:rPr lang="fr-FR" sz="1900" dirty="0">
                <a:solidFill>
                  <a:schemeClr val="tx1"/>
                </a:solidFill>
              </a:rPr>
              <a:t> </a:t>
            </a:r>
          </a:p>
          <a:p>
            <a:pPr lvl="3" algn="just"/>
            <a:r>
              <a:rPr lang="fr-FR" sz="1900" dirty="0">
                <a:solidFill>
                  <a:srgbClr val="C00000"/>
                </a:solidFill>
              </a:rPr>
              <a:t>X</a:t>
            </a:r>
            <a:r>
              <a:rPr lang="fr-FR" sz="1900" baseline="-25000" dirty="0">
                <a:solidFill>
                  <a:srgbClr val="C00000"/>
                </a:solidFill>
              </a:rPr>
              <a:t>1j</a:t>
            </a:r>
            <a:r>
              <a:rPr lang="fr-FR" sz="1900" dirty="0">
                <a:solidFill>
                  <a:srgbClr val="C00000"/>
                </a:solidFill>
              </a:rPr>
              <a:t> = 0 et X</a:t>
            </a:r>
            <a:r>
              <a:rPr lang="fr-FR" sz="1900" baseline="-25000" dirty="0">
                <a:solidFill>
                  <a:srgbClr val="C00000"/>
                </a:solidFill>
              </a:rPr>
              <a:t>2j</a:t>
            </a:r>
            <a:r>
              <a:rPr lang="fr-FR" sz="1900" dirty="0">
                <a:solidFill>
                  <a:srgbClr val="C00000"/>
                </a:solidFill>
              </a:rPr>
              <a:t> = 1 </a:t>
            </a:r>
          </a:p>
          <a:p>
            <a:pPr lvl="2" algn="just"/>
            <a:r>
              <a:rPr lang="fr-FR" sz="1900" dirty="0">
                <a:solidFill>
                  <a:schemeClr val="tx1"/>
                </a:solidFill>
              </a:rPr>
              <a:t>d = nombre de caractéristiques que ne possèdent ni X</a:t>
            </a:r>
            <a:r>
              <a:rPr lang="fr-FR" sz="1900" baseline="-25000" dirty="0">
                <a:solidFill>
                  <a:schemeClr val="tx1"/>
                </a:solidFill>
              </a:rPr>
              <a:t>1</a:t>
            </a:r>
            <a:r>
              <a:rPr lang="fr-FR" sz="1900" dirty="0">
                <a:solidFill>
                  <a:schemeClr val="tx1"/>
                </a:solidFill>
              </a:rPr>
              <a:t>, ni X</a:t>
            </a:r>
            <a:r>
              <a:rPr lang="fr-FR" sz="1900" baseline="-25000" dirty="0">
                <a:solidFill>
                  <a:schemeClr val="tx1"/>
                </a:solidFill>
              </a:rPr>
              <a:t>2 </a:t>
            </a:r>
          </a:p>
          <a:p>
            <a:pPr lvl="3" algn="just"/>
            <a:r>
              <a:rPr lang="fr-FR" sz="1900" dirty="0">
                <a:solidFill>
                  <a:schemeClr val="tx1"/>
                </a:solidFill>
              </a:rPr>
              <a:t>X</a:t>
            </a:r>
            <a:r>
              <a:rPr lang="fr-FR" sz="1900" baseline="-25000" dirty="0">
                <a:solidFill>
                  <a:srgbClr val="C00000"/>
                </a:solidFill>
              </a:rPr>
              <a:t>1j</a:t>
            </a:r>
            <a:r>
              <a:rPr lang="fr-FR" sz="1900" dirty="0">
                <a:solidFill>
                  <a:srgbClr val="C00000"/>
                </a:solidFill>
              </a:rPr>
              <a:t> = 0 et X</a:t>
            </a:r>
            <a:r>
              <a:rPr lang="fr-FR" sz="1900" baseline="-25000" dirty="0">
                <a:solidFill>
                  <a:srgbClr val="C00000"/>
                </a:solidFill>
              </a:rPr>
              <a:t>2j</a:t>
            </a:r>
            <a:r>
              <a:rPr lang="fr-FR" sz="1900" dirty="0">
                <a:solidFill>
                  <a:srgbClr val="C00000"/>
                </a:solidFill>
              </a:rPr>
              <a:t> = 0</a:t>
            </a:r>
          </a:p>
          <a:p>
            <a:pPr algn="just"/>
            <a:endParaRPr lang="fr-FR" sz="28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46</a:t>
            </a:fld>
            <a:endParaRPr lang="fr-FR"/>
          </a:p>
        </p:txBody>
      </p:sp>
      <p:sp>
        <p:nvSpPr>
          <p:cNvPr id="12"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1174543097"/>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ChangeAspect="1" noChangeArrowheads="1"/>
          </p:cNvPicPr>
          <p:nvPr/>
        </p:nvPicPr>
        <p:blipFill>
          <a:blip r:embed="rId2" cstate="print"/>
          <a:srcRect/>
          <a:stretch>
            <a:fillRect/>
          </a:stretch>
        </p:blipFill>
        <p:spPr bwMode="auto">
          <a:xfrm>
            <a:off x="3357554" y="2609528"/>
            <a:ext cx="3597407" cy="4248472"/>
          </a:xfrm>
          <a:prstGeom prst="rect">
            <a:avLst/>
          </a:prstGeom>
          <a:noFill/>
          <a:ln w="9525">
            <a:noFill/>
            <a:miter lim="800000"/>
            <a:headEnd/>
            <a:tailEnd/>
          </a:ln>
        </p:spPr>
      </p:pic>
      <p:sp>
        <p:nvSpPr>
          <p:cNvPr id="3" name="Espace réservé du contenu 2"/>
          <p:cNvSpPr>
            <a:spLocks noGrp="1"/>
          </p:cNvSpPr>
          <p:nvPr>
            <p:ph idx="1"/>
          </p:nvPr>
        </p:nvSpPr>
        <p:spPr>
          <a:xfrm>
            <a:off x="288032" y="1357298"/>
            <a:ext cx="8713124" cy="1643074"/>
          </a:xfrm>
        </p:spPr>
        <p:txBody>
          <a:bodyPr>
            <a:normAutofit fontScale="77500" lnSpcReduction="20000"/>
          </a:bodyPr>
          <a:lstStyle/>
          <a:p>
            <a:pPr algn="just">
              <a:lnSpc>
                <a:spcPct val="110000"/>
              </a:lnSpc>
              <a:buNone/>
            </a:pPr>
            <a:r>
              <a:rPr lang="fr-FR" sz="3100" dirty="0">
                <a:solidFill>
                  <a:schemeClr val="accent4">
                    <a:lumMod val="75000"/>
                  </a:schemeClr>
                </a:solidFill>
              </a:rPr>
              <a:t>2.4.2. Mesures de similarité ou de distance</a:t>
            </a:r>
          </a:p>
          <a:p>
            <a:pPr algn="just">
              <a:lnSpc>
                <a:spcPct val="120000"/>
              </a:lnSpc>
              <a:buClr>
                <a:srgbClr val="C00000"/>
              </a:buClr>
              <a:buFont typeface="Arial" pitchFamily="34" charset="0"/>
              <a:buChar char="•"/>
            </a:pPr>
            <a:r>
              <a:rPr lang="fr-CA" sz="2800" dirty="0"/>
              <a:t>Données binaires : </a:t>
            </a:r>
          </a:p>
          <a:p>
            <a:pPr algn="just">
              <a:lnSpc>
                <a:spcPct val="120000"/>
              </a:lnSpc>
              <a:spcBef>
                <a:spcPts val="0"/>
              </a:spcBef>
              <a:buClr>
                <a:srgbClr val="C00000"/>
              </a:buClr>
              <a:buNone/>
            </a:pPr>
            <a:r>
              <a:rPr lang="fr-CA" sz="3500" dirty="0"/>
              <a:t>	</a:t>
            </a:r>
            <a:r>
              <a:rPr lang="fr-FR" sz="2400" dirty="0"/>
              <a:t>Les indices compris entre 0 et 1 sont aisément transformables en dis-similarité par complémentation à 1. </a:t>
            </a:r>
            <a:endParaRPr lang="fr-FR" sz="2600" dirty="0"/>
          </a:p>
          <a:p>
            <a:pPr algn="just"/>
            <a:endParaRPr lang="fr-FR" sz="32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47</a:t>
            </a:fld>
            <a:endParaRPr lang="fr-FR"/>
          </a:p>
        </p:txBody>
      </p:sp>
      <p:sp>
        <p:nvSpPr>
          <p:cNvPr id="11"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1"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958975919"/>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48</a:t>
            </a:fld>
            <a:endParaRPr lang="fr-FR"/>
          </a:p>
        </p:txBody>
      </p:sp>
      <p:sp>
        <p:nvSpPr>
          <p:cNvPr id="8" name="ZoneTexte 7"/>
          <p:cNvSpPr txBox="1"/>
          <p:nvPr/>
        </p:nvSpPr>
        <p:spPr>
          <a:xfrm>
            <a:off x="1907704" y="3155484"/>
            <a:ext cx="576064" cy="1569660"/>
          </a:xfrm>
          <a:prstGeom prst="rect">
            <a:avLst/>
          </a:prstGeom>
          <a:noFill/>
        </p:spPr>
        <p:txBody>
          <a:bodyPr wrap="square" rtlCol="0">
            <a:spAutoFit/>
          </a:bodyPr>
          <a:lstStyle/>
          <a:p>
            <a:r>
              <a:rPr lang="fr-FR" sz="2400" b="1" dirty="0">
                <a:solidFill>
                  <a:schemeClr val="bg1">
                    <a:lumMod val="50000"/>
                  </a:schemeClr>
                </a:solidFill>
              </a:rPr>
              <a:t>a:</a:t>
            </a:r>
          </a:p>
          <a:p>
            <a:r>
              <a:rPr lang="fr-FR" sz="2400" b="1" dirty="0">
                <a:solidFill>
                  <a:schemeClr val="bg1">
                    <a:lumMod val="50000"/>
                  </a:schemeClr>
                </a:solidFill>
              </a:rPr>
              <a:t>d:</a:t>
            </a:r>
          </a:p>
          <a:p>
            <a:r>
              <a:rPr lang="fr-FR" sz="2400" b="1" dirty="0">
                <a:solidFill>
                  <a:schemeClr val="bg1">
                    <a:lumMod val="50000"/>
                  </a:schemeClr>
                </a:solidFill>
              </a:rPr>
              <a:t>c:</a:t>
            </a:r>
          </a:p>
          <a:p>
            <a:r>
              <a:rPr lang="fr-FR" sz="2400" b="1" dirty="0">
                <a:solidFill>
                  <a:schemeClr val="bg1">
                    <a:lumMod val="50000"/>
                  </a:schemeClr>
                </a:solidFill>
              </a:rPr>
              <a:t>b:</a:t>
            </a:r>
          </a:p>
        </p:txBody>
      </p:sp>
      <p:sp>
        <p:nvSpPr>
          <p:cNvPr id="12"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62465" name="Picture 1"/>
          <p:cNvPicPr>
            <a:picLocks noChangeAspect="1" noChangeArrowheads="1"/>
          </p:cNvPicPr>
          <p:nvPr/>
        </p:nvPicPr>
        <p:blipFill>
          <a:blip r:embed="rId3" cstate="print"/>
          <a:srcRect/>
          <a:stretch>
            <a:fillRect/>
          </a:stretch>
        </p:blipFill>
        <p:spPr bwMode="auto">
          <a:xfrm>
            <a:off x="2714612" y="2357430"/>
            <a:ext cx="2981325" cy="3581400"/>
          </a:xfrm>
          <a:prstGeom prst="rect">
            <a:avLst/>
          </a:prstGeom>
          <a:noFill/>
          <a:ln w="9525">
            <a:noFill/>
            <a:miter lim="800000"/>
            <a:headEnd/>
            <a:tailEnd/>
          </a:ln>
        </p:spPr>
      </p:pic>
      <p:sp>
        <p:nvSpPr>
          <p:cNvPr id="21" name="Titre 9"/>
          <p:cNvSpPr>
            <a:spLocks noGrp="1"/>
          </p:cNvSpPr>
          <p:nvPr>
            <p:ph type="title"/>
          </p:nvPr>
        </p:nvSpPr>
        <p:spPr>
          <a:xfrm>
            <a:off x="301752" y="228600"/>
            <a:ext cx="8534400" cy="758952"/>
          </a:xfrm>
        </p:spPr>
        <p:txBody>
          <a:bodyPr/>
          <a:lstStyle/>
          <a:p>
            <a:r>
              <a:rPr lang="fr-FR" dirty="0"/>
              <a:t>2.4. Mise en œuvre</a:t>
            </a:r>
          </a:p>
        </p:txBody>
      </p:sp>
      <p:sp>
        <p:nvSpPr>
          <p:cNvPr id="20" name="ZoneTexte 19"/>
          <p:cNvSpPr txBox="1"/>
          <p:nvPr/>
        </p:nvSpPr>
        <p:spPr>
          <a:xfrm>
            <a:off x="285720" y="1571612"/>
            <a:ext cx="6000792" cy="1077218"/>
          </a:xfrm>
          <a:prstGeom prst="rect">
            <a:avLst/>
          </a:prstGeom>
          <a:noFill/>
        </p:spPr>
        <p:txBody>
          <a:bodyPr wrap="square" rtlCol="0">
            <a:spAutoFit/>
          </a:bodyPr>
          <a:lstStyle/>
          <a:p>
            <a:pPr algn="just">
              <a:buNone/>
            </a:pPr>
            <a:r>
              <a:rPr lang="fr-FR" sz="2400" dirty="0">
                <a:solidFill>
                  <a:schemeClr val="accent4">
                    <a:lumMod val="75000"/>
                  </a:schemeClr>
                </a:solidFill>
              </a:rPr>
              <a:t>2.4.2. Mesures de similarité ou de distance</a:t>
            </a:r>
          </a:p>
          <a:p>
            <a:pPr algn="just">
              <a:buClr>
                <a:srgbClr val="C00000"/>
              </a:buClr>
              <a:buFont typeface="Arial" pitchFamily="34" charset="0"/>
              <a:buChar char="•"/>
            </a:pPr>
            <a:r>
              <a:rPr lang="fr-CA" sz="2000" dirty="0"/>
              <a:t> Données binaires :</a:t>
            </a:r>
          </a:p>
          <a:p>
            <a:pPr lvl="1">
              <a:buFont typeface="Courier New" pitchFamily="49" charset="0"/>
              <a:buChar char="o"/>
            </a:pPr>
            <a:r>
              <a:rPr lang="fr-FR" sz="2000" u="sng" dirty="0"/>
              <a:t> Exemple:</a:t>
            </a:r>
            <a:endParaRPr lang="fr-FR" u="sng" dirty="0"/>
          </a:p>
        </p:txBody>
      </p:sp>
      <p:graphicFrame>
        <p:nvGraphicFramePr>
          <p:cNvPr id="23" name="Objet 22"/>
          <p:cNvGraphicFramePr>
            <a:graphicFrameLocks noChangeAspect="1"/>
          </p:cNvGraphicFramePr>
          <p:nvPr/>
        </p:nvGraphicFramePr>
        <p:xfrm>
          <a:off x="5715008" y="4500570"/>
          <a:ext cx="1711052" cy="982271"/>
        </p:xfrm>
        <a:graphic>
          <a:graphicData uri="http://schemas.openxmlformats.org/presentationml/2006/ole">
            <mc:AlternateContent xmlns:mc="http://schemas.openxmlformats.org/markup-compatibility/2006">
              <mc:Choice xmlns:v="urn:schemas-microsoft-com:vml" Requires="v">
                <p:oleObj spid="_x0000_s220207" name="Équation" r:id="rId4" imgW="16459200" imgH="9448800" progId="Equation.3">
                  <p:embed/>
                </p:oleObj>
              </mc:Choice>
              <mc:Fallback>
                <p:oleObj name="Équation" r:id="rId4" imgW="16459200" imgH="944880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8" y="4500570"/>
                        <a:ext cx="1711052" cy="982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12439480"/>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9" name="Picture 3"/>
          <p:cNvPicPr>
            <a:picLocks noChangeAspect="1" noChangeArrowheads="1"/>
          </p:cNvPicPr>
          <p:nvPr/>
        </p:nvPicPr>
        <p:blipFill>
          <a:blip r:embed="rId3" cstate="print"/>
          <a:srcRect/>
          <a:stretch>
            <a:fillRect/>
          </a:stretch>
        </p:blipFill>
        <p:spPr bwMode="auto">
          <a:xfrm>
            <a:off x="2627784" y="5805264"/>
            <a:ext cx="5184576" cy="545745"/>
          </a:xfrm>
          <a:prstGeom prst="rect">
            <a:avLst/>
          </a:prstGeom>
          <a:noFill/>
          <a:ln w="9525">
            <a:noFill/>
            <a:miter lim="800000"/>
            <a:headEnd/>
            <a:tailEnd/>
          </a:ln>
        </p:spPr>
      </p:pic>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49</a:t>
            </a:fld>
            <a:endParaRPr lang="fr-FR"/>
          </a:p>
        </p:txBody>
      </p:sp>
      <p:sp>
        <p:nvSpPr>
          <p:cNvPr id="10" name="Rectangle 9"/>
          <p:cNvSpPr/>
          <p:nvPr/>
        </p:nvSpPr>
        <p:spPr>
          <a:xfrm>
            <a:off x="252536" y="1456323"/>
            <a:ext cx="8639944" cy="4758226"/>
          </a:xfrm>
          <a:prstGeom prst="rect">
            <a:avLst/>
          </a:prstGeom>
        </p:spPr>
        <p:txBody>
          <a:bodyPr wrap="square">
            <a:spAutoFit/>
          </a:bodyPr>
          <a:lstStyle/>
          <a:p>
            <a:pPr lvl="0" algn="just"/>
            <a:r>
              <a:rPr lang="fr-FR" sz="2400" dirty="0">
                <a:solidFill>
                  <a:schemeClr val="bg1">
                    <a:lumMod val="50000"/>
                  </a:schemeClr>
                </a:solidFill>
              </a:rPr>
              <a:t>2.4.3. Critère d’homogénéité (écart entre classes)</a:t>
            </a:r>
          </a:p>
          <a:p>
            <a:pPr algn="just">
              <a:buFont typeface="Arial" pitchFamily="34" charset="0"/>
              <a:buChar char="•"/>
            </a:pPr>
            <a:r>
              <a:rPr lang="fr-FR" sz="2400" dirty="0">
                <a:solidFill>
                  <a:schemeClr val="accent1"/>
                </a:solidFill>
              </a:rPr>
              <a:t> </a:t>
            </a:r>
            <a:r>
              <a:rPr lang="fr-FR" sz="2000" dirty="0"/>
              <a:t>Permet de faire converger les algorithmes de classification pour:</a:t>
            </a:r>
          </a:p>
          <a:p>
            <a:pPr marL="548640" lvl="1" indent="-274320" algn="just">
              <a:spcBef>
                <a:spcPct val="20000"/>
              </a:spcBef>
              <a:buClr>
                <a:schemeClr val="accent2"/>
              </a:buClr>
              <a:buSzPct val="70000"/>
              <a:buFont typeface="Wingdings"/>
              <a:buChar char=""/>
            </a:pPr>
            <a:r>
              <a:rPr lang="fr-FR" dirty="0">
                <a:solidFill>
                  <a:schemeClr val="tx2"/>
                </a:solidFill>
              </a:rPr>
              <a:t> minimiser l'inertie (dispersion) intra-classe </a:t>
            </a:r>
          </a:p>
          <a:p>
            <a:pPr marL="548640" lvl="1" indent="-274320" algn="just">
              <a:spcBef>
                <a:spcPct val="20000"/>
              </a:spcBef>
              <a:buClr>
                <a:schemeClr val="accent2"/>
              </a:buClr>
              <a:buSzPct val="70000"/>
              <a:buFont typeface="Wingdings"/>
              <a:buChar char=""/>
            </a:pPr>
            <a:r>
              <a:rPr lang="fr-FR" dirty="0">
                <a:solidFill>
                  <a:schemeClr val="tx2"/>
                </a:solidFill>
              </a:rPr>
              <a:t> ou maximiser l'inertie interclasses.</a:t>
            </a:r>
          </a:p>
          <a:p>
            <a:pPr marL="274320" lvl="1" indent="-274320" algn="just">
              <a:spcBef>
                <a:spcPct val="20000"/>
              </a:spcBef>
              <a:buClr>
                <a:schemeClr val="accent1"/>
              </a:buClr>
              <a:buSzPct val="85000"/>
              <a:buFont typeface="Wingdings 2"/>
              <a:buChar char=""/>
            </a:pPr>
            <a:r>
              <a:rPr lang="fr-FR" sz="2000" dirty="0"/>
              <a:t>Supposons le nuage </a:t>
            </a:r>
            <a:r>
              <a:rPr lang="fr-FR" sz="2000" dirty="0">
                <a:solidFill>
                  <a:srgbClr val="C00000"/>
                </a:solidFill>
              </a:rPr>
              <a:t>Γ={</a:t>
            </a:r>
            <a:r>
              <a:rPr lang="fr-FR" sz="2000" dirty="0" err="1">
                <a:solidFill>
                  <a:srgbClr val="C00000"/>
                </a:solidFill>
              </a:rPr>
              <a:t>M</a:t>
            </a:r>
            <a:r>
              <a:rPr lang="fr-FR" sz="2000" baseline="-25000" dirty="0" err="1">
                <a:solidFill>
                  <a:srgbClr val="C00000"/>
                </a:solidFill>
              </a:rPr>
              <a:t>i,i</a:t>
            </a:r>
            <a:r>
              <a:rPr lang="fr-FR" sz="2000" baseline="-25000" dirty="0">
                <a:solidFill>
                  <a:srgbClr val="C00000"/>
                </a:solidFill>
              </a:rPr>
              <a:t>=1,...,n</a:t>
            </a:r>
            <a:r>
              <a:rPr lang="fr-FR" sz="2000" dirty="0">
                <a:solidFill>
                  <a:srgbClr val="C00000"/>
                </a:solidFill>
              </a:rPr>
              <a:t>} </a:t>
            </a:r>
            <a:r>
              <a:rPr lang="fr-FR" sz="2000" dirty="0"/>
              <a:t>décomposé en plusieurs classes </a:t>
            </a:r>
            <a:r>
              <a:rPr lang="fr-FR" sz="2000" dirty="0">
                <a:solidFill>
                  <a:srgbClr val="C00000"/>
                </a:solidFill>
              </a:rPr>
              <a:t>Γ</a:t>
            </a:r>
            <a:r>
              <a:rPr lang="fr-FR" sz="2000" baseline="-25000" dirty="0">
                <a:solidFill>
                  <a:srgbClr val="C00000"/>
                </a:solidFill>
              </a:rPr>
              <a:t>1</a:t>
            </a:r>
            <a:r>
              <a:rPr lang="fr-FR" sz="2000" dirty="0">
                <a:solidFill>
                  <a:srgbClr val="C00000"/>
                </a:solidFill>
              </a:rPr>
              <a:t>,Γ</a:t>
            </a:r>
            <a:r>
              <a:rPr lang="fr-FR" sz="2000" baseline="-25000" dirty="0">
                <a:solidFill>
                  <a:srgbClr val="C00000"/>
                </a:solidFill>
              </a:rPr>
              <a:t>2</a:t>
            </a:r>
            <a:r>
              <a:rPr lang="fr-FR" sz="2000" dirty="0">
                <a:solidFill>
                  <a:srgbClr val="C00000"/>
                </a:solidFill>
              </a:rPr>
              <a:t>,..., </a:t>
            </a:r>
            <a:r>
              <a:rPr lang="fr-FR" sz="2000" dirty="0" err="1">
                <a:solidFill>
                  <a:srgbClr val="C00000"/>
                </a:solidFill>
              </a:rPr>
              <a:t>Γ</a:t>
            </a:r>
            <a:r>
              <a:rPr lang="fr-FR" sz="2000" baseline="-25000" dirty="0" err="1">
                <a:solidFill>
                  <a:srgbClr val="C00000"/>
                </a:solidFill>
              </a:rPr>
              <a:t>k</a:t>
            </a:r>
            <a:r>
              <a:rPr lang="fr-FR" sz="2000" baseline="-25000" dirty="0">
                <a:solidFill>
                  <a:srgbClr val="C00000"/>
                </a:solidFill>
              </a:rPr>
              <a:t> </a:t>
            </a:r>
            <a:r>
              <a:rPr lang="fr-FR" sz="2000" dirty="0"/>
              <a:t>et notons </a:t>
            </a:r>
            <a:r>
              <a:rPr lang="fr-FR" sz="2000" dirty="0">
                <a:solidFill>
                  <a:srgbClr val="C00000"/>
                </a:solidFill>
              </a:rPr>
              <a:t>G</a:t>
            </a:r>
            <a:r>
              <a:rPr lang="fr-FR" sz="2000" baseline="-25000" dirty="0">
                <a:solidFill>
                  <a:srgbClr val="C00000"/>
                </a:solidFill>
              </a:rPr>
              <a:t>1</a:t>
            </a:r>
            <a:r>
              <a:rPr lang="fr-FR" sz="2000" dirty="0">
                <a:solidFill>
                  <a:srgbClr val="C00000"/>
                </a:solidFill>
              </a:rPr>
              <a:t>, G</a:t>
            </a:r>
            <a:r>
              <a:rPr lang="fr-FR" sz="2000" baseline="-25000" dirty="0">
                <a:solidFill>
                  <a:srgbClr val="C00000"/>
                </a:solidFill>
              </a:rPr>
              <a:t>2</a:t>
            </a:r>
            <a:r>
              <a:rPr lang="fr-FR" sz="2000" dirty="0">
                <a:solidFill>
                  <a:srgbClr val="C00000"/>
                </a:solidFill>
              </a:rPr>
              <a:t>,...., </a:t>
            </a:r>
            <a:r>
              <a:rPr lang="fr-FR" sz="2000" dirty="0" err="1">
                <a:solidFill>
                  <a:srgbClr val="C00000"/>
                </a:solidFill>
              </a:rPr>
              <a:t>G</a:t>
            </a:r>
            <a:r>
              <a:rPr lang="fr-FR" sz="2000" baseline="-25000" dirty="0" err="1">
                <a:solidFill>
                  <a:srgbClr val="C00000"/>
                </a:solidFill>
              </a:rPr>
              <a:t>k</a:t>
            </a:r>
            <a:r>
              <a:rPr lang="fr-FR" sz="2000" dirty="0">
                <a:solidFill>
                  <a:srgbClr val="C00000"/>
                </a:solidFill>
              </a:rPr>
              <a:t> </a:t>
            </a:r>
            <a:r>
              <a:rPr lang="fr-FR" sz="2000" dirty="0"/>
              <a:t>les centres de gravité respectifs de chaque classes et notons </a:t>
            </a:r>
            <a:r>
              <a:rPr lang="fr-FR" sz="2000" dirty="0">
                <a:solidFill>
                  <a:srgbClr val="C00000"/>
                </a:solidFill>
              </a:rPr>
              <a:t>p</a:t>
            </a:r>
            <a:r>
              <a:rPr lang="fr-FR" sz="2000" baseline="-25000" dirty="0">
                <a:solidFill>
                  <a:srgbClr val="C00000"/>
                </a:solidFill>
              </a:rPr>
              <a:t>1</a:t>
            </a:r>
            <a:r>
              <a:rPr lang="fr-FR" sz="2000" dirty="0">
                <a:solidFill>
                  <a:srgbClr val="C00000"/>
                </a:solidFill>
              </a:rPr>
              <a:t>, p</a:t>
            </a:r>
            <a:r>
              <a:rPr lang="fr-FR" sz="2000" baseline="-25000" dirty="0">
                <a:solidFill>
                  <a:srgbClr val="C00000"/>
                </a:solidFill>
              </a:rPr>
              <a:t>2</a:t>
            </a:r>
            <a:r>
              <a:rPr lang="fr-FR" sz="2000" dirty="0">
                <a:solidFill>
                  <a:srgbClr val="C00000"/>
                </a:solidFill>
              </a:rPr>
              <a:t>, ... p</a:t>
            </a:r>
            <a:r>
              <a:rPr lang="fr-FR" sz="2000" baseline="-25000" dirty="0">
                <a:solidFill>
                  <a:srgbClr val="C00000"/>
                </a:solidFill>
              </a:rPr>
              <a:t>k</a:t>
            </a:r>
            <a:r>
              <a:rPr lang="fr-FR" sz="2000" dirty="0">
                <a:solidFill>
                  <a:srgbClr val="C00000"/>
                </a:solidFill>
              </a:rPr>
              <a:t> </a:t>
            </a:r>
            <a:r>
              <a:rPr lang="fr-FR" sz="2000" dirty="0"/>
              <a:t>les poids respectifs de chaque classe.</a:t>
            </a:r>
          </a:p>
          <a:p>
            <a:pPr marL="274320" lvl="1" indent="-274320" algn="just">
              <a:spcBef>
                <a:spcPct val="20000"/>
              </a:spcBef>
              <a:buClr>
                <a:schemeClr val="accent1"/>
              </a:buClr>
              <a:buSzPct val="85000"/>
              <a:buFont typeface="Wingdings 2"/>
              <a:buChar char=""/>
            </a:pPr>
            <a:r>
              <a:rPr lang="fr-FR" sz="2000" dirty="0"/>
              <a:t>Si l’on suppose que tous les individus ont le même poids égal à </a:t>
            </a:r>
            <a:r>
              <a:rPr lang="fr-FR" sz="2000" i="1" dirty="0">
                <a:solidFill>
                  <a:srgbClr val="C00000"/>
                </a:solidFill>
              </a:rPr>
              <a:t>1/n</a:t>
            </a:r>
            <a:r>
              <a:rPr lang="fr-FR" sz="2000" dirty="0"/>
              <a:t>, le poids </a:t>
            </a:r>
            <a:r>
              <a:rPr lang="fr-FR" sz="2000" dirty="0" err="1">
                <a:solidFill>
                  <a:srgbClr val="C00000"/>
                </a:solidFill>
              </a:rPr>
              <a:t>p</a:t>
            </a:r>
            <a:r>
              <a:rPr lang="fr-FR" sz="2000" baseline="-25000" dirty="0" err="1">
                <a:solidFill>
                  <a:srgbClr val="C00000"/>
                </a:solidFill>
              </a:rPr>
              <a:t>l</a:t>
            </a:r>
            <a:r>
              <a:rPr lang="fr-FR" sz="2000" baseline="-25000" dirty="0">
                <a:solidFill>
                  <a:srgbClr val="C00000"/>
                </a:solidFill>
              </a:rPr>
              <a:t> </a:t>
            </a:r>
            <a:r>
              <a:rPr lang="fr-FR" sz="2000" dirty="0"/>
              <a:t>de la classe </a:t>
            </a:r>
            <a:r>
              <a:rPr lang="fr-FR" sz="2000" dirty="0" err="1">
                <a:solidFill>
                  <a:srgbClr val="C00000"/>
                </a:solidFill>
              </a:rPr>
              <a:t>Γ</a:t>
            </a:r>
            <a:r>
              <a:rPr lang="fr-FR" sz="2000" baseline="-25000" dirty="0" err="1">
                <a:solidFill>
                  <a:srgbClr val="C00000"/>
                </a:solidFill>
              </a:rPr>
              <a:t>l</a:t>
            </a:r>
            <a:r>
              <a:rPr lang="fr-FR" sz="2000" dirty="0">
                <a:solidFill>
                  <a:srgbClr val="C00000"/>
                </a:solidFill>
              </a:rPr>
              <a:t> </a:t>
            </a:r>
            <a:r>
              <a:rPr lang="fr-FR" sz="2000" dirty="0"/>
              <a:t>est égal à l’effectif de </a:t>
            </a:r>
            <a:r>
              <a:rPr lang="fr-FR" sz="2000" dirty="0" err="1">
                <a:solidFill>
                  <a:srgbClr val="C00000"/>
                </a:solidFill>
              </a:rPr>
              <a:t>Γ</a:t>
            </a:r>
            <a:r>
              <a:rPr lang="fr-FR" sz="2000" baseline="-25000" dirty="0" err="1">
                <a:solidFill>
                  <a:srgbClr val="C00000"/>
                </a:solidFill>
              </a:rPr>
              <a:t>l</a:t>
            </a:r>
            <a:r>
              <a:rPr lang="fr-FR" sz="2000" dirty="0">
                <a:solidFill>
                  <a:srgbClr val="C00000"/>
                </a:solidFill>
              </a:rPr>
              <a:t> </a:t>
            </a:r>
            <a:r>
              <a:rPr lang="fr-FR" sz="2000" dirty="0"/>
              <a:t>divisé par </a:t>
            </a:r>
            <a:r>
              <a:rPr lang="fr-FR" sz="2000" i="1" dirty="0">
                <a:solidFill>
                  <a:srgbClr val="C00000"/>
                </a:solidFill>
              </a:rPr>
              <a:t>n</a:t>
            </a:r>
            <a:r>
              <a:rPr lang="fr-FR" sz="2000" dirty="0"/>
              <a:t>. De cette façon la somme des poids de toutes les classes vaut </a:t>
            </a:r>
            <a:r>
              <a:rPr lang="fr-FR" sz="2000" dirty="0">
                <a:solidFill>
                  <a:srgbClr val="C00000"/>
                </a:solidFill>
              </a:rPr>
              <a:t>1</a:t>
            </a:r>
            <a:r>
              <a:rPr lang="fr-FR" sz="2000" dirty="0"/>
              <a:t>. </a:t>
            </a:r>
          </a:p>
          <a:p>
            <a:pPr marL="274320" lvl="1" indent="-274320" algn="just">
              <a:spcBef>
                <a:spcPct val="20000"/>
              </a:spcBef>
              <a:buClr>
                <a:schemeClr val="accent1"/>
              </a:buClr>
              <a:buSzPct val="85000"/>
              <a:buFont typeface="Wingdings 2"/>
              <a:buChar char=""/>
            </a:pPr>
            <a:r>
              <a:rPr lang="fr-FR" sz="2000" dirty="0"/>
              <a:t>Le centre de gravité G d’un nuage de points Γ est le point moyen du nuage, c’est-à-dire le point                            </a:t>
            </a:r>
            <a:r>
              <a:rPr lang="vi-VN" sz="2000" dirty="0"/>
              <a:t>de coordonn</a:t>
            </a:r>
            <a:r>
              <a:rPr lang="fr-FR" sz="2000" dirty="0"/>
              <a:t>é</a:t>
            </a:r>
            <a:r>
              <a:rPr lang="vi-VN" sz="2000" dirty="0"/>
              <a:t>es</a:t>
            </a:r>
            <a:r>
              <a:rPr lang="fr-FR" sz="2000" dirty="0"/>
              <a:t> :</a:t>
            </a:r>
          </a:p>
          <a:p>
            <a:pPr algn="just"/>
            <a:endParaRPr lang="fr-FR" sz="2000" dirty="0"/>
          </a:p>
          <a:p>
            <a:pPr algn="just"/>
            <a:endParaRPr lang="fr-FR" sz="2000" dirty="0"/>
          </a:p>
        </p:txBody>
      </p:sp>
      <p:graphicFrame>
        <p:nvGraphicFramePr>
          <p:cNvPr id="11" name="Objet 10"/>
          <p:cNvGraphicFramePr>
            <a:graphicFrameLocks noChangeAspect="1"/>
          </p:cNvGraphicFramePr>
          <p:nvPr>
            <p:extLst>
              <p:ext uri="{D42A27DB-BD31-4B8C-83A1-F6EECF244321}">
                <p14:modId xmlns:p14="http://schemas.microsoft.com/office/powerpoint/2010/main" val="3607955312"/>
              </p:ext>
            </p:extLst>
          </p:nvPr>
        </p:nvGraphicFramePr>
        <p:xfrm>
          <a:off x="3714744" y="5214950"/>
          <a:ext cx="1512167" cy="389145"/>
        </p:xfrm>
        <a:graphic>
          <a:graphicData uri="http://schemas.openxmlformats.org/presentationml/2006/ole">
            <mc:AlternateContent xmlns:mc="http://schemas.openxmlformats.org/markup-compatibility/2006">
              <mc:Choice xmlns:v="urn:schemas-microsoft-com:vml" Requires="v">
                <p:oleObj spid="_x0000_s221232" name="Équation" r:id="rId4" imgW="19202400" imgH="4876800" progId="Equation.3">
                  <p:embed/>
                </p:oleObj>
              </mc:Choice>
              <mc:Fallback>
                <p:oleObj name="Équation" r:id="rId4" imgW="19202400" imgH="487680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44" y="5214950"/>
                        <a:ext cx="1512167" cy="389145"/>
                      </a:xfrm>
                      <a:prstGeom prst="rect">
                        <a:avLst/>
                      </a:prstGeom>
                      <a:noFill/>
                    </p:spPr>
                  </p:pic>
                </p:oleObj>
              </mc:Fallback>
            </mc:AlternateContent>
          </a:graphicData>
        </a:graphic>
      </p:graphicFrame>
      <p:sp>
        <p:nvSpPr>
          <p:cNvPr id="13"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0"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3"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3423449531"/>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412776"/>
            <a:ext cx="8640960" cy="4896544"/>
          </a:xfrm>
        </p:spPr>
        <p:txBody>
          <a:bodyPr>
            <a:normAutofit/>
          </a:bodyPr>
          <a:lstStyle/>
          <a:p>
            <a:pPr lvl="0" algn="just">
              <a:buNone/>
            </a:pPr>
            <a:r>
              <a:rPr lang="fr-FR" sz="2000" dirty="0">
                <a:solidFill>
                  <a:schemeClr val="bg1">
                    <a:lumMod val="50000"/>
                  </a:schemeClr>
                </a:solidFill>
              </a:rPr>
              <a:t>2.4.3. Critère d’homogénéité (écart entre classes)</a:t>
            </a:r>
          </a:p>
          <a:p>
            <a:pPr algn="just"/>
            <a:r>
              <a:rPr lang="fr-FR" sz="2000" dirty="0"/>
              <a:t>Pour mesurer la proximité ou l’écart entre deux classes </a:t>
            </a:r>
            <a:r>
              <a:rPr lang="fr-FR" sz="2000" dirty="0" err="1">
                <a:solidFill>
                  <a:srgbClr val="C00000"/>
                </a:solidFill>
              </a:rPr>
              <a:t>Γ</a:t>
            </a:r>
            <a:r>
              <a:rPr lang="fr-FR" sz="2000" baseline="-25000" dirty="0" err="1">
                <a:solidFill>
                  <a:srgbClr val="C00000"/>
                </a:solidFill>
              </a:rPr>
              <a:t>l</a:t>
            </a:r>
            <a:r>
              <a:rPr lang="fr-FR" sz="2000" dirty="0">
                <a:solidFill>
                  <a:srgbClr val="C00000"/>
                </a:solidFill>
              </a:rPr>
              <a:t> </a:t>
            </a:r>
            <a:r>
              <a:rPr lang="fr-FR" sz="2000" dirty="0"/>
              <a:t>et </a:t>
            </a:r>
            <a:r>
              <a:rPr lang="fr-FR" sz="2000" dirty="0" err="1">
                <a:solidFill>
                  <a:srgbClr val="C00000"/>
                </a:solidFill>
              </a:rPr>
              <a:t>Γ</a:t>
            </a:r>
            <a:r>
              <a:rPr lang="fr-FR" sz="2000" baseline="-25000" dirty="0" err="1">
                <a:solidFill>
                  <a:srgbClr val="C00000"/>
                </a:solidFill>
              </a:rPr>
              <a:t>m</a:t>
            </a:r>
            <a:r>
              <a:rPr lang="fr-FR" sz="2000" dirty="0"/>
              <a:t>, il existe différentes stratégies:</a:t>
            </a:r>
          </a:p>
          <a:p>
            <a:pPr lvl="1" algn="just"/>
            <a:r>
              <a:rPr lang="fr-FR" sz="1800" dirty="0"/>
              <a:t>La distance du plus proche voisin </a:t>
            </a:r>
          </a:p>
          <a:p>
            <a:pPr lvl="1" algn="just"/>
            <a:r>
              <a:rPr lang="fr-FR" sz="1800" dirty="0"/>
              <a:t>La distance du plus loin voisin</a:t>
            </a:r>
          </a:p>
          <a:p>
            <a:pPr lvl="1" algn="just"/>
            <a:r>
              <a:rPr lang="fr-FR" sz="1800" dirty="0"/>
              <a:t>La distance des centres de gravité </a:t>
            </a:r>
          </a:p>
          <a:p>
            <a:pPr algn="just"/>
            <a:endParaRPr lang="fr-FR" sz="2000" dirty="0"/>
          </a:p>
          <a:p>
            <a:pPr algn="just"/>
            <a:r>
              <a:rPr lang="fr-FR" sz="2000" dirty="0"/>
              <a:t>La mesure que l’on utilise le plus souvent appelée </a:t>
            </a:r>
            <a:r>
              <a:rPr lang="fr-FR" sz="2000" dirty="0">
                <a:solidFill>
                  <a:srgbClr val="C00000"/>
                </a:solidFill>
              </a:rPr>
              <a:t>écart de Ward </a:t>
            </a:r>
            <a:r>
              <a:rPr lang="fr-FR" sz="2000" dirty="0"/>
              <a:t>est définie par :</a:t>
            </a: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50</a:t>
            </a:fld>
            <a:endParaRPr lang="fr-FR"/>
          </a:p>
        </p:txBody>
      </p:sp>
      <p:pic>
        <p:nvPicPr>
          <p:cNvPr id="61443" name="Picture 3"/>
          <p:cNvPicPr>
            <a:picLocks noChangeAspect="1" noChangeArrowheads="1"/>
          </p:cNvPicPr>
          <p:nvPr/>
        </p:nvPicPr>
        <p:blipFill>
          <a:blip r:embed="rId2" cstate="print"/>
          <a:srcRect/>
          <a:stretch>
            <a:fillRect/>
          </a:stretch>
        </p:blipFill>
        <p:spPr bwMode="auto">
          <a:xfrm>
            <a:off x="4608668" y="2500306"/>
            <a:ext cx="4104456" cy="325912"/>
          </a:xfrm>
          <a:prstGeom prst="rect">
            <a:avLst/>
          </a:prstGeom>
          <a:noFill/>
          <a:ln w="9525">
            <a:noFill/>
            <a:miter lim="800000"/>
            <a:headEnd/>
            <a:tailEnd/>
          </a:ln>
        </p:spPr>
      </p:pic>
      <p:pic>
        <p:nvPicPr>
          <p:cNvPr id="61444" name="Picture 4"/>
          <p:cNvPicPr>
            <a:picLocks noChangeAspect="1" noChangeArrowheads="1"/>
          </p:cNvPicPr>
          <p:nvPr/>
        </p:nvPicPr>
        <p:blipFill>
          <a:blip r:embed="rId3" cstate="print"/>
          <a:srcRect/>
          <a:stretch>
            <a:fillRect/>
          </a:stretch>
        </p:blipFill>
        <p:spPr bwMode="auto">
          <a:xfrm>
            <a:off x="4608668" y="2860346"/>
            <a:ext cx="4392488" cy="317661"/>
          </a:xfrm>
          <a:prstGeom prst="rect">
            <a:avLst/>
          </a:prstGeom>
          <a:noFill/>
          <a:ln w="9525">
            <a:noFill/>
            <a:miter lim="800000"/>
            <a:headEnd/>
            <a:tailEnd/>
          </a:ln>
        </p:spPr>
      </p:pic>
      <p:pic>
        <p:nvPicPr>
          <p:cNvPr id="61445" name="Picture 5"/>
          <p:cNvPicPr>
            <a:picLocks noChangeAspect="1" noChangeArrowheads="1"/>
          </p:cNvPicPr>
          <p:nvPr/>
        </p:nvPicPr>
        <p:blipFill>
          <a:blip r:embed="rId4" cstate="print"/>
          <a:srcRect/>
          <a:stretch>
            <a:fillRect/>
          </a:stretch>
        </p:blipFill>
        <p:spPr bwMode="auto">
          <a:xfrm>
            <a:off x="4610378" y="3082070"/>
            <a:ext cx="1426071" cy="398816"/>
          </a:xfrm>
          <a:prstGeom prst="rect">
            <a:avLst/>
          </a:prstGeom>
          <a:noFill/>
          <a:ln w="9525">
            <a:noFill/>
            <a:miter lim="800000"/>
            <a:headEnd/>
            <a:tailEnd/>
          </a:ln>
        </p:spPr>
      </p:pic>
      <p:pic>
        <p:nvPicPr>
          <p:cNvPr id="61446" name="Picture 6"/>
          <p:cNvPicPr>
            <a:picLocks noChangeAspect="1" noChangeArrowheads="1"/>
          </p:cNvPicPr>
          <p:nvPr/>
        </p:nvPicPr>
        <p:blipFill>
          <a:blip r:embed="rId5" cstate="print"/>
          <a:srcRect/>
          <a:stretch>
            <a:fillRect/>
          </a:stretch>
        </p:blipFill>
        <p:spPr bwMode="auto">
          <a:xfrm>
            <a:off x="395536" y="4509120"/>
            <a:ext cx="8015627" cy="1296144"/>
          </a:xfrm>
          <a:prstGeom prst="rect">
            <a:avLst/>
          </a:prstGeom>
          <a:noFill/>
          <a:ln w="9525">
            <a:noFill/>
            <a:miter lim="800000"/>
            <a:headEnd/>
            <a:tailEnd/>
          </a:ln>
        </p:spPr>
      </p:pic>
      <p:sp>
        <p:nvSpPr>
          <p:cNvPr id="11"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1"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2339542969"/>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528193"/>
            <a:ext cx="8712968" cy="4709119"/>
          </a:xfrm>
        </p:spPr>
        <p:txBody>
          <a:bodyPr>
            <a:normAutofit/>
          </a:bodyPr>
          <a:lstStyle/>
          <a:p>
            <a:pPr lvl="0" algn="just">
              <a:buNone/>
            </a:pPr>
            <a:r>
              <a:rPr lang="fr-FR" sz="2400" dirty="0">
                <a:solidFill>
                  <a:schemeClr val="bg1">
                    <a:lumMod val="50000"/>
                  </a:schemeClr>
                </a:solidFill>
              </a:rPr>
              <a:t>2.4.3. Critère d’homogénéité (écart entre classes)</a:t>
            </a:r>
          </a:p>
          <a:p>
            <a:pPr algn="just"/>
            <a:r>
              <a:rPr lang="fr-FR" sz="2000" dirty="0">
                <a:solidFill>
                  <a:srgbClr val="C00000"/>
                </a:solidFill>
              </a:rPr>
              <a:t>L’inertie</a:t>
            </a:r>
            <a:r>
              <a:rPr lang="fr-FR" sz="2000" dirty="0"/>
              <a:t> mesure la dispersion du nuage. </a:t>
            </a:r>
          </a:p>
          <a:p>
            <a:pPr algn="just"/>
            <a:r>
              <a:rPr lang="fr-FR" sz="2000" dirty="0"/>
              <a:t>On appelle </a:t>
            </a:r>
            <a:r>
              <a:rPr lang="fr-FR" sz="2000" dirty="0">
                <a:solidFill>
                  <a:srgbClr val="C00000"/>
                </a:solidFill>
              </a:rPr>
              <a:t>inertie totale </a:t>
            </a:r>
            <a:r>
              <a:rPr lang="fr-FR" sz="2000" dirty="0"/>
              <a:t>d’un nuage </a:t>
            </a:r>
            <a:r>
              <a:rPr lang="fr-FR" sz="2000" dirty="0">
                <a:solidFill>
                  <a:srgbClr val="C00000"/>
                </a:solidFill>
              </a:rPr>
              <a:t>Γ ={</a:t>
            </a:r>
            <a:r>
              <a:rPr lang="fr-FR" sz="2000" dirty="0" err="1">
                <a:solidFill>
                  <a:srgbClr val="C00000"/>
                </a:solidFill>
              </a:rPr>
              <a:t>M</a:t>
            </a:r>
            <a:r>
              <a:rPr lang="fr-FR" sz="2000" baseline="-25000" dirty="0" err="1">
                <a:solidFill>
                  <a:srgbClr val="C00000"/>
                </a:solidFill>
              </a:rPr>
              <a:t>i,i</a:t>
            </a:r>
            <a:r>
              <a:rPr lang="fr-FR" sz="2000" baseline="-25000" dirty="0">
                <a:solidFill>
                  <a:srgbClr val="C00000"/>
                </a:solidFill>
              </a:rPr>
              <a:t>=1,...,n</a:t>
            </a:r>
            <a:r>
              <a:rPr lang="fr-FR" sz="2000" dirty="0">
                <a:solidFill>
                  <a:srgbClr val="C00000"/>
                </a:solidFill>
              </a:rPr>
              <a:t>} </a:t>
            </a:r>
            <a:r>
              <a:rPr lang="fr-FR" sz="2000" dirty="0"/>
              <a:t>la moyenne des carrés des distances de ses points au centre de gravité du nuage.</a:t>
            </a:r>
          </a:p>
          <a:p>
            <a:pPr algn="just"/>
            <a:r>
              <a:rPr lang="fr-FR" sz="2000" dirty="0"/>
              <a:t>si </a:t>
            </a:r>
            <a:r>
              <a:rPr lang="fr-FR" sz="2000" dirty="0">
                <a:solidFill>
                  <a:srgbClr val="C00000"/>
                </a:solidFill>
              </a:rPr>
              <a:t>G</a:t>
            </a:r>
            <a:r>
              <a:rPr lang="fr-FR" sz="2000" dirty="0"/>
              <a:t> désigne le centre de gravité de </a:t>
            </a:r>
            <a:r>
              <a:rPr lang="fr-FR" sz="2000" dirty="0">
                <a:solidFill>
                  <a:srgbClr val="C00000"/>
                </a:solidFill>
              </a:rPr>
              <a:t>Γ</a:t>
            </a:r>
            <a:r>
              <a:rPr lang="fr-FR" sz="2000" dirty="0"/>
              <a:t>, l’inertie totale de</a:t>
            </a:r>
            <a:r>
              <a:rPr lang="fr-FR" sz="2000" dirty="0">
                <a:solidFill>
                  <a:srgbClr val="C00000"/>
                </a:solidFill>
              </a:rPr>
              <a:t> Γ</a:t>
            </a:r>
            <a:r>
              <a:rPr lang="fr-FR" sz="2000" dirty="0"/>
              <a:t> est, si tous les points du nuage sont de même poids égal à </a:t>
            </a:r>
            <a:r>
              <a:rPr lang="fr-FR" sz="2000" dirty="0">
                <a:solidFill>
                  <a:srgbClr val="C00000"/>
                </a:solidFill>
              </a:rPr>
              <a:t>1/n</a:t>
            </a:r>
          </a:p>
          <a:p>
            <a:pPr algn="just"/>
            <a:endParaRPr lang="fr-FR" sz="2000" dirty="0">
              <a:solidFill>
                <a:srgbClr val="C00000"/>
              </a:solidFill>
            </a:endParaRPr>
          </a:p>
          <a:p>
            <a:pPr algn="just"/>
            <a:endParaRPr lang="fr-FR" sz="2000" dirty="0">
              <a:solidFill>
                <a:srgbClr val="C00000"/>
              </a:solidFill>
            </a:endParaRPr>
          </a:p>
          <a:p>
            <a:pPr algn="just"/>
            <a:r>
              <a:rPr lang="fr-FR" sz="2000" dirty="0"/>
              <a:t>Si le nuage </a:t>
            </a:r>
            <a:r>
              <a:rPr lang="fr-FR" sz="2000" dirty="0">
                <a:solidFill>
                  <a:srgbClr val="C00000"/>
                </a:solidFill>
              </a:rPr>
              <a:t>Γ </a:t>
            </a:r>
            <a:r>
              <a:rPr lang="fr-FR" sz="2000" dirty="0"/>
              <a:t>est composé de </a:t>
            </a:r>
            <a:r>
              <a:rPr lang="fr-FR" sz="2000" dirty="0">
                <a:solidFill>
                  <a:srgbClr val="C00000"/>
                </a:solidFill>
              </a:rPr>
              <a:t>k</a:t>
            </a:r>
            <a:r>
              <a:rPr lang="fr-FR" sz="2000" dirty="0"/>
              <a:t> classes </a:t>
            </a:r>
            <a:r>
              <a:rPr lang="fr-FR" sz="2000" dirty="0">
                <a:solidFill>
                  <a:srgbClr val="C00000"/>
                </a:solidFill>
              </a:rPr>
              <a:t>Γ</a:t>
            </a:r>
            <a:r>
              <a:rPr lang="fr-FR" sz="2000" baseline="-25000" dirty="0">
                <a:solidFill>
                  <a:srgbClr val="C00000"/>
                </a:solidFill>
              </a:rPr>
              <a:t>1</a:t>
            </a:r>
            <a:r>
              <a:rPr lang="fr-FR" sz="2000" dirty="0">
                <a:solidFill>
                  <a:srgbClr val="C00000"/>
                </a:solidFill>
              </a:rPr>
              <a:t>, Γ</a:t>
            </a:r>
            <a:r>
              <a:rPr lang="fr-FR" sz="2000" baseline="-25000" dirty="0">
                <a:solidFill>
                  <a:srgbClr val="C00000"/>
                </a:solidFill>
              </a:rPr>
              <a:t>2</a:t>
            </a:r>
            <a:r>
              <a:rPr lang="fr-FR" sz="2000" dirty="0">
                <a:solidFill>
                  <a:srgbClr val="C00000"/>
                </a:solidFill>
              </a:rPr>
              <a:t>, .... , </a:t>
            </a:r>
            <a:r>
              <a:rPr lang="fr-FR" sz="2000" dirty="0" err="1">
                <a:solidFill>
                  <a:srgbClr val="C00000"/>
                </a:solidFill>
              </a:rPr>
              <a:t>Γ</a:t>
            </a:r>
            <a:r>
              <a:rPr lang="fr-FR" sz="2000" baseline="-25000" dirty="0" err="1">
                <a:solidFill>
                  <a:srgbClr val="C00000"/>
                </a:solidFill>
              </a:rPr>
              <a:t>k</a:t>
            </a:r>
            <a:r>
              <a:rPr lang="fr-FR" sz="2000" dirty="0"/>
              <a:t>, celles-ci seront d’autant plus homogènes que les inerties de chaque classe                                      			       calculées par rapport à leurs centres de gravité </a:t>
            </a:r>
            <a:r>
              <a:rPr lang="fr-FR" sz="2000" dirty="0">
                <a:solidFill>
                  <a:srgbClr val="C00000"/>
                </a:solidFill>
              </a:rPr>
              <a:t>G</a:t>
            </a:r>
            <a:r>
              <a:rPr lang="fr-FR" sz="2000" baseline="-25000" dirty="0">
                <a:solidFill>
                  <a:srgbClr val="C00000"/>
                </a:solidFill>
              </a:rPr>
              <a:t>1</a:t>
            </a:r>
            <a:r>
              <a:rPr lang="fr-FR" sz="2000" dirty="0">
                <a:solidFill>
                  <a:srgbClr val="C00000"/>
                </a:solidFill>
              </a:rPr>
              <a:t>,G</a:t>
            </a:r>
            <a:r>
              <a:rPr lang="fr-FR" sz="2000" baseline="-25000" dirty="0">
                <a:solidFill>
                  <a:srgbClr val="C00000"/>
                </a:solidFill>
              </a:rPr>
              <a:t>2</a:t>
            </a:r>
            <a:r>
              <a:rPr lang="fr-FR" sz="2000" dirty="0">
                <a:solidFill>
                  <a:srgbClr val="C00000"/>
                </a:solidFill>
              </a:rPr>
              <a:t>, .... ,</a:t>
            </a:r>
            <a:r>
              <a:rPr lang="fr-FR" sz="2000" dirty="0" err="1">
                <a:solidFill>
                  <a:srgbClr val="C00000"/>
                </a:solidFill>
              </a:rPr>
              <a:t>G</a:t>
            </a:r>
            <a:r>
              <a:rPr lang="fr-FR" sz="2000" baseline="-25000" dirty="0" err="1">
                <a:solidFill>
                  <a:srgbClr val="C00000"/>
                </a:solidFill>
              </a:rPr>
              <a:t>k</a:t>
            </a:r>
            <a:r>
              <a:rPr lang="fr-FR" sz="2000" dirty="0">
                <a:solidFill>
                  <a:srgbClr val="C00000"/>
                </a:solidFill>
              </a:rPr>
              <a:t> </a:t>
            </a:r>
            <a:r>
              <a:rPr lang="fr-FR" sz="2000" dirty="0"/>
              <a:t>respectifs, sont faibles.</a:t>
            </a:r>
          </a:p>
          <a:p>
            <a:pPr algn="just"/>
            <a:endParaRPr lang="fr-FR" sz="2000" dirty="0">
              <a:solidFill>
                <a:srgbClr val="C00000"/>
              </a:solidFill>
            </a:endParaRPr>
          </a:p>
          <a:p>
            <a:pPr algn="just"/>
            <a:endParaRPr lang="fr-FR" sz="2000" dirty="0"/>
          </a:p>
          <a:p>
            <a:pPr algn="just">
              <a:buNone/>
            </a:pPr>
            <a:endParaRPr lang="fr-FR" sz="2000" dirty="0"/>
          </a:p>
          <a:p>
            <a:pPr algn="just"/>
            <a:endParaRPr lang="fr-FR" sz="2000" dirty="0"/>
          </a:p>
        </p:txBody>
      </p:sp>
      <p:grpSp>
        <p:nvGrpSpPr>
          <p:cNvPr id="16" name="Groupe 15"/>
          <p:cNvGrpSpPr/>
          <p:nvPr/>
        </p:nvGrpSpPr>
        <p:grpSpPr>
          <a:xfrm>
            <a:off x="539552" y="5013176"/>
            <a:ext cx="2808312" cy="360040"/>
            <a:chOff x="2267744" y="4509120"/>
            <a:chExt cx="2961330" cy="360040"/>
          </a:xfrm>
        </p:grpSpPr>
        <p:pic>
          <p:nvPicPr>
            <p:cNvPr id="17" name="Picture 2"/>
            <p:cNvPicPr>
              <a:picLocks noChangeAspect="1" noChangeArrowheads="1"/>
            </p:cNvPicPr>
            <p:nvPr/>
          </p:nvPicPr>
          <p:blipFill>
            <a:blip r:embed="rId2" cstate="print"/>
            <a:srcRect/>
            <a:stretch>
              <a:fillRect/>
            </a:stretch>
          </p:blipFill>
          <p:spPr bwMode="auto">
            <a:xfrm>
              <a:off x="2267744" y="4509120"/>
              <a:ext cx="2232248" cy="356699"/>
            </a:xfrm>
            <a:prstGeom prst="rect">
              <a:avLst/>
            </a:prstGeom>
            <a:noFill/>
            <a:ln w="9525">
              <a:noFill/>
              <a:miter lim="800000"/>
              <a:headEnd/>
              <a:tailEnd/>
            </a:ln>
          </p:spPr>
        </p:pic>
        <p:pic>
          <p:nvPicPr>
            <p:cNvPr id="19" name="Picture 3"/>
            <p:cNvPicPr>
              <a:picLocks noChangeAspect="1" noChangeArrowheads="1"/>
            </p:cNvPicPr>
            <p:nvPr/>
          </p:nvPicPr>
          <p:blipFill>
            <a:blip r:embed="rId3" cstate="print"/>
            <a:srcRect/>
            <a:stretch>
              <a:fillRect/>
            </a:stretch>
          </p:blipFill>
          <p:spPr bwMode="auto">
            <a:xfrm>
              <a:off x="4283968" y="4509120"/>
              <a:ext cx="945106" cy="360040"/>
            </a:xfrm>
            <a:prstGeom prst="rect">
              <a:avLst/>
            </a:prstGeom>
            <a:noFill/>
            <a:ln w="9525">
              <a:noFill/>
              <a:miter lim="800000"/>
              <a:headEnd/>
              <a:tailEnd/>
            </a:ln>
          </p:spPr>
        </p:pic>
      </p:grpSp>
      <p:pic>
        <p:nvPicPr>
          <p:cNvPr id="62467" name="Picture 3"/>
          <p:cNvPicPr>
            <a:picLocks noChangeAspect="1" noChangeArrowheads="1"/>
          </p:cNvPicPr>
          <p:nvPr/>
        </p:nvPicPr>
        <p:blipFill>
          <a:blip r:embed="rId4" cstate="print"/>
          <a:srcRect/>
          <a:stretch>
            <a:fillRect/>
          </a:stretch>
        </p:blipFill>
        <p:spPr bwMode="auto">
          <a:xfrm>
            <a:off x="1142976" y="3429000"/>
            <a:ext cx="7200800" cy="827276"/>
          </a:xfrm>
          <a:prstGeom prst="rect">
            <a:avLst/>
          </a:prstGeom>
          <a:noFill/>
          <a:ln w="9525">
            <a:noFill/>
            <a:miter lim="800000"/>
            <a:headEnd/>
            <a:tailEnd/>
          </a:ln>
        </p:spPr>
      </p:pic>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51</a:t>
            </a:fld>
            <a:endParaRPr lang="fr-FR"/>
          </a:p>
        </p:txBody>
      </p:sp>
      <p:sp>
        <p:nvSpPr>
          <p:cNvPr id="8"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9"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2609817007"/>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7158" y="1714488"/>
            <a:ext cx="8424936" cy="4925143"/>
          </a:xfrm>
        </p:spPr>
        <p:txBody>
          <a:bodyPr>
            <a:normAutofit/>
          </a:bodyPr>
          <a:lstStyle/>
          <a:p>
            <a:pPr lvl="0" algn="just">
              <a:buNone/>
            </a:pPr>
            <a:r>
              <a:rPr lang="fr-FR" sz="2400" dirty="0">
                <a:solidFill>
                  <a:schemeClr val="bg1">
                    <a:lumMod val="50000"/>
                  </a:schemeClr>
                </a:solidFill>
              </a:rPr>
              <a:t>2.4.3. Critère d’homogénéité (écart entre classes)</a:t>
            </a:r>
          </a:p>
          <a:p>
            <a:pPr algn="just"/>
            <a:r>
              <a:rPr lang="fr-FR" sz="2000" dirty="0"/>
              <a:t>La moyenne pondérée de ces inerties est appelée </a:t>
            </a:r>
            <a:r>
              <a:rPr lang="fr-FR" sz="2000" dirty="0">
                <a:solidFill>
                  <a:srgbClr val="C00000"/>
                </a:solidFill>
              </a:rPr>
              <a:t>inertie intra classe</a:t>
            </a:r>
            <a:r>
              <a:rPr lang="fr-FR" sz="2000" dirty="0">
                <a:solidFill>
                  <a:srgbClr val="0070C0"/>
                </a:solidFill>
              </a:rPr>
              <a:t>.</a:t>
            </a:r>
          </a:p>
          <a:p>
            <a:pPr algn="just"/>
            <a:endParaRPr lang="fr-FR" sz="2000" dirty="0">
              <a:solidFill>
                <a:srgbClr val="0070C0"/>
              </a:solidFill>
            </a:endParaRPr>
          </a:p>
          <a:p>
            <a:pPr algn="just"/>
            <a:endParaRPr lang="fr-FR" sz="2000" dirty="0">
              <a:solidFill>
                <a:srgbClr val="0070C0"/>
              </a:solidFill>
            </a:endParaRPr>
          </a:p>
          <a:p>
            <a:pPr algn="just"/>
            <a:r>
              <a:rPr lang="fr-FR" sz="2000" dirty="0">
                <a:solidFill>
                  <a:srgbClr val="C00000"/>
                </a:solidFill>
              </a:rPr>
              <a:t>L’inertie interclasse </a:t>
            </a:r>
            <a:r>
              <a:rPr lang="fr-FR" sz="2000" dirty="0"/>
              <a:t>(prise en compte de la dispersion des classes par rapport au centre de gravité du nuage) définie par:</a:t>
            </a:r>
          </a:p>
          <a:p>
            <a:pPr algn="just"/>
            <a:endParaRPr lang="fr-FR" sz="2000" dirty="0">
              <a:solidFill>
                <a:srgbClr val="0070C0"/>
              </a:solidFill>
            </a:endParaRPr>
          </a:p>
          <a:p>
            <a:pPr algn="just"/>
            <a:endParaRPr lang="fr-FR" sz="2000" dirty="0">
              <a:solidFill>
                <a:srgbClr val="0070C0"/>
              </a:solidFill>
            </a:endParaRPr>
          </a:p>
          <a:p>
            <a:pPr algn="just"/>
            <a:r>
              <a:rPr lang="fr-FR" sz="2000" dirty="0">
                <a:solidFill>
                  <a:srgbClr val="C00000"/>
                </a:solidFill>
              </a:rPr>
              <a:t>L’inertie totale </a:t>
            </a:r>
            <a:r>
              <a:rPr lang="fr-FR" sz="2000" dirty="0"/>
              <a:t>d’un nuage de points composé de différentes classes est la somme de son inertie intra-classe et de son inertie interclasse.</a:t>
            </a:r>
          </a:p>
          <a:p>
            <a:pPr algn="just"/>
            <a:endParaRPr lang="fr-FR" sz="2000" dirty="0">
              <a:solidFill>
                <a:srgbClr val="0070C0"/>
              </a:solidFill>
            </a:endParaRPr>
          </a:p>
          <a:p>
            <a:pPr algn="just"/>
            <a:endParaRPr lang="fr-FR" sz="20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52</a:t>
            </a:fld>
            <a:endParaRPr lang="fr-FR"/>
          </a:p>
        </p:txBody>
      </p:sp>
      <p:pic>
        <p:nvPicPr>
          <p:cNvPr id="64514" name="Picture 2"/>
          <p:cNvPicPr>
            <a:picLocks noChangeAspect="1" noChangeArrowheads="1"/>
          </p:cNvPicPr>
          <p:nvPr/>
        </p:nvPicPr>
        <p:blipFill>
          <a:blip r:embed="rId2" cstate="print"/>
          <a:srcRect/>
          <a:stretch>
            <a:fillRect/>
          </a:stretch>
        </p:blipFill>
        <p:spPr bwMode="auto">
          <a:xfrm>
            <a:off x="1285852" y="2714620"/>
            <a:ext cx="6336704" cy="582077"/>
          </a:xfrm>
          <a:prstGeom prst="rect">
            <a:avLst/>
          </a:prstGeom>
          <a:noFill/>
          <a:ln w="9525">
            <a:noFill/>
            <a:miter lim="800000"/>
            <a:headEnd/>
            <a:tailEnd/>
          </a:ln>
        </p:spPr>
      </p:pic>
      <p:pic>
        <p:nvPicPr>
          <p:cNvPr id="64515" name="Picture 3"/>
          <p:cNvPicPr>
            <a:picLocks noChangeAspect="1" noChangeArrowheads="1"/>
          </p:cNvPicPr>
          <p:nvPr/>
        </p:nvPicPr>
        <p:blipFill>
          <a:blip r:embed="rId3" cstate="print"/>
          <a:srcRect/>
          <a:stretch>
            <a:fillRect/>
          </a:stretch>
        </p:blipFill>
        <p:spPr bwMode="auto">
          <a:xfrm>
            <a:off x="714348" y="3857628"/>
            <a:ext cx="7814248" cy="648072"/>
          </a:xfrm>
          <a:prstGeom prst="rect">
            <a:avLst/>
          </a:prstGeom>
          <a:noFill/>
          <a:ln w="9525">
            <a:noFill/>
            <a:miter lim="800000"/>
            <a:headEnd/>
            <a:tailEnd/>
          </a:ln>
        </p:spPr>
      </p:pic>
      <p:sp>
        <p:nvSpPr>
          <p:cNvPr id="20" name="Titre 9"/>
          <p:cNvSpPr>
            <a:spLocks noGrp="1"/>
          </p:cNvSpPr>
          <p:nvPr>
            <p:ph type="title"/>
          </p:nvPr>
        </p:nvSpPr>
        <p:spPr>
          <a:xfrm>
            <a:off x="301752" y="228600"/>
            <a:ext cx="8534400" cy="758952"/>
          </a:xfrm>
        </p:spPr>
        <p:txBody>
          <a:bodyPr/>
          <a:lstStyle/>
          <a:p>
            <a:r>
              <a:rPr lang="fr-FR" dirty="0"/>
              <a:t>2.4. Mise en œuvre</a:t>
            </a:r>
          </a:p>
        </p:txBody>
      </p:sp>
      <p:pic>
        <p:nvPicPr>
          <p:cNvPr id="9" name="Picture 2"/>
          <p:cNvPicPr>
            <a:picLocks noChangeAspect="1" noChangeArrowheads="1"/>
          </p:cNvPicPr>
          <p:nvPr/>
        </p:nvPicPr>
        <p:blipFill>
          <a:blip r:embed="rId4" cstate="print"/>
          <a:srcRect/>
          <a:stretch>
            <a:fillRect/>
          </a:stretch>
        </p:blipFill>
        <p:spPr bwMode="auto">
          <a:xfrm>
            <a:off x="1331640" y="5301208"/>
            <a:ext cx="6624736" cy="462806"/>
          </a:xfrm>
          <a:prstGeom prst="rect">
            <a:avLst/>
          </a:prstGeom>
          <a:noFill/>
          <a:ln w="9525">
            <a:noFill/>
            <a:miter lim="800000"/>
            <a:headEnd/>
            <a:tailEnd/>
          </a:ln>
        </p:spPr>
      </p:pic>
    </p:spTree>
    <p:extLst>
      <p:ext uri="{BB962C8B-B14F-4D97-AF65-F5344CB8AC3E}">
        <p14:creationId xmlns:p14="http://schemas.microsoft.com/office/powerpoint/2010/main" val="4049427681"/>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53</a:t>
            </a:fld>
            <a:endParaRPr lang="fr-FR"/>
          </a:p>
        </p:txBody>
      </p:sp>
      <p:sp>
        <p:nvSpPr>
          <p:cNvPr id="21" name="Titre 9"/>
          <p:cNvSpPr>
            <a:spLocks noGrp="1"/>
          </p:cNvSpPr>
          <p:nvPr>
            <p:ph type="title"/>
          </p:nvPr>
        </p:nvSpPr>
        <p:spPr>
          <a:xfrm>
            <a:off x="301752" y="228600"/>
            <a:ext cx="8534400" cy="758952"/>
          </a:xfrm>
        </p:spPr>
        <p:txBody>
          <a:bodyPr/>
          <a:lstStyle/>
          <a:p>
            <a:r>
              <a:rPr lang="fr-FR" dirty="0"/>
              <a:t>2.4. Mise en œuvre</a:t>
            </a:r>
          </a:p>
        </p:txBody>
      </p:sp>
      <p:sp>
        <p:nvSpPr>
          <p:cNvPr id="8" name="Espace réservé du contenu 2"/>
          <p:cNvSpPr>
            <a:spLocks noGrp="1"/>
          </p:cNvSpPr>
          <p:nvPr>
            <p:ph idx="1"/>
          </p:nvPr>
        </p:nvSpPr>
        <p:spPr>
          <a:xfrm>
            <a:off x="323528" y="1600200"/>
            <a:ext cx="8424936" cy="4925143"/>
          </a:xfrm>
        </p:spPr>
        <p:txBody>
          <a:bodyPr>
            <a:normAutofit/>
          </a:bodyPr>
          <a:lstStyle/>
          <a:p>
            <a:pPr lvl="0" algn="just">
              <a:buNone/>
            </a:pPr>
            <a:r>
              <a:rPr lang="fr-FR" sz="2400" dirty="0">
                <a:solidFill>
                  <a:schemeClr val="bg1">
                    <a:lumMod val="50000"/>
                  </a:schemeClr>
                </a:solidFill>
              </a:rPr>
              <a:t>2.4.3. Critère d’homogénéité (écart entre classes)</a:t>
            </a:r>
          </a:p>
          <a:p>
            <a:pPr algn="just"/>
            <a:r>
              <a:rPr lang="fr-FR" sz="2000" dirty="0"/>
              <a:t>Une classe est homogène </a:t>
            </a:r>
            <a:r>
              <a:rPr lang="fr-FR" sz="2000" dirty="0">
                <a:solidFill>
                  <a:srgbClr val="C00000"/>
                </a:solidFill>
                <a:sym typeface="Symbol"/>
              </a:rPr>
              <a:t></a:t>
            </a:r>
            <a:r>
              <a:rPr lang="fr-FR" sz="2000" dirty="0">
                <a:sym typeface="Symbol"/>
              </a:rPr>
              <a:t> son inertie est faible.</a:t>
            </a:r>
          </a:p>
          <a:p>
            <a:pPr algn="just"/>
            <a:r>
              <a:rPr lang="fr-FR" sz="2000" dirty="0">
                <a:sym typeface="Symbol"/>
              </a:rPr>
              <a:t>Deux critères de bonne classification : grande </a:t>
            </a:r>
            <a:r>
              <a:rPr lang="fr-FR" sz="2000" dirty="0">
                <a:solidFill>
                  <a:srgbClr val="C00000"/>
                </a:solidFill>
                <a:sym typeface="Symbol"/>
              </a:rPr>
              <a:t>I</a:t>
            </a:r>
            <a:r>
              <a:rPr lang="fr-FR" sz="2000" baseline="-25000" dirty="0">
                <a:solidFill>
                  <a:srgbClr val="C00000"/>
                </a:solidFill>
                <a:sym typeface="Symbol"/>
              </a:rPr>
              <a:t>R</a:t>
            </a:r>
            <a:r>
              <a:rPr lang="fr-FR" sz="2000" dirty="0">
                <a:sym typeface="Symbol"/>
              </a:rPr>
              <a:t>, petite </a:t>
            </a:r>
            <a:r>
              <a:rPr lang="fr-FR" sz="2000" dirty="0">
                <a:solidFill>
                  <a:srgbClr val="00B050"/>
                </a:solidFill>
                <a:sym typeface="Symbol"/>
              </a:rPr>
              <a:t>I</a:t>
            </a:r>
            <a:r>
              <a:rPr lang="fr-FR" sz="2000" baseline="-25000" dirty="0">
                <a:solidFill>
                  <a:srgbClr val="00B050"/>
                </a:solidFill>
                <a:sym typeface="Symbol"/>
              </a:rPr>
              <a:t>A</a:t>
            </a:r>
          </a:p>
          <a:p>
            <a:pPr algn="just"/>
            <a:r>
              <a:rPr lang="fr-FR" sz="2000" dirty="0">
                <a:sym typeface="Symbol"/>
              </a:rPr>
              <a:t>Ces deux critères sont équivalents d’après la </a:t>
            </a:r>
            <a:r>
              <a:rPr lang="fr-FR" sz="2000" dirty="0">
                <a:solidFill>
                  <a:srgbClr val="C00000"/>
                </a:solidFill>
                <a:sym typeface="Symbol"/>
              </a:rPr>
              <a:t>formule de Huygens</a:t>
            </a:r>
            <a:r>
              <a:rPr lang="fr-FR" sz="2000" dirty="0">
                <a:sym typeface="Symbol"/>
              </a:rPr>
              <a:t>: I</a:t>
            </a:r>
            <a:r>
              <a:rPr lang="fr-FR" sz="2000" baseline="-25000" dirty="0">
                <a:sym typeface="Symbol"/>
              </a:rPr>
              <a:t>TOT</a:t>
            </a:r>
            <a:r>
              <a:rPr lang="fr-FR" sz="2000" dirty="0">
                <a:solidFill>
                  <a:srgbClr val="C00000"/>
                </a:solidFill>
                <a:sym typeface="Symbol"/>
              </a:rPr>
              <a:t>=</a:t>
            </a:r>
            <a:r>
              <a:rPr lang="fr-FR" sz="2000" dirty="0">
                <a:solidFill>
                  <a:srgbClr val="00B050"/>
                </a:solidFill>
                <a:sym typeface="Symbol"/>
              </a:rPr>
              <a:t>I</a:t>
            </a:r>
            <a:r>
              <a:rPr lang="fr-FR" sz="2000" baseline="-25000" dirty="0">
                <a:solidFill>
                  <a:srgbClr val="00B050"/>
                </a:solidFill>
                <a:sym typeface="Symbol"/>
              </a:rPr>
              <a:t>A</a:t>
            </a:r>
            <a:r>
              <a:rPr lang="fr-FR" sz="2000" dirty="0">
                <a:sym typeface="Symbol"/>
              </a:rPr>
              <a:t>+</a:t>
            </a:r>
            <a:r>
              <a:rPr lang="fr-FR" sz="2000" dirty="0">
                <a:solidFill>
                  <a:srgbClr val="C00000"/>
                </a:solidFill>
                <a:sym typeface="Symbol"/>
              </a:rPr>
              <a:t>I</a:t>
            </a:r>
            <a:r>
              <a:rPr lang="fr-FR" sz="2000" baseline="-25000" dirty="0">
                <a:solidFill>
                  <a:srgbClr val="C00000"/>
                </a:solidFill>
                <a:sym typeface="Symbol"/>
              </a:rPr>
              <a:t>R</a:t>
            </a:r>
            <a:r>
              <a:rPr lang="fr-FR" sz="2000" dirty="0">
                <a:solidFill>
                  <a:srgbClr val="C00000"/>
                </a:solidFill>
                <a:sym typeface="Symbol"/>
              </a:rPr>
              <a:t> </a:t>
            </a:r>
            <a:endParaRPr lang="fr-FR" sz="2000" dirty="0">
              <a:solidFill>
                <a:srgbClr val="C00000"/>
              </a:solidFill>
            </a:endParaRPr>
          </a:p>
        </p:txBody>
      </p:sp>
      <p:pic>
        <p:nvPicPr>
          <p:cNvPr id="70657" name="Picture 1"/>
          <p:cNvPicPr>
            <a:picLocks noChangeAspect="1" noChangeArrowheads="1"/>
          </p:cNvPicPr>
          <p:nvPr/>
        </p:nvPicPr>
        <p:blipFill>
          <a:blip r:embed="rId2" cstate="print"/>
          <a:srcRect/>
          <a:stretch>
            <a:fillRect/>
          </a:stretch>
        </p:blipFill>
        <p:spPr bwMode="auto">
          <a:xfrm>
            <a:off x="928662" y="3714752"/>
            <a:ext cx="7464829" cy="2448272"/>
          </a:xfrm>
          <a:prstGeom prst="rect">
            <a:avLst/>
          </a:prstGeom>
          <a:noFill/>
          <a:ln w="9525">
            <a:noFill/>
            <a:miter lim="800000"/>
            <a:headEnd/>
            <a:tailEnd/>
          </a:ln>
        </p:spPr>
      </p:pic>
    </p:spTree>
    <p:extLst>
      <p:ext uri="{BB962C8B-B14F-4D97-AF65-F5344CB8AC3E}">
        <p14:creationId xmlns:p14="http://schemas.microsoft.com/office/powerpoint/2010/main" val="2720117425"/>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lvl="0" algn="just">
              <a:buNone/>
            </a:pPr>
            <a:r>
              <a:rPr lang="fr-FR" sz="2400" dirty="0">
                <a:solidFill>
                  <a:schemeClr val="bg1">
                    <a:lumMod val="50000"/>
                  </a:schemeClr>
                </a:solidFill>
              </a:rPr>
              <a:t>2.4.3. Critère d’homogénéité (écart entre classes)</a:t>
            </a:r>
          </a:p>
          <a:p>
            <a:pPr algn="just"/>
            <a:r>
              <a:rPr lang="fr-FR" sz="2000" dirty="0"/>
              <a:t>Une classe est “bien regroupée” autour de son centre de gravité, son inertie est faible. </a:t>
            </a:r>
          </a:p>
          <a:p>
            <a:pPr algn="just"/>
            <a:r>
              <a:rPr lang="fr-FR" sz="2000" dirty="0"/>
              <a:t>Ainsi, un bon critère pour avoir des classes homogènes est d’avoir une inertie intra-classe qui soit aussi petite que possible.</a:t>
            </a:r>
          </a:p>
          <a:p>
            <a:pPr algn="just"/>
            <a:r>
              <a:rPr lang="fr-FR" sz="2000" dirty="0"/>
              <a:t>En utilisant le Théorème de Huygens, cela revient à dire qu’il faut une inertie interclasse aussi grande que possible.</a:t>
            </a:r>
          </a:p>
          <a:p>
            <a:pPr algn="just"/>
            <a:endParaRPr lang="fr-FR" sz="2000" dirty="0"/>
          </a:p>
          <a:p>
            <a:pPr algn="just"/>
            <a:endParaRPr lang="fr-FR" sz="2000" dirty="0"/>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54</a:t>
            </a:fld>
            <a:endParaRPr lang="fr-FR"/>
          </a:p>
        </p:txBody>
      </p:sp>
      <p:sp>
        <p:nvSpPr>
          <p:cNvPr id="10"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4"/>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2"/>
          <p:cNvSpPr>
            <a:spLocks noChangeArrowheads="1"/>
          </p:cNvSpPr>
          <p:nvPr/>
        </p:nvSpPr>
        <p:spPr bwMode="auto">
          <a:xfrm>
            <a:off x="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0"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2979113573"/>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55</a:t>
            </a:fld>
            <a:endParaRPr lang="fr-FR"/>
          </a:p>
        </p:txBody>
      </p:sp>
      <p:sp>
        <p:nvSpPr>
          <p:cNvPr id="7" name="Espace réservé du contenu 6"/>
          <p:cNvSpPr>
            <a:spLocks noGrp="1"/>
          </p:cNvSpPr>
          <p:nvPr>
            <p:ph sz="quarter" idx="1"/>
          </p:nvPr>
        </p:nvSpPr>
        <p:spPr>
          <a:xfrm>
            <a:off x="323528" y="1665312"/>
            <a:ext cx="8503920" cy="4572000"/>
          </a:xfrm>
        </p:spPr>
        <p:txBody>
          <a:bodyPr>
            <a:normAutofit fontScale="62500" lnSpcReduction="20000"/>
          </a:bodyPr>
          <a:lstStyle/>
          <a:p>
            <a:pPr algn="just">
              <a:buNone/>
            </a:pPr>
            <a:r>
              <a:rPr lang="fr-FR" sz="2800" b="1" u="sng" dirty="0"/>
              <a:t>Exercice: </a:t>
            </a:r>
            <a:r>
              <a:rPr lang="fr-FR" sz="2800" dirty="0"/>
              <a:t>Soient M</a:t>
            </a:r>
            <a:r>
              <a:rPr lang="fr-FR" sz="2800" baseline="-25000" dirty="0"/>
              <a:t>1 </a:t>
            </a:r>
            <a:r>
              <a:rPr lang="fr-FR" sz="2800" dirty="0"/>
              <a:t>= (1, 0), M</a:t>
            </a:r>
            <a:r>
              <a:rPr lang="fr-FR" sz="2800" baseline="-25000" dirty="0"/>
              <a:t>2 </a:t>
            </a:r>
            <a:r>
              <a:rPr lang="fr-FR" sz="2800" dirty="0"/>
              <a:t>= (0, 1) et M</a:t>
            </a:r>
            <a:r>
              <a:rPr lang="fr-FR" sz="2800" baseline="-25000" dirty="0"/>
              <a:t>3 </a:t>
            </a:r>
            <a:r>
              <a:rPr lang="fr-FR" sz="2800" dirty="0"/>
              <a:t>= (3, 1) 3 points du plan.</a:t>
            </a:r>
          </a:p>
          <a:p>
            <a:pPr algn="just">
              <a:buNone/>
            </a:pPr>
            <a:r>
              <a:rPr lang="fr-FR" sz="2800" dirty="0"/>
              <a:t>1. Calculer les matrices des distances du nuage formé de ces trois points en utilisant successivement la distance euclidienne d</a:t>
            </a:r>
            <a:r>
              <a:rPr lang="fr-FR" sz="2800" baseline="-25000" dirty="0"/>
              <a:t>2</a:t>
            </a:r>
            <a:r>
              <a:rPr lang="fr-FR" sz="2800" dirty="0"/>
              <a:t> puis les distances d</a:t>
            </a:r>
            <a:r>
              <a:rPr lang="fr-FR" sz="2800" baseline="-25000" dirty="0"/>
              <a:t>1</a:t>
            </a:r>
            <a:r>
              <a:rPr lang="fr-FR" sz="2800" dirty="0"/>
              <a:t> et d</a:t>
            </a:r>
            <a:r>
              <a:rPr lang="fr-FR" sz="2800" baseline="-25000" dirty="0">
                <a:sym typeface="Symbol"/>
              </a:rPr>
              <a:t></a:t>
            </a:r>
            <a:r>
              <a:rPr lang="fr-FR" sz="2800" dirty="0"/>
              <a:t>.</a:t>
            </a:r>
          </a:p>
          <a:p>
            <a:pPr algn="just">
              <a:buNone/>
            </a:pPr>
            <a:r>
              <a:rPr lang="fr-FR" sz="2800" dirty="0"/>
              <a:t>2. On ajoute au nuage précédent les deux points M</a:t>
            </a:r>
            <a:r>
              <a:rPr lang="fr-FR" sz="2800" baseline="-25000" dirty="0"/>
              <a:t>4</a:t>
            </a:r>
            <a:r>
              <a:rPr lang="fr-FR" sz="2800" dirty="0"/>
              <a:t>=(4, 2) et M</a:t>
            </a:r>
            <a:r>
              <a:rPr lang="fr-FR" sz="2800" baseline="-25000" dirty="0"/>
              <a:t>5 </a:t>
            </a:r>
            <a:r>
              <a:rPr lang="fr-FR" sz="2800" dirty="0"/>
              <a:t>= (4, 3).  Supposons que M</a:t>
            </a:r>
            <a:r>
              <a:rPr lang="fr-FR" sz="2800" baseline="-25000" dirty="0"/>
              <a:t>1</a:t>
            </a:r>
            <a:r>
              <a:rPr lang="fr-FR" sz="2800" dirty="0"/>
              <a:t>, M</a:t>
            </a:r>
            <a:r>
              <a:rPr lang="fr-FR" sz="2800" baseline="-25000" dirty="0"/>
              <a:t>2</a:t>
            </a:r>
            <a:r>
              <a:rPr lang="fr-FR" sz="2800" dirty="0"/>
              <a:t> et M</a:t>
            </a:r>
            <a:r>
              <a:rPr lang="fr-FR" sz="2800" baseline="-25000" dirty="0"/>
              <a:t>3</a:t>
            </a:r>
            <a:r>
              <a:rPr lang="fr-FR" sz="2800" dirty="0"/>
              <a:t> forment la classe C</a:t>
            </a:r>
            <a:r>
              <a:rPr lang="fr-FR" sz="2800" baseline="-25000" dirty="0"/>
              <a:t>1</a:t>
            </a:r>
            <a:r>
              <a:rPr lang="fr-FR" sz="2800" dirty="0"/>
              <a:t> et que M</a:t>
            </a:r>
            <a:r>
              <a:rPr lang="fr-FR" sz="2800" baseline="-25000" dirty="0"/>
              <a:t>4</a:t>
            </a:r>
            <a:r>
              <a:rPr lang="fr-FR" sz="2800" dirty="0"/>
              <a:t> et M</a:t>
            </a:r>
            <a:r>
              <a:rPr lang="fr-FR" sz="2800" baseline="-25000" dirty="0"/>
              <a:t>5</a:t>
            </a:r>
            <a:r>
              <a:rPr lang="fr-FR" sz="2800" dirty="0"/>
              <a:t> forment une seconde classe C</a:t>
            </a:r>
            <a:r>
              <a:rPr lang="fr-FR" sz="2800" baseline="-25000" dirty="0"/>
              <a:t>2</a:t>
            </a:r>
            <a:r>
              <a:rPr lang="fr-FR" sz="2800" dirty="0"/>
              <a:t>. Calculer le centre de gravité et le poids de chaque classe.</a:t>
            </a:r>
          </a:p>
          <a:p>
            <a:pPr algn="just">
              <a:buNone/>
            </a:pPr>
            <a:r>
              <a:rPr lang="fr-FR" sz="2800" dirty="0"/>
              <a:t>3. Calculer l’écart entre ces deux classes (en utilisant la distance euclidienne) par a) la distance du plus proche voisin (ou saut minimal), b) la distance du voisin le plus loin (saut maximal), c) la distance entre les centres de gravité et d) l’écart de </a:t>
            </a:r>
            <a:r>
              <a:rPr lang="fr-FR" sz="2800" dirty="0" err="1"/>
              <a:t>ward</a:t>
            </a:r>
            <a:r>
              <a:rPr lang="fr-FR" sz="2800" dirty="0"/>
              <a:t>.</a:t>
            </a:r>
          </a:p>
          <a:p>
            <a:pPr algn="just">
              <a:buNone/>
            </a:pPr>
            <a:r>
              <a:rPr lang="fr-FR" sz="2800" dirty="0"/>
              <a:t>4. Calculer l’inertie totale I(C</a:t>
            </a:r>
            <a:r>
              <a:rPr lang="fr-FR" sz="2800" baseline="-25000" dirty="0"/>
              <a:t>1</a:t>
            </a:r>
            <a:r>
              <a:rPr lang="fr-FR" sz="2800" dirty="0">
                <a:sym typeface="Symbol"/>
              </a:rPr>
              <a:t>C</a:t>
            </a:r>
            <a:r>
              <a:rPr lang="fr-FR" sz="2800" baseline="-25000" dirty="0">
                <a:sym typeface="Symbol"/>
              </a:rPr>
              <a:t>2</a:t>
            </a:r>
            <a:r>
              <a:rPr lang="fr-FR" sz="2800" dirty="0">
                <a:sym typeface="Symbol"/>
              </a:rPr>
              <a:t>) </a:t>
            </a:r>
            <a:r>
              <a:rPr lang="fr-FR" sz="2800" dirty="0"/>
              <a:t>du nuage des points.</a:t>
            </a:r>
          </a:p>
          <a:p>
            <a:pPr algn="just">
              <a:buNone/>
            </a:pPr>
            <a:r>
              <a:rPr lang="fr-FR" sz="2800" dirty="0"/>
              <a:t>5. Calculer l’inertie intra-classe </a:t>
            </a:r>
            <a:r>
              <a:rPr lang="fr-FR" sz="2800" dirty="0" err="1">
                <a:sym typeface="Symbol"/>
              </a:rPr>
              <a:t>I</a:t>
            </a:r>
            <a:r>
              <a:rPr lang="fr-FR" sz="2800" baseline="-25000" dirty="0" err="1">
                <a:sym typeface="Symbol"/>
              </a:rPr>
              <a:t>intra</a:t>
            </a:r>
            <a:r>
              <a:rPr lang="fr-FR" sz="2800" dirty="0">
                <a:sym typeface="Symbol"/>
              </a:rPr>
              <a:t>  </a:t>
            </a:r>
            <a:r>
              <a:rPr lang="fr-FR" sz="2800" dirty="0"/>
              <a:t>et l’inertie </a:t>
            </a:r>
            <a:r>
              <a:rPr lang="fr-FR" sz="2800" dirty="0" err="1"/>
              <a:t>inter-classe</a:t>
            </a:r>
            <a:r>
              <a:rPr lang="fr-FR" sz="2800" dirty="0"/>
              <a:t> </a:t>
            </a:r>
            <a:r>
              <a:rPr lang="fr-FR" sz="2800" dirty="0" err="1">
                <a:sym typeface="Symbol"/>
              </a:rPr>
              <a:t>I</a:t>
            </a:r>
            <a:r>
              <a:rPr lang="fr-FR" sz="2800" baseline="-25000" dirty="0" err="1">
                <a:sym typeface="Symbol"/>
              </a:rPr>
              <a:t>inter</a:t>
            </a:r>
            <a:r>
              <a:rPr lang="fr-FR" sz="2800" dirty="0"/>
              <a:t>.</a:t>
            </a:r>
          </a:p>
          <a:p>
            <a:pPr algn="just">
              <a:buNone/>
            </a:pPr>
            <a:r>
              <a:rPr lang="fr-FR" sz="2800" dirty="0"/>
              <a:t>6. Vérifier que l’inertie totale d’un nuage de points composé de différentes classes est la somme de son inertie intra-classe et de son inertie interclasse.</a:t>
            </a:r>
          </a:p>
          <a:p>
            <a:pPr algn="just">
              <a:buNone/>
            </a:pPr>
            <a:r>
              <a:rPr lang="fr-FR" sz="2800" dirty="0"/>
              <a:t>				I(C</a:t>
            </a:r>
            <a:r>
              <a:rPr lang="fr-FR" sz="2800" baseline="-25000" dirty="0"/>
              <a:t>1</a:t>
            </a:r>
            <a:r>
              <a:rPr lang="fr-FR" sz="2800" dirty="0">
                <a:sym typeface="Symbol"/>
              </a:rPr>
              <a:t>C</a:t>
            </a:r>
            <a:r>
              <a:rPr lang="fr-FR" sz="2800" baseline="-25000" dirty="0">
                <a:sym typeface="Symbol"/>
              </a:rPr>
              <a:t>2</a:t>
            </a:r>
            <a:r>
              <a:rPr lang="fr-FR" sz="2800" dirty="0">
                <a:sym typeface="Symbol"/>
              </a:rPr>
              <a:t>)=</a:t>
            </a:r>
            <a:r>
              <a:rPr lang="fr-FR" sz="2800" dirty="0" err="1">
                <a:sym typeface="Symbol"/>
              </a:rPr>
              <a:t>I</a:t>
            </a:r>
            <a:r>
              <a:rPr lang="fr-FR" sz="2800" baseline="-25000" dirty="0" err="1">
                <a:sym typeface="Symbol"/>
              </a:rPr>
              <a:t>intra</a:t>
            </a:r>
            <a:r>
              <a:rPr lang="fr-FR" sz="2800" dirty="0">
                <a:sym typeface="Symbol"/>
              </a:rPr>
              <a:t> +</a:t>
            </a:r>
            <a:r>
              <a:rPr lang="fr-FR" sz="2800" dirty="0" err="1">
                <a:sym typeface="Symbol"/>
              </a:rPr>
              <a:t>I</a:t>
            </a:r>
            <a:r>
              <a:rPr lang="fr-FR" sz="2800" baseline="-25000" dirty="0" err="1">
                <a:sym typeface="Symbol"/>
              </a:rPr>
              <a:t>inter</a:t>
            </a:r>
            <a:endParaRPr lang="fr-FR" sz="2800" baseline="-25000" dirty="0">
              <a:sym typeface="Symbol"/>
            </a:endParaRPr>
          </a:p>
          <a:p>
            <a:pPr algn="just">
              <a:buNone/>
            </a:pPr>
            <a:r>
              <a:rPr lang="fr-FR" sz="2800" dirty="0">
                <a:sym typeface="Symbol"/>
              </a:rPr>
              <a:t>7. Comparer cette classification à celle ayant une première classe composée uniquement par M1 et M2 alors que M3, M4 et M5 sont dans une deuxième classe. </a:t>
            </a:r>
          </a:p>
          <a:p>
            <a:pPr algn="just"/>
            <a:endParaRPr lang="fr-FR" dirty="0"/>
          </a:p>
        </p:txBody>
      </p:sp>
      <p:sp>
        <p:nvSpPr>
          <p:cNvPr id="10" name="Titre 9"/>
          <p:cNvSpPr>
            <a:spLocks noGrp="1"/>
          </p:cNvSpPr>
          <p:nvPr>
            <p:ph type="title"/>
          </p:nvPr>
        </p:nvSpPr>
        <p:spPr/>
        <p:txBody>
          <a:bodyPr/>
          <a:lstStyle/>
          <a:p>
            <a:r>
              <a:rPr lang="fr-FR" dirty="0"/>
              <a:t>2.4. Mise en œuvre</a:t>
            </a:r>
          </a:p>
        </p:txBody>
      </p:sp>
    </p:spTree>
    <p:extLst>
      <p:ext uri="{BB962C8B-B14F-4D97-AF65-F5344CB8AC3E}">
        <p14:creationId xmlns:p14="http://schemas.microsoft.com/office/powerpoint/2010/main" val="3928223864"/>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51520" y="1268760"/>
                <a:ext cx="9144000" cy="5301207"/>
              </a:xfrm>
            </p:spPr>
            <p:txBody>
              <a:bodyPr>
                <a:normAutofit/>
              </a:bodyPr>
              <a:lstStyle/>
              <a:p>
                <a:pPr>
                  <a:buNone/>
                </a:pPr>
                <a:r>
                  <a:rPr lang="fr-FR" sz="1600" b="1" u="sng" dirty="0"/>
                  <a:t>Correction de l’exercice:</a:t>
                </a:r>
              </a:p>
              <a:p>
                <a:pPr>
                  <a:buNone/>
                </a:pPr>
                <a:r>
                  <a:rPr lang="fr-FR" sz="1600" dirty="0"/>
                  <a:t>M</a:t>
                </a:r>
                <a:r>
                  <a:rPr lang="fr-FR" sz="1600" baseline="-25000" dirty="0"/>
                  <a:t>1 </a:t>
                </a:r>
                <a:r>
                  <a:rPr lang="fr-FR" sz="1600" dirty="0"/>
                  <a:t>= (1, 0), M</a:t>
                </a:r>
                <a:r>
                  <a:rPr lang="fr-FR" sz="1600" baseline="-25000" dirty="0"/>
                  <a:t>2 </a:t>
                </a:r>
                <a:r>
                  <a:rPr lang="fr-FR" sz="1600" dirty="0"/>
                  <a:t>= (0, 1) et M</a:t>
                </a:r>
                <a:r>
                  <a:rPr lang="fr-FR" sz="1600" baseline="-25000" dirty="0"/>
                  <a:t>3 </a:t>
                </a:r>
                <a:r>
                  <a:rPr lang="fr-FR" sz="1600" dirty="0"/>
                  <a:t>= (3, 1) appartiennent à C</a:t>
                </a:r>
                <a:r>
                  <a:rPr lang="fr-FR" sz="1600" baseline="-25000" dirty="0"/>
                  <a:t>1</a:t>
                </a:r>
                <a:endParaRPr lang="fr-FR" sz="1600" dirty="0"/>
              </a:p>
              <a:p>
                <a:pPr>
                  <a:buNone/>
                </a:pPr>
                <a:r>
                  <a:rPr lang="fr-FR" sz="1600" dirty="0"/>
                  <a:t>M</a:t>
                </a:r>
                <a:r>
                  <a:rPr lang="fr-FR" sz="1600" baseline="-25000" dirty="0"/>
                  <a:t>4</a:t>
                </a:r>
                <a:r>
                  <a:rPr lang="fr-FR" sz="1600" dirty="0"/>
                  <a:t> = (4, 2) et M</a:t>
                </a:r>
                <a:r>
                  <a:rPr lang="fr-FR" sz="1600" baseline="-25000" dirty="0"/>
                  <a:t>5 </a:t>
                </a:r>
                <a:r>
                  <a:rPr lang="fr-FR" sz="1600" dirty="0"/>
                  <a:t>= (4, 3) appartiennent à C</a:t>
                </a:r>
                <a:r>
                  <a:rPr lang="fr-FR" sz="1600" baseline="-25000" dirty="0"/>
                  <a:t>2</a:t>
                </a:r>
                <a:endParaRPr lang="fr-FR" sz="1600" dirty="0">
                  <a:sym typeface="Symbol"/>
                </a:endParaRPr>
              </a:p>
              <a:p>
                <a:pPr marL="514350" indent="-514350">
                  <a:buAutoNum type="arabicParenR"/>
                </a:pPr>
                <a:r>
                  <a:rPr lang="fr-FR" sz="1600" b="1" dirty="0">
                    <a:solidFill>
                      <a:srgbClr val="FF0000"/>
                    </a:solidFill>
                    <a:sym typeface="Symbol"/>
                  </a:rPr>
                  <a:t>La distance euclidienne  </a:t>
                </a:r>
              </a:p>
              <a:p>
                <a:pPr marL="514350" indent="-514350">
                  <a:buAutoNum type="arabicParenR"/>
                </a:pPr>
                <a:endParaRPr lang="fr-FR" sz="1600" dirty="0">
                  <a:sym typeface="Symbol"/>
                </a:endParaRPr>
              </a:p>
              <a:p>
                <a:pPr marL="0" indent="0">
                  <a:buNone/>
                </a:pPr>
                <a:endParaRPr lang="fr-FR" sz="1600" dirty="0">
                  <a:sym typeface="Symbol"/>
                </a:endParaRPr>
              </a:p>
              <a:p>
                <a:pPr marL="514350" indent="-514350">
                  <a:buAutoNum type="arabicParenR"/>
                </a:pPr>
                <a:endParaRPr lang="fr-FR" sz="1600" dirty="0">
                  <a:sym typeface="Symbol"/>
                </a:endParaRPr>
              </a:p>
              <a:p>
                <a:pPr marL="514350" indent="-514350">
                  <a:buNone/>
                </a:pPr>
                <a:r>
                  <a:rPr lang="fr-FR" sz="1600" dirty="0"/>
                  <a:t> </a:t>
                </a:r>
              </a:p>
              <a:p>
                <a:pPr marL="514350" indent="-514350">
                  <a:buNone/>
                </a:pPr>
                <a:r>
                  <a:rPr lang="fr-FR" sz="1600" dirty="0"/>
                  <a:t>d2(M1,M2)=</a:t>
                </a:r>
                <a14:m>
                  <m:oMath xmlns:m="http://schemas.openxmlformats.org/officeDocument/2006/math">
                    <m:rad>
                      <m:radPr>
                        <m:degHide m:val="on"/>
                        <m:ctrlPr>
                          <a:rPr lang="fr-FR" sz="1600" i="1" smtClean="0">
                            <a:latin typeface="Cambria Math" panose="02040503050406030204" pitchFamily="18" charset="0"/>
                          </a:rPr>
                        </m:ctrlPr>
                      </m:radPr>
                      <m:deg/>
                      <m:e>
                        <m:sSup>
                          <m:sSupPr>
                            <m:ctrlPr>
                              <a:rPr lang="fr-FR" sz="1600" i="1" smtClean="0">
                                <a:latin typeface="Cambria Math" panose="02040503050406030204" pitchFamily="18" charset="0"/>
                              </a:rPr>
                            </m:ctrlPr>
                          </m:sSupPr>
                          <m:e>
                            <m:r>
                              <a:rPr lang="fr-FR" sz="1600" b="0" i="1" smtClean="0">
                                <a:latin typeface="Cambria Math" panose="02040503050406030204" pitchFamily="18" charset="0"/>
                              </a:rPr>
                              <m:t>1</m:t>
                            </m:r>
                          </m:e>
                          <m:sup>
                            <m:r>
                              <a:rPr lang="fr-FR" sz="1600" b="0" i="1" smtClean="0">
                                <a:latin typeface="Cambria Math" panose="02040503050406030204" pitchFamily="18" charset="0"/>
                              </a:rPr>
                              <m:t>2</m:t>
                            </m:r>
                          </m:sup>
                        </m:sSup>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(−1)</m:t>
                            </m:r>
                          </m:e>
                          <m:sup>
                            <m:r>
                              <a:rPr lang="fr-FR" sz="1600" b="0" i="1" smtClean="0">
                                <a:latin typeface="Cambria Math" panose="02040503050406030204" pitchFamily="18" charset="0"/>
                              </a:rPr>
                              <m:t>2</m:t>
                            </m:r>
                          </m:sup>
                        </m:sSup>
                      </m:e>
                    </m:rad>
                  </m:oMath>
                </a14:m>
                <a:r>
                  <a:rPr lang="fr-FR" sz="1600" dirty="0"/>
                  <a:t> =</a:t>
                </a:r>
                <a14:m>
                  <m:oMath xmlns:m="http://schemas.openxmlformats.org/officeDocument/2006/math">
                    <m:r>
                      <a:rPr lang="fr-FR" sz="1600" i="1" dirty="0" smtClean="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2</m:t>
                    </m:r>
                  </m:oMath>
                </a14:m>
                <a:r>
                  <a:rPr lang="fr-FR" sz="1600" dirty="0"/>
                  <a:t> ; d2(M1,M3)=</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r>
                              <a:rPr lang="fr-FR" sz="1600" b="0" i="1" smtClean="0">
                                <a:latin typeface="Cambria Math" panose="02040503050406030204" pitchFamily="18" charset="0"/>
                              </a:rPr>
                              <m:t>(−2)</m:t>
                            </m:r>
                          </m:e>
                          <m:sup>
                            <m:r>
                              <a:rPr lang="fr-FR" sz="1600" i="1">
                                <a:latin typeface="Cambria Math" panose="02040503050406030204" pitchFamily="18" charset="0"/>
                              </a:rPr>
                              <m:t>2</m:t>
                            </m:r>
                          </m:sup>
                        </m:sSup>
                        <m:r>
                          <a:rPr lang="fr-FR" sz="1600" i="1">
                            <a:latin typeface="Cambria Math" panose="02040503050406030204" pitchFamily="18" charset="0"/>
                          </a:rPr>
                          <m:t>+</m:t>
                        </m:r>
                        <m:sSup>
                          <m:sSupPr>
                            <m:ctrlPr>
                              <a:rPr lang="fr-FR" sz="1600" i="1" smtClean="0">
                                <a:latin typeface="Cambria Math" panose="02040503050406030204" pitchFamily="18" charset="0"/>
                              </a:rPr>
                            </m:ctrlPr>
                          </m:sSupPr>
                          <m:e>
                            <m:r>
                              <a:rPr lang="fr-FR" sz="1600" i="1">
                                <a:latin typeface="Cambria Math" panose="02040503050406030204" pitchFamily="18" charset="0"/>
                              </a:rPr>
                              <m:t>(</m:t>
                            </m:r>
                            <m:r>
                              <a:rPr lang="fr-FR" sz="1600" b="0" i="1" smtClean="0">
                                <a:latin typeface="Cambria Math" panose="02040503050406030204" pitchFamily="18" charset="0"/>
                              </a:rPr>
                              <m:t>1)</m:t>
                            </m:r>
                          </m:e>
                          <m:sup>
                            <m:r>
                              <a:rPr lang="fr-FR" sz="1600" i="1">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b="0" i="1" dirty="0" smtClean="0">
                            <a:latin typeface="Cambria Math" panose="02040503050406030204" pitchFamily="18" charset="0"/>
                            <a:ea typeface="Cambria Math" panose="02040503050406030204" pitchFamily="18" charset="0"/>
                          </a:rPr>
                        </m:ctrlPr>
                      </m:radPr>
                      <m:deg/>
                      <m:e>
                        <m:r>
                          <a:rPr lang="fr-FR" sz="1600" b="0" i="1" dirty="0" smtClean="0">
                            <a:latin typeface="Cambria Math" panose="02040503050406030204" pitchFamily="18" charset="0"/>
                            <a:ea typeface="Cambria Math" panose="02040503050406030204" pitchFamily="18" charset="0"/>
                          </a:rPr>
                          <m:t>5</m:t>
                        </m:r>
                      </m:e>
                    </m:rad>
                    <m:r>
                      <a:rPr lang="fr-FR" sz="1600" b="0" i="1" dirty="0" smtClean="0">
                        <a:latin typeface="Cambria Math" panose="02040503050406030204" pitchFamily="18" charset="0"/>
                        <a:ea typeface="Cambria Math" panose="02040503050406030204" pitchFamily="18" charset="0"/>
                      </a:rPr>
                      <m:t> </m:t>
                    </m:r>
                  </m:oMath>
                </a14:m>
                <a:r>
                  <a:rPr lang="fr-FR" sz="1600" dirty="0"/>
                  <a:t>; d2(M2,M3)=</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r>
                              <a:rPr lang="fr-FR" sz="1600" b="0" i="1" smtClean="0">
                                <a:latin typeface="Cambria Math" panose="02040503050406030204" pitchFamily="18" charset="0"/>
                              </a:rPr>
                              <m:t>(−3)</m:t>
                            </m:r>
                          </m:e>
                          <m:sup>
                            <m:r>
                              <a:rPr lang="fr-FR" sz="1600" i="1">
                                <a:latin typeface="Cambria Math" panose="02040503050406030204" pitchFamily="18" charset="0"/>
                              </a:rPr>
                              <m:t>2</m:t>
                            </m:r>
                          </m:sup>
                        </m:sSup>
                        <m:r>
                          <a:rPr lang="fr-FR" sz="1600" i="1">
                            <a:latin typeface="Cambria Math" panose="02040503050406030204" pitchFamily="18" charset="0"/>
                          </a:rPr>
                          <m:t>+</m:t>
                        </m:r>
                        <m:sSup>
                          <m:sSupPr>
                            <m:ctrlPr>
                              <a:rPr lang="fr-FR" sz="1600" i="1">
                                <a:latin typeface="Cambria Math" panose="02040503050406030204" pitchFamily="18" charset="0"/>
                              </a:rPr>
                            </m:ctrlPr>
                          </m:sSupPr>
                          <m:e>
                            <m:r>
                              <a:rPr lang="fr-FR" sz="1600" i="1">
                                <a:latin typeface="Cambria Math" panose="02040503050406030204" pitchFamily="18" charset="0"/>
                              </a:rPr>
                              <m:t>(</m:t>
                            </m:r>
                            <m:r>
                              <a:rPr lang="fr-FR" sz="1600" b="0" i="1" smtClean="0">
                                <a:latin typeface="Cambria Math" panose="02040503050406030204" pitchFamily="18" charset="0"/>
                              </a:rPr>
                              <m:t>0</m:t>
                            </m:r>
                            <m:r>
                              <a:rPr lang="fr-FR" sz="1600" i="1">
                                <a:latin typeface="Cambria Math" panose="02040503050406030204" pitchFamily="18" charset="0"/>
                              </a:rPr>
                              <m:t>)</m:t>
                            </m:r>
                          </m:e>
                          <m:sup>
                            <m:r>
                              <a:rPr lang="fr-FR" sz="1600" i="1">
                                <a:latin typeface="Cambria Math" panose="02040503050406030204" pitchFamily="18" charset="0"/>
                              </a:rPr>
                              <m:t>2</m:t>
                            </m:r>
                          </m:sup>
                        </m:sSup>
                      </m:e>
                    </m:rad>
                  </m:oMath>
                </a14:m>
                <a:r>
                  <a:rPr lang="fr-FR" sz="1600" dirty="0"/>
                  <a:t> =</a:t>
                </a:r>
                <a14:m>
                  <m:oMath xmlns:m="http://schemas.openxmlformats.org/officeDocument/2006/math">
                    <m:r>
                      <a:rPr lang="fr-FR" sz="1600" i="1" dirty="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9</m:t>
                    </m:r>
                  </m:oMath>
                </a14:m>
                <a:endParaRPr lang="fr-FR" sz="1600" dirty="0"/>
              </a:p>
              <a:p>
                <a:pPr marL="514350" indent="-514350">
                  <a:buNone/>
                </a:pPr>
                <a:r>
                  <a:rPr lang="fr-FR" sz="1600" dirty="0"/>
                  <a:t>d2(M2,M1)=</a:t>
                </a:r>
                <a14:m>
                  <m:oMath xmlns:m="http://schemas.openxmlformats.org/officeDocument/2006/math">
                    <m:rad>
                      <m:radPr>
                        <m:degHide m:val="on"/>
                        <m:ctrlPr>
                          <a:rPr lang="fr-FR" sz="1600" i="1" smtClean="0">
                            <a:latin typeface="Cambria Math" panose="02040503050406030204" pitchFamily="18" charset="0"/>
                          </a:rPr>
                        </m:ctrlPr>
                      </m:radPr>
                      <m:deg/>
                      <m:e>
                        <m:sSup>
                          <m:sSupPr>
                            <m:ctrlPr>
                              <a:rPr lang="fr-FR" sz="1600" i="1">
                                <a:latin typeface="Cambria Math" panose="02040503050406030204" pitchFamily="18" charset="0"/>
                              </a:rPr>
                            </m:ctrlPr>
                          </m:sSupPr>
                          <m:e>
                            <m:r>
                              <a:rPr lang="fr-FR" sz="1600" i="1">
                                <a:latin typeface="Cambria Math" panose="02040503050406030204" pitchFamily="18" charset="0"/>
                              </a:rPr>
                              <m:t>(−1)</m:t>
                            </m:r>
                          </m:e>
                          <m:sup>
                            <m:r>
                              <a:rPr lang="fr-FR" sz="1600" i="1">
                                <a:latin typeface="Cambria Math" panose="02040503050406030204" pitchFamily="18" charset="0"/>
                              </a:rPr>
                              <m:t>2</m:t>
                            </m:r>
                          </m:sup>
                        </m:sSup>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(1)</m:t>
                            </m:r>
                          </m:e>
                          <m:sup>
                            <m:r>
                              <a:rPr lang="fr-FR" sz="1600" b="0" i="1" smtClean="0">
                                <a:latin typeface="Cambria Math" panose="02040503050406030204" pitchFamily="18" charset="0"/>
                              </a:rPr>
                              <m:t>2</m:t>
                            </m:r>
                          </m:sup>
                        </m:sSup>
                      </m:e>
                    </m:rad>
                  </m:oMath>
                </a14:m>
                <a:r>
                  <a:rPr lang="fr-FR" sz="1600" dirty="0"/>
                  <a:t> =</a:t>
                </a:r>
                <a14:m>
                  <m:oMath xmlns:m="http://schemas.openxmlformats.org/officeDocument/2006/math">
                    <m:r>
                      <a:rPr lang="fr-FR" sz="1600" i="1" dirty="0" smtClean="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2</m:t>
                    </m:r>
                  </m:oMath>
                </a14:m>
                <a:r>
                  <a:rPr lang="fr-FR" sz="1600" dirty="0"/>
                  <a:t>; d2(M3,M1)=</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sSup>
                              <m:sSupPr>
                                <m:ctrlPr>
                                  <a:rPr lang="fr-FR" sz="1600" i="1">
                                    <a:latin typeface="Cambria Math" panose="02040503050406030204" pitchFamily="18" charset="0"/>
                                  </a:rPr>
                                </m:ctrlPr>
                              </m:sSupPr>
                              <m:e>
                                <m:r>
                                  <a:rPr lang="fr-FR" sz="1600" i="1">
                                    <a:latin typeface="Cambria Math" panose="02040503050406030204" pitchFamily="18" charset="0"/>
                                  </a:rPr>
                                  <m:t>(1)</m:t>
                                </m:r>
                              </m:e>
                              <m:sup>
                                <m:r>
                                  <a:rPr lang="fr-FR" sz="1600" i="1">
                                    <a:latin typeface="Cambria Math" panose="02040503050406030204" pitchFamily="18" charset="0"/>
                                  </a:rPr>
                                  <m:t>2</m:t>
                                </m:r>
                              </m:sup>
                            </m:sSup>
                            <m:r>
                              <a:rPr lang="fr-FR" sz="1600" b="0" i="1" smtClean="0">
                                <a:latin typeface="Cambria Math" panose="02040503050406030204" pitchFamily="18" charset="0"/>
                              </a:rPr>
                              <m:t>+</m:t>
                            </m:r>
                            <m:r>
                              <a:rPr lang="fr-FR" sz="1600" i="1">
                                <a:latin typeface="Cambria Math" panose="02040503050406030204" pitchFamily="18" charset="0"/>
                              </a:rPr>
                              <m:t>(−2)</m:t>
                            </m:r>
                          </m:e>
                          <m:sup>
                            <m:r>
                              <a:rPr lang="fr-FR" sz="1600" i="1">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i="1" dirty="0">
                            <a:latin typeface="Cambria Math" panose="02040503050406030204" pitchFamily="18" charset="0"/>
                            <a:ea typeface="Cambria Math" panose="02040503050406030204" pitchFamily="18" charset="0"/>
                          </a:rPr>
                        </m:ctrlPr>
                      </m:radPr>
                      <m:deg/>
                      <m:e>
                        <m:r>
                          <a:rPr lang="fr-FR" sz="1600" i="1" dirty="0">
                            <a:latin typeface="Cambria Math" panose="02040503050406030204" pitchFamily="18" charset="0"/>
                            <a:ea typeface="Cambria Math" panose="02040503050406030204" pitchFamily="18" charset="0"/>
                          </a:rPr>
                          <m:t>5</m:t>
                        </m:r>
                      </m:e>
                    </m:rad>
                    <m:r>
                      <a:rPr lang="fr-FR" sz="1600" i="1" dirty="0">
                        <a:latin typeface="Cambria Math" panose="02040503050406030204" pitchFamily="18" charset="0"/>
                        <a:ea typeface="Cambria Math" panose="02040503050406030204" pitchFamily="18" charset="0"/>
                      </a:rPr>
                      <m:t> </m:t>
                    </m:r>
                  </m:oMath>
                </a14:m>
                <a:r>
                  <a:rPr lang="fr-FR" sz="1600" dirty="0"/>
                  <a:t>; d2(M3,M2)=</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r>
                              <a:rPr lang="fr-FR" sz="1600" i="1">
                                <a:latin typeface="Cambria Math" panose="02040503050406030204" pitchFamily="18" charset="0"/>
                              </a:rPr>
                              <m:t>(−3)</m:t>
                            </m:r>
                          </m:e>
                          <m:sup>
                            <m:r>
                              <a:rPr lang="fr-FR" sz="1600" i="1">
                                <a:latin typeface="Cambria Math" panose="02040503050406030204" pitchFamily="18" charset="0"/>
                              </a:rPr>
                              <m:t>2</m:t>
                            </m:r>
                          </m:sup>
                        </m:sSup>
                      </m:e>
                    </m:rad>
                  </m:oMath>
                </a14:m>
                <a:r>
                  <a:rPr lang="fr-FR" sz="1600" dirty="0"/>
                  <a:t> =</a:t>
                </a:r>
                <a14:m>
                  <m:oMath xmlns:m="http://schemas.openxmlformats.org/officeDocument/2006/math">
                    <m:r>
                      <a:rPr lang="fr-FR" sz="1600" i="1" dirty="0">
                        <a:latin typeface="Cambria Math" panose="02040503050406030204" pitchFamily="18" charset="0"/>
                        <a:ea typeface="Cambria Math" panose="02040503050406030204" pitchFamily="18" charset="0"/>
                      </a:rPr>
                      <m:t>√9</m:t>
                    </m:r>
                  </m:oMath>
                </a14:m>
                <a:endParaRPr lang="fr-FR" sz="1600" dirty="0"/>
              </a:p>
              <a:p>
                <a:pPr marL="514350" indent="-514350">
                  <a:buNone/>
                </a:pPr>
                <a:endParaRPr lang="fr-FR" sz="1600"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51520" y="1268760"/>
                <a:ext cx="9144000" cy="5301207"/>
              </a:xfrm>
              <a:blipFill>
                <a:blip r:embed="rId3"/>
                <a:stretch>
                  <a:fillRect l="-333" t="-345"/>
                </a:stretch>
              </a:blipFill>
            </p:spPr>
            <p:txBody>
              <a:bodyPr/>
              <a:lstStyle/>
              <a:p>
                <a:r>
                  <a:rPr lang="fr-FR">
                    <a:noFill/>
                  </a:rPr>
                  <a:t> </a:t>
                </a:r>
              </a:p>
            </p:txBody>
          </p:sp>
        </mc:Fallback>
      </mc:AlternateContent>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56</a:t>
            </a:fld>
            <a:endParaRPr lang="fr-FR"/>
          </a:p>
        </p:txBody>
      </p:sp>
      <p:graphicFrame>
        <p:nvGraphicFramePr>
          <p:cNvPr id="8" name="Objet 7"/>
          <p:cNvGraphicFramePr>
            <a:graphicFrameLocks noChangeAspect="1"/>
          </p:cNvGraphicFramePr>
          <p:nvPr>
            <p:extLst>
              <p:ext uri="{D42A27DB-BD31-4B8C-83A1-F6EECF244321}">
                <p14:modId xmlns:p14="http://schemas.microsoft.com/office/powerpoint/2010/main" val="3953960421"/>
              </p:ext>
            </p:extLst>
          </p:nvPr>
        </p:nvGraphicFramePr>
        <p:xfrm>
          <a:off x="3774773" y="4524916"/>
          <a:ext cx="2088232" cy="1181319"/>
        </p:xfrm>
        <a:graphic>
          <a:graphicData uri="http://schemas.openxmlformats.org/presentationml/2006/ole">
            <mc:AlternateContent xmlns:mc="http://schemas.openxmlformats.org/markup-compatibility/2006">
              <mc:Choice xmlns:v="urn:schemas-microsoft-com:vml" Requires="v">
                <p:oleObj spid="_x0000_s222470" name="Équation" r:id="rId4" imgW="32308800" imgH="18288000" progId="Equation.3">
                  <p:embed/>
                </p:oleObj>
              </mc:Choice>
              <mc:Fallback>
                <p:oleObj name="Équation" r:id="rId4" imgW="32308800" imgH="18288000" progId="Equation.3">
                  <p:embed/>
                  <p:pic>
                    <p:nvPicPr>
                      <p:cNvPr id="0"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4773" y="4524916"/>
                        <a:ext cx="2088232" cy="11813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itre 9"/>
          <p:cNvSpPr txBox="1">
            <a:spLocks/>
          </p:cNvSpPr>
          <p:nvPr/>
        </p:nvSpPr>
        <p:spPr>
          <a:xfrm>
            <a:off x="454152" y="260648"/>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3300" dirty="0">
                <a:solidFill>
                  <a:schemeClr val="accent3">
                    <a:shade val="75000"/>
                  </a:schemeClr>
                </a:solidFill>
                <a:latin typeface="+mj-lt"/>
                <a:ea typeface="+mj-ea"/>
                <a:cs typeface="+mj-cs"/>
              </a:rPr>
              <a:t>2</a:t>
            </a: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.4. Mise en œuvre</a:t>
            </a:r>
          </a:p>
        </p:txBody>
      </p:sp>
      <p:graphicFrame>
        <p:nvGraphicFramePr>
          <p:cNvPr id="2" name="Object 2">
            <a:extLst>
              <a:ext uri="{FF2B5EF4-FFF2-40B4-BE49-F238E27FC236}">
                <a16:creationId xmlns:a16="http://schemas.microsoft.com/office/drawing/2014/main" id="{8EF02FE0-A65A-4647-8B05-128AA6673397}"/>
              </a:ext>
            </a:extLst>
          </p:cNvPr>
          <p:cNvGraphicFramePr>
            <a:graphicFrameLocks noChangeAspect="1"/>
          </p:cNvGraphicFramePr>
          <p:nvPr>
            <p:extLst>
              <p:ext uri="{D42A27DB-BD31-4B8C-83A1-F6EECF244321}">
                <p14:modId xmlns:p14="http://schemas.microsoft.com/office/powerpoint/2010/main" val="3734848864"/>
              </p:ext>
            </p:extLst>
          </p:nvPr>
        </p:nvGraphicFramePr>
        <p:xfrm>
          <a:off x="691344" y="2505241"/>
          <a:ext cx="2808312" cy="923759"/>
        </p:xfrm>
        <a:graphic>
          <a:graphicData uri="http://schemas.openxmlformats.org/presentationml/2006/ole">
            <mc:AlternateContent xmlns:mc="http://schemas.openxmlformats.org/markup-compatibility/2006">
              <mc:Choice xmlns:v="urn:schemas-microsoft-com:vml" Requires="v">
                <p:oleObj spid="_x0000_s222471" r:id="rId6" imgW="35356800" imgH="11582400" progId="">
                  <p:embed/>
                </p:oleObj>
              </mc:Choice>
              <mc:Fallback>
                <p:oleObj r:id="rId6" imgW="35356800" imgH="11582400" progId="">
                  <p:embed/>
                  <p:pic>
                    <p:nvPicPr>
                      <p:cNvPr id="52226"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1344" y="2505241"/>
                        <a:ext cx="2808312" cy="9237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Objet 6">
                <a:extLst>
                  <a:ext uri="{FF2B5EF4-FFF2-40B4-BE49-F238E27FC236}">
                    <a16:creationId xmlns:a16="http://schemas.microsoft.com/office/drawing/2014/main" id="{2314809D-6D06-4E1E-B1C7-AE79960F3EF5}"/>
                  </a:ext>
                </a:extLst>
              </p:cNvPr>
              <p:cNvSpPr txBox="1"/>
              <p:nvPr/>
            </p:nvSpPr>
            <p:spPr bwMode="auto">
              <a:xfrm>
                <a:off x="5640388" y="2060575"/>
                <a:ext cx="2808312" cy="11811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fr-FR" sz="2000" b="0" i="1" smtClean="0">
                          <a:solidFill>
                            <a:srgbClr val="000000"/>
                          </a:solidFill>
                          <a:latin typeface="Cambria Math" panose="02040503050406030204" pitchFamily="18" charset="0"/>
                        </a:rPr>
                        <m:t>𝑑</m:t>
                      </m:r>
                      <m:r>
                        <a:rPr lang="fr-FR" sz="2000" b="0" i="1" smtClean="0">
                          <a:solidFill>
                            <a:srgbClr val="000000"/>
                          </a:solidFill>
                          <a:latin typeface="Cambria Math" panose="02040503050406030204" pitchFamily="18" charset="0"/>
                        </a:rPr>
                        <m:t>=</m:t>
                      </m:r>
                      <m:d>
                        <m:dPr>
                          <m:ctrlPr>
                            <a:rPr lang="fr-FR" sz="2000" i="1">
                              <a:solidFill>
                                <a:srgbClr val="000000"/>
                              </a:solidFill>
                              <a:latin typeface="Cambria Math" panose="02040503050406030204" pitchFamily="18" charset="0"/>
                            </a:rPr>
                          </m:ctrlPr>
                        </m:dPr>
                        <m:e>
                          <m:m>
                            <m:mPr>
                              <m:plcHide m:val="on"/>
                              <m:mcs>
                                <m:mc>
                                  <m:mcPr>
                                    <m:count m:val="3"/>
                                    <m:mcJc m:val="center"/>
                                  </m:mcPr>
                                </m:mc>
                              </m:mcs>
                              <m:ctrlPr>
                                <a:rPr lang="fr-FR" sz="2000" i="1" smtClean="0">
                                  <a:solidFill>
                                    <a:srgbClr val="000000"/>
                                  </a:solidFill>
                                  <a:latin typeface="Cambria Math" panose="02040503050406030204" pitchFamily="18" charset="0"/>
                                </a:rPr>
                              </m:ctrlPr>
                            </m:mPr>
                            <m:mr>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11</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12</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13</m:t>
                                </m:r>
                              </m:e>
                            </m:mr>
                            <m:mr>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21</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22</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2</m:t>
                                </m:r>
                                <m:r>
                                  <a:rPr lang="fr-FR" sz="2000" i="1" baseline="-25000">
                                    <a:solidFill>
                                      <a:srgbClr val="000000"/>
                                    </a:solidFill>
                                    <a:latin typeface="Cambria Math" panose="02040503050406030204" pitchFamily="18" charset="0"/>
                                  </a:rPr>
                                  <m:t>3</m:t>
                                </m:r>
                              </m:e>
                            </m:mr>
                            <m:mr>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31</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32</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33</m:t>
                                </m:r>
                              </m:e>
                            </m:mr>
                          </m:m>
                        </m:e>
                      </m:d>
                    </m:oMath>
                  </m:oMathPara>
                </a14:m>
                <a:endParaRPr lang="fr-FR" sz="2000" dirty="0"/>
              </a:p>
            </p:txBody>
          </p:sp>
        </mc:Choice>
        <mc:Fallback xmlns="">
          <p:sp>
            <p:nvSpPr>
              <p:cNvPr id="7" name="Objet 6">
                <a:extLst>
                  <a:ext uri="{FF2B5EF4-FFF2-40B4-BE49-F238E27FC236}">
                    <a16:creationId xmlns:a16="http://schemas.microsoft.com/office/drawing/2014/main" id="{2314809D-6D06-4E1E-B1C7-AE79960F3EF5}"/>
                  </a:ext>
                </a:extLst>
              </p:cNvPr>
              <p:cNvSpPr txBox="1">
                <a:spLocks noRot="1" noChangeAspect="1" noMove="1" noResize="1" noEditPoints="1" noAdjustHandles="1" noChangeArrowheads="1" noChangeShapeType="1" noTextEdit="1"/>
              </p:cNvSpPr>
              <p:nvPr/>
            </p:nvSpPr>
            <p:spPr bwMode="auto">
              <a:xfrm>
                <a:off x="5640388" y="2060575"/>
                <a:ext cx="2808312" cy="1181100"/>
              </a:xfrm>
              <a:prstGeom prst="rect">
                <a:avLst/>
              </a:prstGeom>
              <a:blipFill>
                <a:blip r:embed="rId8"/>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7626973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51520" y="1268760"/>
                <a:ext cx="9144000" cy="5301207"/>
              </a:xfrm>
            </p:spPr>
            <p:txBody>
              <a:bodyPr>
                <a:normAutofit/>
              </a:bodyPr>
              <a:lstStyle/>
              <a:p>
                <a:pPr>
                  <a:buNone/>
                </a:pPr>
                <a:r>
                  <a:rPr lang="fr-FR" sz="1600" b="1" u="sng" dirty="0"/>
                  <a:t>Correction de l’exercice:</a:t>
                </a:r>
              </a:p>
              <a:p>
                <a:pPr>
                  <a:buNone/>
                </a:pPr>
                <a:r>
                  <a:rPr lang="fr-FR" sz="1600" dirty="0"/>
                  <a:t>M</a:t>
                </a:r>
                <a:r>
                  <a:rPr lang="fr-FR" sz="1600" baseline="-25000" dirty="0"/>
                  <a:t>1 </a:t>
                </a:r>
                <a:r>
                  <a:rPr lang="fr-FR" sz="1600" dirty="0"/>
                  <a:t>= (1, 0), M</a:t>
                </a:r>
                <a:r>
                  <a:rPr lang="fr-FR" sz="1600" baseline="-25000" dirty="0"/>
                  <a:t>2 </a:t>
                </a:r>
                <a:r>
                  <a:rPr lang="fr-FR" sz="1600" dirty="0"/>
                  <a:t>= (0, 1) et M</a:t>
                </a:r>
                <a:r>
                  <a:rPr lang="fr-FR" sz="1600" baseline="-25000" dirty="0"/>
                  <a:t>3 </a:t>
                </a:r>
                <a:r>
                  <a:rPr lang="fr-FR" sz="1600" dirty="0"/>
                  <a:t>= (3, 1) appartiennent à C</a:t>
                </a:r>
                <a:r>
                  <a:rPr lang="fr-FR" sz="1600" baseline="-25000" dirty="0"/>
                  <a:t>1</a:t>
                </a:r>
                <a:endParaRPr lang="fr-FR" sz="1600" dirty="0"/>
              </a:p>
              <a:p>
                <a:pPr>
                  <a:buNone/>
                </a:pPr>
                <a:r>
                  <a:rPr lang="fr-FR" sz="1600" dirty="0"/>
                  <a:t>M</a:t>
                </a:r>
                <a:r>
                  <a:rPr lang="fr-FR" sz="1600" baseline="-25000" dirty="0"/>
                  <a:t>4</a:t>
                </a:r>
                <a:r>
                  <a:rPr lang="fr-FR" sz="1600" dirty="0"/>
                  <a:t> = (4, 2) et M</a:t>
                </a:r>
                <a:r>
                  <a:rPr lang="fr-FR" sz="1600" baseline="-25000" dirty="0"/>
                  <a:t>5 </a:t>
                </a:r>
                <a:r>
                  <a:rPr lang="fr-FR" sz="1600" dirty="0"/>
                  <a:t>= (4, 3) appartiennent à C</a:t>
                </a:r>
                <a:r>
                  <a:rPr lang="fr-FR" sz="1600" baseline="-25000" dirty="0"/>
                  <a:t>2</a:t>
                </a:r>
                <a:endParaRPr lang="fr-FR" sz="1600" dirty="0">
                  <a:sym typeface="Symbol"/>
                </a:endParaRPr>
              </a:p>
              <a:p>
                <a:pPr marL="514350" indent="-514350">
                  <a:buAutoNum type="arabicParenR"/>
                </a:pPr>
                <a:r>
                  <a:rPr lang="fr-FR" sz="1600" dirty="0">
                    <a:solidFill>
                      <a:srgbClr val="FF0000"/>
                    </a:solidFill>
                    <a:sym typeface="Symbol"/>
                  </a:rPr>
                  <a:t>La distance d1 de Manhattan</a:t>
                </a:r>
              </a:p>
              <a:p>
                <a:pPr marL="514350" indent="-514350">
                  <a:buAutoNum type="arabicParenR"/>
                </a:pPr>
                <a:endParaRPr lang="fr-FR" sz="1600" dirty="0">
                  <a:sym typeface="Symbol"/>
                </a:endParaRPr>
              </a:p>
              <a:p>
                <a:pPr marL="0" indent="0">
                  <a:buNone/>
                </a:pPr>
                <a:endParaRPr lang="fr-FR" sz="1600" dirty="0">
                  <a:sym typeface="Symbol"/>
                </a:endParaRPr>
              </a:p>
              <a:p>
                <a:pPr marL="514350" indent="-514350">
                  <a:buNone/>
                </a:pPr>
                <a:endParaRPr lang="fr-FR" sz="1600" dirty="0"/>
              </a:p>
              <a:p>
                <a:pPr marL="514350" indent="-514350">
                  <a:buNone/>
                </a:pPr>
                <a:r>
                  <a:rPr lang="fr-FR" sz="1600" dirty="0"/>
                  <a:t>d2(M1,M2)=</a:t>
                </a:r>
                <a14:m>
                  <m:oMath xmlns:m="http://schemas.openxmlformats.org/officeDocument/2006/math">
                    <m:d>
                      <m:dPr>
                        <m:begChr m:val="|"/>
                        <m:endChr m:val="|"/>
                        <m:ctrlPr>
                          <a:rPr lang="fr-FR" sz="1600" i="1" smtClean="0">
                            <a:latin typeface="Cambria Math" panose="02040503050406030204" pitchFamily="18" charset="0"/>
                          </a:rPr>
                        </m:ctrlPr>
                      </m:dPr>
                      <m:e>
                        <m:r>
                          <a:rPr lang="fr-FR" sz="1600" b="0" i="1" smtClean="0">
                            <a:latin typeface="Cambria Math" panose="02040503050406030204" pitchFamily="18" charset="0"/>
                          </a:rPr>
                          <m:t>1−0</m:t>
                        </m:r>
                      </m:e>
                    </m:d>
                    <m:r>
                      <a:rPr lang="fr-FR" sz="1600" b="0" i="1" smtClean="0">
                        <a:latin typeface="Cambria Math" panose="02040503050406030204" pitchFamily="18" charset="0"/>
                      </a:rPr>
                      <m:t>+</m:t>
                    </m:r>
                    <m:d>
                      <m:dPr>
                        <m:begChr m:val="|"/>
                        <m:endChr m:val="|"/>
                        <m:ctrlPr>
                          <a:rPr lang="fr-FR" sz="1600" b="0" i="1" smtClean="0">
                            <a:latin typeface="Cambria Math" panose="02040503050406030204" pitchFamily="18" charset="0"/>
                          </a:rPr>
                        </m:ctrlPr>
                      </m:dPr>
                      <m:e>
                        <m:r>
                          <a:rPr lang="fr-FR" sz="1600" b="0" i="1" smtClean="0">
                            <a:latin typeface="Cambria Math" panose="02040503050406030204" pitchFamily="18" charset="0"/>
                          </a:rPr>
                          <m:t>0−1</m:t>
                        </m:r>
                      </m:e>
                    </m:d>
                  </m:oMath>
                </a14:m>
                <a:r>
                  <a:rPr lang="fr-FR" sz="1600" dirty="0"/>
                  <a:t> =</a:t>
                </a:r>
                <a14:m>
                  <m:oMath xmlns:m="http://schemas.openxmlformats.org/officeDocument/2006/math">
                    <m:r>
                      <a:rPr lang="fr-FR" sz="1600" b="0" i="1" dirty="0" smtClean="0">
                        <a:latin typeface="Cambria Math" panose="02040503050406030204" pitchFamily="18" charset="0"/>
                        <a:ea typeface="Cambria Math" panose="02040503050406030204" pitchFamily="18" charset="0"/>
                      </a:rPr>
                      <m:t>2</m:t>
                    </m:r>
                  </m:oMath>
                </a14:m>
                <a:r>
                  <a:rPr lang="fr-FR" sz="1600" dirty="0"/>
                  <a:t> ; </a:t>
                </a:r>
              </a:p>
              <a:p>
                <a:pPr marL="514350" indent="-514350">
                  <a:buNone/>
                </a:pPr>
                <a:r>
                  <a:rPr lang="fr-FR" sz="1600" dirty="0">
                    <a:solidFill>
                      <a:srgbClr val="FF0000"/>
                    </a:solidFill>
                  </a:rPr>
                  <a:t>Distance sup de </a:t>
                </a:r>
                <a:r>
                  <a:rPr lang="fr-FR" sz="1600" dirty="0" err="1">
                    <a:solidFill>
                      <a:srgbClr val="FF0000"/>
                    </a:solidFill>
                  </a:rPr>
                  <a:t>Chebyshev</a:t>
                </a:r>
                <a:r>
                  <a:rPr lang="fr-FR" sz="1600" dirty="0">
                    <a:solidFill>
                      <a:srgbClr val="FF0000"/>
                    </a:solidFill>
                  </a:rPr>
                  <a:t> </a:t>
                </a:r>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51520" y="1268760"/>
                <a:ext cx="9144000" cy="5301207"/>
              </a:xfrm>
              <a:blipFill>
                <a:blip r:embed="rId3"/>
                <a:stretch>
                  <a:fillRect l="-333" t="-345"/>
                </a:stretch>
              </a:blipFill>
            </p:spPr>
            <p:txBody>
              <a:bodyPr/>
              <a:lstStyle/>
              <a:p>
                <a:r>
                  <a:rPr lang="fr-FR">
                    <a:noFill/>
                  </a:rPr>
                  <a:t> </a:t>
                </a:r>
              </a:p>
            </p:txBody>
          </p:sp>
        </mc:Fallback>
      </mc:AlternateContent>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57</a:t>
            </a:fld>
            <a:endParaRPr lang="fr-FR"/>
          </a:p>
        </p:txBody>
      </p:sp>
      <mc:AlternateContent xmlns:mc="http://schemas.openxmlformats.org/markup-compatibility/2006" xmlns:a14="http://schemas.microsoft.com/office/drawing/2010/main">
        <mc:Choice Requires="a14">
          <p:sp>
            <p:nvSpPr>
              <p:cNvPr id="8" name="Objet 7"/>
              <p:cNvSpPr txBox="1"/>
              <p:nvPr/>
            </p:nvSpPr>
            <p:spPr bwMode="auto">
              <a:xfrm>
                <a:off x="3886200" y="2636912"/>
                <a:ext cx="2087563" cy="10081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fr-FR" b="0" i="1" smtClean="0">
                          <a:solidFill>
                            <a:srgbClr val="000000"/>
                          </a:solidFill>
                          <a:latin typeface="Cambria Math" panose="02040503050406030204" pitchFamily="18" charset="0"/>
                        </a:rPr>
                        <m:t>𝑑</m:t>
                      </m:r>
                      <m:r>
                        <a:rPr lang="fr-FR" i="1">
                          <a:solidFill>
                            <a:srgbClr val="000000"/>
                          </a:solidFill>
                          <a:latin typeface="Cambria Math" panose="02040503050406030204" pitchFamily="18" charset="0"/>
                        </a:rPr>
                        <m:t>=</m:t>
                      </m:r>
                      <m:d>
                        <m:dPr>
                          <m:ctrlPr>
                            <a:rPr lang="fr-FR" i="1">
                              <a:solidFill>
                                <a:srgbClr val="000000"/>
                              </a:solidFill>
                              <a:latin typeface="Cambria Math" panose="02040503050406030204" pitchFamily="18" charset="0"/>
                            </a:rPr>
                          </m:ctrlPr>
                        </m:dPr>
                        <m:e>
                          <m:m>
                            <m:mPr>
                              <m:plcHide m:val="on"/>
                              <m:mcs>
                                <m:mc>
                                  <m:mcPr>
                                    <m:count m:val="3"/>
                                    <m:mcJc m:val="center"/>
                                  </m:mcPr>
                                </m:mc>
                              </m:mcs>
                              <m:ctrlPr>
                                <a:rPr lang="fr-FR" i="1">
                                  <a:solidFill>
                                    <a:srgbClr val="000000"/>
                                  </a:solidFill>
                                  <a:latin typeface="Cambria Math" panose="02040503050406030204" pitchFamily="18" charset="0"/>
                                </a:rPr>
                              </m:ctrlPr>
                            </m:mPr>
                            <m:mr>
                              <m:e>
                                <m:r>
                                  <a:rPr lang="fr-FR" i="1">
                                    <a:solidFill>
                                      <a:srgbClr val="000000"/>
                                    </a:solidFill>
                                    <a:latin typeface="Cambria Math" panose="02040503050406030204" pitchFamily="18" charset="0"/>
                                  </a:rPr>
                                  <m:t>0</m:t>
                                </m:r>
                              </m:e>
                              <m:e>
                                <m:r>
                                  <a:rPr lang="fr-FR" b="0" i="1" smtClean="0">
                                    <a:solidFill>
                                      <a:srgbClr val="000000"/>
                                    </a:solidFill>
                                    <a:latin typeface="Cambria Math" panose="02040503050406030204" pitchFamily="18" charset="0"/>
                                  </a:rPr>
                                  <m:t>2</m:t>
                                </m:r>
                              </m:e>
                              <m:e>
                                <m:r>
                                  <a:rPr lang="fr-FR" b="0" i="1" smtClean="0">
                                    <a:solidFill>
                                      <a:srgbClr val="000000"/>
                                    </a:solidFill>
                                    <a:latin typeface="Cambria Math" panose="02040503050406030204" pitchFamily="18" charset="0"/>
                                  </a:rPr>
                                  <m:t>3</m:t>
                                </m:r>
                              </m:e>
                            </m:mr>
                            <m:mr>
                              <m:e>
                                <m:r>
                                  <a:rPr lang="fr-FR" b="0" i="1" smtClean="0">
                                    <a:solidFill>
                                      <a:srgbClr val="000000"/>
                                    </a:solidFill>
                                    <a:latin typeface="Cambria Math" panose="02040503050406030204" pitchFamily="18" charset="0"/>
                                  </a:rPr>
                                  <m:t>2</m:t>
                                </m:r>
                              </m:e>
                              <m:e>
                                <m:r>
                                  <a:rPr lang="fr-FR" i="1">
                                    <a:solidFill>
                                      <a:srgbClr val="000000"/>
                                    </a:solidFill>
                                    <a:latin typeface="Cambria Math" panose="02040503050406030204" pitchFamily="18" charset="0"/>
                                  </a:rPr>
                                  <m:t>0</m:t>
                                </m:r>
                              </m:e>
                              <m:e>
                                <m:r>
                                  <a:rPr lang="fr-FR" i="1">
                                    <a:solidFill>
                                      <a:srgbClr val="000000"/>
                                    </a:solidFill>
                                    <a:latin typeface="Cambria Math" panose="02040503050406030204" pitchFamily="18" charset="0"/>
                                  </a:rPr>
                                  <m:t>3</m:t>
                                </m:r>
                              </m:e>
                            </m:mr>
                            <m:mr>
                              <m:e>
                                <m:r>
                                  <a:rPr lang="fr-FR" b="0" i="1" smtClean="0">
                                    <a:solidFill>
                                      <a:srgbClr val="000000"/>
                                    </a:solidFill>
                                    <a:latin typeface="Cambria Math" panose="02040503050406030204" pitchFamily="18" charset="0"/>
                                  </a:rPr>
                                  <m:t>3</m:t>
                                </m:r>
                              </m:e>
                              <m:e>
                                <m:r>
                                  <a:rPr lang="fr-FR" i="1">
                                    <a:solidFill>
                                      <a:srgbClr val="000000"/>
                                    </a:solidFill>
                                    <a:latin typeface="Cambria Math" panose="02040503050406030204" pitchFamily="18" charset="0"/>
                                  </a:rPr>
                                  <m:t>3</m:t>
                                </m:r>
                              </m:e>
                              <m:e>
                                <m:r>
                                  <a:rPr lang="fr-FR" i="1">
                                    <a:solidFill>
                                      <a:srgbClr val="000000"/>
                                    </a:solidFill>
                                    <a:latin typeface="Cambria Math" panose="02040503050406030204" pitchFamily="18" charset="0"/>
                                  </a:rPr>
                                  <m:t>0</m:t>
                                </m:r>
                              </m:e>
                            </m:mr>
                          </m:m>
                        </m:e>
                      </m:d>
                    </m:oMath>
                  </m:oMathPara>
                </a14:m>
                <a:endParaRPr lang="fr-FR" dirty="0"/>
              </a:p>
            </p:txBody>
          </p:sp>
        </mc:Choice>
        <mc:Fallback xmlns="">
          <p:sp>
            <p:nvSpPr>
              <p:cNvPr id="8" name="Objet 7"/>
              <p:cNvSpPr txBox="1">
                <a:spLocks noRot="1" noChangeAspect="1" noMove="1" noResize="1" noEditPoints="1" noAdjustHandles="1" noChangeArrowheads="1" noChangeShapeType="1" noTextEdit="1"/>
              </p:cNvSpPr>
              <p:nvPr/>
            </p:nvSpPr>
            <p:spPr bwMode="auto">
              <a:xfrm>
                <a:off x="3886200" y="2636912"/>
                <a:ext cx="2087563" cy="1008112"/>
              </a:xfrm>
              <a:prstGeom prst="rect">
                <a:avLst/>
              </a:prstGeom>
              <a:blipFill>
                <a:blip r:embed="rId4"/>
                <a:stretch>
                  <a:fillRect/>
                </a:stretch>
              </a:blipFill>
            </p:spPr>
            <p:txBody>
              <a:bodyPr/>
              <a:lstStyle/>
              <a:p>
                <a:r>
                  <a:rPr lang="fr-FR">
                    <a:noFill/>
                  </a:rPr>
                  <a:t> </a:t>
                </a:r>
              </a:p>
            </p:txBody>
          </p:sp>
        </mc:Fallback>
      </mc:AlternateContent>
      <p:sp>
        <p:nvSpPr>
          <p:cNvPr id="15" name="Titre 9"/>
          <p:cNvSpPr txBox="1">
            <a:spLocks/>
          </p:cNvSpPr>
          <p:nvPr/>
        </p:nvSpPr>
        <p:spPr>
          <a:xfrm>
            <a:off x="454152" y="260648"/>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3300" dirty="0">
                <a:solidFill>
                  <a:schemeClr val="accent3">
                    <a:shade val="75000"/>
                  </a:schemeClr>
                </a:solidFill>
                <a:latin typeface="+mj-lt"/>
                <a:ea typeface="+mj-ea"/>
                <a:cs typeface="+mj-cs"/>
              </a:rPr>
              <a:t>2</a:t>
            </a: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.4. Mise en œuvre</a:t>
            </a:r>
          </a:p>
        </p:txBody>
      </p:sp>
      <mc:AlternateContent xmlns:mc="http://schemas.openxmlformats.org/markup-compatibility/2006" xmlns:a14="http://schemas.microsoft.com/office/drawing/2010/main">
        <mc:Choice Requires="a14">
          <p:sp>
            <p:nvSpPr>
              <p:cNvPr id="7" name="Objet 6">
                <a:extLst>
                  <a:ext uri="{FF2B5EF4-FFF2-40B4-BE49-F238E27FC236}">
                    <a16:creationId xmlns:a16="http://schemas.microsoft.com/office/drawing/2014/main" id="{2314809D-6D06-4E1E-B1C7-AE79960F3EF5}"/>
                  </a:ext>
                </a:extLst>
              </p:cNvPr>
              <p:cNvSpPr txBox="1"/>
              <p:nvPr/>
            </p:nvSpPr>
            <p:spPr bwMode="auto">
              <a:xfrm>
                <a:off x="6156176" y="1700808"/>
                <a:ext cx="2292524" cy="936377"/>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fr-FR" sz="2000" b="0" i="1" smtClean="0">
                          <a:solidFill>
                            <a:srgbClr val="000000"/>
                          </a:solidFill>
                          <a:latin typeface="Cambria Math" panose="02040503050406030204" pitchFamily="18" charset="0"/>
                        </a:rPr>
                        <m:t>𝑑</m:t>
                      </m:r>
                      <m:r>
                        <a:rPr lang="fr-FR" sz="2000" b="0" i="1" smtClean="0">
                          <a:solidFill>
                            <a:srgbClr val="000000"/>
                          </a:solidFill>
                          <a:latin typeface="Cambria Math" panose="02040503050406030204" pitchFamily="18" charset="0"/>
                        </a:rPr>
                        <m:t>=</m:t>
                      </m:r>
                      <m:d>
                        <m:dPr>
                          <m:ctrlPr>
                            <a:rPr lang="fr-FR" sz="2000" i="1">
                              <a:solidFill>
                                <a:srgbClr val="000000"/>
                              </a:solidFill>
                              <a:latin typeface="Cambria Math" panose="02040503050406030204" pitchFamily="18" charset="0"/>
                            </a:rPr>
                          </m:ctrlPr>
                        </m:dPr>
                        <m:e>
                          <m:m>
                            <m:mPr>
                              <m:plcHide m:val="on"/>
                              <m:mcs>
                                <m:mc>
                                  <m:mcPr>
                                    <m:count m:val="3"/>
                                    <m:mcJc m:val="center"/>
                                  </m:mcPr>
                                </m:mc>
                              </m:mcs>
                              <m:ctrlPr>
                                <a:rPr lang="fr-FR" sz="2000" i="1" smtClean="0">
                                  <a:solidFill>
                                    <a:srgbClr val="000000"/>
                                  </a:solidFill>
                                  <a:latin typeface="Cambria Math" panose="02040503050406030204" pitchFamily="18" charset="0"/>
                                </a:rPr>
                              </m:ctrlPr>
                            </m:mPr>
                            <m:mr>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11</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12</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13</m:t>
                                </m:r>
                              </m:e>
                            </m:mr>
                            <m:mr>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21</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22</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2</m:t>
                                </m:r>
                                <m:r>
                                  <a:rPr lang="fr-FR" sz="2000" i="1" baseline="-25000">
                                    <a:solidFill>
                                      <a:srgbClr val="000000"/>
                                    </a:solidFill>
                                    <a:latin typeface="Cambria Math" panose="02040503050406030204" pitchFamily="18" charset="0"/>
                                  </a:rPr>
                                  <m:t>3</m:t>
                                </m:r>
                              </m:e>
                            </m:mr>
                            <m:mr>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31</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32</m:t>
                                </m:r>
                              </m:e>
                              <m:e>
                                <m:r>
                                  <a:rPr lang="fr-FR" sz="2000" b="0" i="1" smtClean="0">
                                    <a:solidFill>
                                      <a:srgbClr val="000000"/>
                                    </a:solidFill>
                                    <a:latin typeface="Cambria Math" panose="02040503050406030204" pitchFamily="18" charset="0"/>
                                  </a:rPr>
                                  <m:t>𝑑</m:t>
                                </m:r>
                                <m:r>
                                  <a:rPr lang="fr-FR" sz="2000" b="0" i="1" baseline="-25000" smtClean="0">
                                    <a:solidFill>
                                      <a:srgbClr val="000000"/>
                                    </a:solidFill>
                                    <a:latin typeface="Cambria Math" panose="02040503050406030204" pitchFamily="18" charset="0"/>
                                  </a:rPr>
                                  <m:t>33</m:t>
                                </m:r>
                              </m:e>
                            </m:mr>
                          </m:m>
                        </m:e>
                      </m:d>
                    </m:oMath>
                  </m:oMathPara>
                </a14:m>
                <a:endParaRPr lang="fr-FR" sz="2000" dirty="0"/>
              </a:p>
            </p:txBody>
          </p:sp>
        </mc:Choice>
        <mc:Fallback xmlns="">
          <p:sp>
            <p:nvSpPr>
              <p:cNvPr id="7" name="Objet 6">
                <a:extLst>
                  <a:ext uri="{FF2B5EF4-FFF2-40B4-BE49-F238E27FC236}">
                    <a16:creationId xmlns:a16="http://schemas.microsoft.com/office/drawing/2014/main" id="{2314809D-6D06-4E1E-B1C7-AE79960F3EF5}"/>
                  </a:ext>
                </a:extLst>
              </p:cNvPr>
              <p:cNvSpPr txBox="1">
                <a:spLocks noRot="1" noChangeAspect="1" noMove="1" noResize="1" noEditPoints="1" noAdjustHandles="1" noChangeArrowheads="1" noChangeShapeType="1" noTextEdit="1"/>
              </p:cNvSpPr>
              <p:nvPr/>
            </p:nvSpPr>
            <p:spPr bwMode="auto">
              <a:xfrm>
                <a:off x="6156176" y="1700808"/>
                <a:ext cx="2292524" cy="936377"/>
              </a:xfrm>
              <a:prstGeom prst="rect">
                <a:avLst/>
              </a:prstGeom>
              <a:blipFill>
                <a:blip r:embed="rId5"/>
                <a:stretch>
                  <a:fillRect/>
                </a:stretch>
              </a:blipFill>
            </p:spPr>
            <p:txBody>
              <a:bodyPr/>
              <a:lstStyle/>
              <a:p>
                <a:r>
                  <a:rPr lang="fr-FR">
                    <a:noFill/>
                  </a:rPr>
                  <a:t> </a:t>
                </a:r>
              </a:p>
            </p:txBody>
          </p:sp>
        </mc:Fallback>
      </mc:AlternateContent>
      <p:graphicFrame>
        <p:nvGraphicFramePr>
          <p:cNvPr id="4" name="Object 1">
            <a:extLst>
              <a:ext uri="{FF2B5EF4-FFF2-40B4-BE49-F238E27FC236}">
                <a16:creationId xmlns:a16="http://schemas.microsoft.com/office/drawing/2014/main" id="{FD1265C5-80A0-446D-B615-9CEA96C6434E}"/>
              </a:ext>
            </a:extLst>
          </p:cNvPr>
          <p:cNvGraphicFramePr>
            <a:graphicFrameLocks noChangeAspect="1"/>
          </p:cNvGraphicFramePr>
          <p:nvPr>
            <p:extLst>
              <p:ext uri="{D42A27DB-BD31-4B8C-83A1-F6EECF244321}">
                <p14:modId xmlns:p14="http://schemas.microsoft.com/office/powerpoint/2010/main" val="720307224"/>
              </p:ext>
            </p:extLst>
          </p:nvPr>
        </p:nvGraphicFramePr>
        <p:xfrm>
          <a:off x="971600" y="2413808"/>
          <a:ext cx="2376264" cy="827867"/>
        </p:xfrm>
        <a:graphic>
          <a:graphicData uri="http://schemas.openxmlformats.org/presentationml/2006/ole">
            <mc:AlternateContent xmlns:mc="http://schemas.openxmlformats.org/markup-compatibility/2006">
              <mc:Choice xmlns:v="urn:schemas-microsoft-com:vml" Requires="v">
                <p:oleObj spid="_x0000_s225308" r:id="rId6" imgW="29565600" imgH="10363200" progId="">
                  <p:embed/>
                </p:oleObj>
              </mc:Choice>
              <mc:Fallback>
                <p:oleObj r:id="rId6" imgW="29565600" imgH="10363200" progId="">
                  <p:embed/>
                  <p:pic>
                    <p:nvPicPr>
                      <p:cNvPr id="52225"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600" y="2413808"/>
                        <a:ext cx="2376264" cy="8278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 name="Image 13">
            <a:extLst>
              <a:ext uri="{FF2B5EF4-FFF2-40B4-BE49-F238E27FC236}">
                <a16:creationId xmlns:a16="http://schemas.microsoft.com/office/drawing/2014/main" id="{39D36FBF-9158-42E6-AA04-232115517587}"/>
              </a:ext>
            </a:extLst>
          </p:cNvPr>
          <p:cNvPicPr>
            <a:picLocks noChangeAspect="1"/>
          </p:cNvPicPr>
          <p:nvPr/>
        </p:nvPicPr>
        <p:blipFill>
          <a:blip r:embed="rId8"/>
          <a:stretch>
            <a:fillRect/>
          </a:stretch>
        </p:blipFill>
        <p:spPr>
          <a:xfrm>
            <a:off x="3092309" y="3552365"/>
            <a:ext cx="2838450" cy="657225"/>
          </a:xfrm>
          <a:prstGeom prst="rect">
            <a:avLst/>
          </a:prstGeom>
        </p:spPr>
      </p:pic>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3E921231-0B3D-490E-B059-05BD19E27D0C}"/>
                  </a:ext>
                </a:extLst>
              </p:cNvPr>
              <p:cNvSpPr txBox="1"/>
              <p:nvPr/>
            </p:nvSpPr>
            <p:spPr>
              <a:xfrm>
                <a:off x="251520" y="4077072"/>
                <a:ext cx="4698748" cy="369332"/>
              </a:xfrm>
              <a:prstGeom prst="rect">
                <a:avLst/>
              </a:prstGeom>
              <a:noFill/>
            </p:spPr>
            <p:txBody>
              <a:bodyPr wrap="square">
                <a:spAutoFit/>
              </a:bodyPr>
              <a:lstStyle/>
              <a:p>
                <a:pPr marL="514350" indent="-514350">
                  <a:buNone/>
                </a:pPr>
                <a:r>
                  <a:rPr lang="fr-FR" sz="1800" dirty="0"/>
                  <a:t>d</a:t>
                </a:r>
                <a:r>
                  <a:rPr lang="fr-FR" sz="1800" baseline="-25000" dirty="0"/>
                  <a:t>∞</a:t>
                </a:r>
                <a:r>
                  <a:rPr lang="fr-FR" sz="1800" dirty="0"/>
                  <a:t>(M1,M2)=sup</a:t>
                </a:r>
                <a14:m>
                  <m:oMath xmlns:m="http://schemas.openxmlformats.org/officeDocument/2006/math">
                    <m:d>
                      <m:dPr>
                        <m:begChr m:val="|"/>
                        <m:endChr m:val="|"/>
                        <m:ctrlPr>
                          <a:rPr lang="fr-FR" sz="1800" i="1" smtClean="0">
                            <a:latin typeface="Cambria Math" panose="02040503050406030204" pitchFamily="18" charset="0"/>
                          </a:rPr>
                        </m:ctrlPr>
                      </m:dPr>
                      <m:e>
                        <m:d>
                          <m:dPr>
                            <m:ctrlPr>
                              <a:rPr lang="fr-FR" sz="1800" b="0" i="1" smtClean="0">
                                <a:latin typeface="Cambria Math" panose="02040503050406030204" pitchFamily="18" charset="0"/>
                              </a:rPr>
                            </m:ctrlPr>
                          </m:dPr>
                          <m:e>
                            <m:r>
                              <a:rPr lang="fr-FR" sz="1800" b="0" i="1" smtClean="0">
                                <a:latin typeface="Cambria Math" panose="02040503050406030204" pitchFamily="18" charset="0"/>
                              </a:rPr>
                              <m:t>1−0</m:t>
                            </m:r>
                          </m:e>
                        </m:d>
                        <m:r>
                          <a:rPr lang="fr-FR" sz="1800" b="0" i="1" smtClean="0">
                            <a:latin typeface="Cambria Math" panose="02040503050406030204" pitchFamily="18" charset="0"/>
                          </a:rPr>
                          <m:t>,(0−1)</m:t>
                        </m:r>
                      </m:e>
                    </m:d>
                  </m:oMath>
                </a14:m>
                <a:r>
                  <a:rPr lang="fr-FR" sz="1800" dirty="0"/>
                  <a:t> =</a:t>
                </a:r>
                <a14:m>
                  <m:oMath xmlns:m="http://schemas.openxmlformats.org/officeDocument/2006/math">
                    <m:r>
                      <a:rPr lang="fr-FR" sz="1800" b="0" i="1" dirty="0" smtClean="0">
                        <a:latin typeface="Cambria Math" panose="02040503050406030204" pitchFamily="18" charset="0"/>
                        <a:ea typeface="Cambria Math" panose="02040503050406030204" pitchFamily="18" charset="0"/>
                      </a:rPr>
                      <m:t>1</m:t>
                    </m:r>
                  </m:oMath>
                </a14:m>
                <a:r>
                  <a:rPr lang="fr-FR" sz="1800" dirty="0"/>
                  <a:t> ; </a:t>
                </a:r>
              </a:p>
            </p:txBody>
          </p:sp>
        </mc:Choice>
        <mc:Fallback xmlns="">
          <p:sp>
            <p:nvSpPr>
              <p:cNvPr id="17" name="ZoneTexte 16">
                <a:extLst>
                  <a:ext uri="{FF2B5EF4-FFF2-40B4-BE49-F238E27FC236}">
                    <a16:creationId xmlns:a16="http://schemas.microsoft.com/office/drawing/2014/main" id="{3E921231-0B3D-490E-B059-05BD19E27D0C}"/>
                  </a:ext>
                </a:extLst>
              </p:cNvPr>
              <p:cNvSpPr txBox="1">
                <a:spLocks noRot="1" noChangeAspect="1" noMove="1" noResize="1" noEditPoints="1" noAdjustHandles="1" noChangeArrowheads="1" noChangeShapeType="1" noTextEdit="1"/>
              </p:cNvSpPr>
              <p:nvPr/>
            </p:nvSpPr>
            <p:spPr>
              <a:xfrm>
                <a:off x="251520" y="4077072"/>
                <a:ext cx="4698748" cy="369332"/>
              </a:xfrm>
              <a:prstGeom prst="rect">
                <a:avLst/>
              </a:prstGeom>
              <a:blipFill>
                <a:blip r:embed="rId9"/>
                <a:stretch>
                  <a:fillRect l="-1038" t="-10000" b="-26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702ECD74-31D0-418B-AB1B-97A16603234F}"/>
                  </a:ext>
                </a:extLst>
              </p:cNvPr>
              <p:cNvSpPr txBox="1"/>
              <p:nvPr/>
            </p:nvSpPr>
            <p:spPr>
              <a:xfrm>
                <a:off x="4193732" y="4149080"/>
                <a:ext cx="4698748" cy="369332"/>
              </a:xfrm>
              <a:prstGeom prst="rect">
                <a:avLst/>
              </a:prstGeom>
              <a:noFill/>
            </p:spPr>
            <p:txBody>
              <a:bodyPr wrap="square">
                <a:spAutoFit/>
              </a:bodyPr>
              <a:lstStyle/>
              <a:p>
                <a:pPr marL="514350" indent="-514350">
                  <a:buNone/>
                </a:pPr>
                <a:r>
                  <a:rPr lang="fr-FR" sz="1800" dirty="0"/>
                  <a:t>d</a:t>
                </a:r>
                <a:r>
                  <a:rPr lang="fr-FR" sz="1800" baseline="-25000" dirty="0"/>
                  <a:t>∞</a:t>
                </a:r>
                <a:r>
                  <a:rPr lang="fr-FR" sz="1800" dirty="0"/>
                  <a:t>(M1,M3)=sup</a:t>
                </a:r>
                <a14:m>
                  <m:oMath xmlns:m="http://schemas.openxmlformats.org/officeDocument/2006/math">
                    <m:d>
                      <m:dPr>
                        <m:begChr m:val="|"/>
                        <m:endChr m:val="|"/>
                        <m:ctrlPr>
                          <a:rPr lang="fr-FR" sz="1800" i="1" smtClean="0">
                            <a:latin typeface="Cambria Math" panose="02040503050406030204" pitchFamily="18" charset="0"/>
                          </a:rPr>
                        </m:ctrlPr>
                      </m:dPr>
                      <m:e>
                        <m:d>
                          <m:dPr>
                            <m:ctrlPr>
                              <a:rPr lang="fr-FR" sz="1800" b="0" i="1" smtClean="0">
                                <a:latin typeface="Cambria Math" panose="02040503050406030204" pitchFamily="18" charset="0"/>
                              </a:rPr>
                            </m:ctrlPr>
                          </m:dPr>
                          <m:e>
                            <m:r>
                              <a:rPr lang="fr-FR" sz="1800" b="0" i="1" smtClean="0">
                                <a:latin typeface="Cambria Math" panose="02040503050406030204" pitchFamily="18" charset="0"/>
                              </a:rPr>
                              <m:t>1−3</m:t>
                            </m:r>
                          </m:e>
                        </m:d>
                        <m:r>
                          <a:rPr lang="fr-FR" sz="1800" b="0" i="1" smtClean="0">
                            <a:latin typeface="Cambria Math" panose="02040503050406030204" pitchFamily="18" charset="0"/>
                          </a:rPr>
                          <m:t>,(0−1)</m:t>
                        </m:r>
                      </m:e>
                    </m:d>
                  </m:oMath>
                </a14:m>
                <a:r>
                  <a:rPr lang="fr-FR" sz="1800" dirty="0"/>
                  <a:t> =</a:t>
                </a:r>
                <a14:m>
                  <m:oMath xmlns:m="http://schemas.openxmlformats.org/officeDocument/2006/math">
                    <m:r>
                      <a:rPr lang="fr-FR" sz="1800" b="0" i="1" dirty="0" smtClean="0">
                        <a:latin typeface="Cambria Math" panose="02040503050406030204" pitchFamily="18" charset="0"/>
                        <a:ea typeface="Cambria Math" panose="02040503050406030204" pitchFamily="18" charset="0"/>
                      </a:rPr>
                      <m:t>2</m:t>
                    </m:r>
                  </m:oMath>
                </a14:m>
                <a:r>
                  <a:rPr lang="fr-FR" sz="1800" dirty="0"/>
                  <a:t> ; </a:t>
                </a:r>
              </a:p>
            </p:txBody>
          </p:sp>
        </mc:Choice>
        <mc:Fallback xmlns="">
          <p:sp>
            <p:nvSpPr>
              <p:cNvPr id="19" name="ZoneTexte 18">
                <a:extLst>
                  <a:ext uri="{FF2B5EF4-FFF2-40B4-BE49-F238E27FC236}">
                    <a16:creationId xmlns:a16="http://schemas.microsoft.com/office/drawing/2014/main" id="{702ECD74-31D0-418B-AB1B-97A16603234F}"/>
                  </a:ext>
                </a:extLst>
              </p:cNvPr>
              <p:cNvSpPr txBox="1">
                <a:spLocks noRot="1" noChangeAspect="1" noMove="1" noResize="1" noEditPoints="1" noAdjustHandles="1" noChangeArrowheads="1" noChangeShapeType="1" noTextEdit="1"/>
              </p:cNvSpPr>
              <p:nvPr/>
            </p:nvSpPr>
            <p:spPr>
              <a:xfrm>
                <a:off x="4193732" y="4149080"/>
                <a:ext cx="4698748" cy="369332"/>
              </a:xfrm>
              <a:prstGeom prst="rect">
                <a:avLst/>
              </a:prstGeom>
              <a:blipFill>
                <a:blip r:embed="rId10"/>
                <a:stretch>
                  <a:fillRect l="-1167" t="-10000" b="-26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Objet 7">
                <a:extLst>
                  <a:ext uri="{FF2B5EF4-FFF2-40B4-BE49-F238E27FC236}">
                    <a16:creationId xmlns:a16="http://schemas.microsoft.com/office/drawing/2014/main" id="{8651A780-9D53-4711-984A-7D00F6CD926F}"/>
                  </a:ext>
                </a:extLst>
              </p:cNvPr>
              <p:cNvSpPr txBox="1"/>
              <p:nvPr/>
            </p:nvSpPr>
            <p:spPr bwMode="auto">
              <a:xfrm>
                <a:off x="3131840" y="4725144"/>
                <a:ext cx="2087563" cy="10081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fr-FR" b="0" i="1" smtClean="0">
                          <a:solidFill>
                            <a:srgbClr val="000000"/>
                          </a:solidFill>
                          <a:latin typeface="Cambria Math" panose="02040503050406030204" pitchFamily="18" charset="0"/>
                        </a:rPr>
                        <m:t>𝑑</m:t>
                      </m:r>
                      <m:r>
                        <a:rPr lang="fr-FR" b="0" i="1" baseline="-25000" smtClean="0">
                          <a:solidFill>
                            <a:srgbClr val="000000"/>
                          </a:solidFill>
                          <a:latin typeface="Cambria Math" panose="02040503050406030204" pitchFamily="18" charset="0"/>
                        </a:rPr>
                        <m:t>∞</m:t>
                      </m:r>
                      <m:r>
                        <a:rPr lang="fr-FR" i="1">
                          <a:solidFill>
                            <a:srgbClr val="000000"/>
                          </a:solidFill>
                          <a:latin typeface="Cambria Math" panose="02040503050406030204" pitchFamily="18" charset="0"/>
                        </a:rPr>
                        <m:t>=</m:t>
                      </m:r>
                      <m:d>
                        <m:dPr>
                          <m:ctrlPr>
                            <a:rPr lang="fr-FR" i="1">
                              <a:solidFill>
                                <a:srgbClr val="000000"/>
                              </a:solidFill>
                              <a:latin typeface="Cambria Math" panose="02040503050406030204" pitchFamily="18" charset="0"/>
                            </a:rPr>
                          </m:ctrlPr>
                        </m:dPr>
                        <m:e>
                          <m:m>
                            <m:mPr>
                              <m:plcHide m:val="on"/>
                              <m:mcs>
                                <m:mc>
                                  <m:mcPr>
                                    <m:count m:val="3"/>
                                    <m:mcJc m:val="center"/>
                                  </m:mcPr>
                                </m:mc>
                              </m:mcs>
                              <m:ctrlPr>
                                <a:rPr lang="fr-FR" i="1">
                                  <a:solidFill>
                                    <a:srgbClr val="000000"/>
                                  </a:solidFill>
                                  <a:latin typeface="Cambria Math" panose="02040503050406030204" pitchFamily="18" charset="0"/>
                                </a:rPr>
                              </m:ctrlPr>
                            </m:mPr>
                            <m:mr>
                              <m:e>
                                <m:r>
                                  <a:rPr lang="fr-FR" i="1">
                                    <a:solidFill>
                                      <a:srgbClr val="000000"/>
                                    </a:solidFill>
                                    <a:latin typeface="Cambria Math" panose="02040503050406030204" pitchFamily="18" charset="0"/>
                                  </a:rPr>
                                  <m:t>0</m:t>
                                </m:r>
                              </m:e>
                              <m:e>
                                <m:r>
                                  <a:rPr lang="fr-FR" b="0" i="1" smtClean="0">
                                    <a:solidFill>
                                      <a:srgbClr val="000000"/>
                                    </a:solidFill>
                                    <a:latin typeface="Cambria Math" panose="02040503050406030204" pitchFamily="18" charset="0"/>
                                  </a:rPr>
                                  <m:t>1</m:t>
                                </m:r>
                              </m:e>
                              <m:e>
                                <m:r>
                                  <a:rPr lang="fr-FR" b="0" i="1" smtClean="0">
                                    <a:solidFill>
                                      <a:srgbClr val="000000"/>
                                    </a:solidFill>
                                    <a:latin typeface="Cambria Math" panose="02040503050406030204" pitchFamily="18" charset="0"/>
                                  </a:rPr>
                                  <m:t>2</m:t>
                                </m:r>
                              </m:e>
                            </m:mr>
                            <m:mr>
                              <m:e>
                                <m:r>
                                  <a:rPr lang="fr-FR" b="0" i="1" smtClean="0">
                                    <a:solidFill>
                                      <a:srgbClr val="000000"/>
                                    </a:solidFill>
                                    <a:latin typeface="Cambria Math" panose="02040503050406030204" pitchFamily="18" charset="0"/>
                                  </a:rPr>
                                  <m:t>1</m:t>
                                </m:r>
                              </m:e>
                              <m:e>
                                <m:r>
                                  <a:rPr lang="fr-FR" i="1">
                                    <a:solidFill>
                                      <a:srgbClr val="000000"/>
                                    </a:solidFill>
                                    <a:latin typeface="Cambria Math" panose="02040503050406030204" pitchFamily="18" charset="0"/>
                                  </a:rPr>
                                  <m:t>0</m:t>
                                </m:r>
                              </m:e>
                              <m:e>
                                <m:r>
                                  <a:rPr lang="fr-FR" i="1">
                                    <a:solidFill>
                                      <a:srgbClr val="000000"/>
                                    </a:solidFill>
                                    <a:latin typeface="Cambria Math" panose="02040503050406030204" pitchFamily="18" charset="0"/>
                                  </a:rPr>
                                  <m:t>3</m:t>
                                </m:r>
                              </m:e>
                            </m:mr>
                            <m:mr>
                              <m:e>
                                <m:r>
                                  <a:rPr lang="fr-FR" b="0" i="1" smtClean="0">
                                    <a:solidFill>
                                      <a:srgbClr val="000000"/>
                                    </a:solidFill>
                                    <a:latin typeface="Cambria Math" panose="02040503050406030204" pitchFamily="18" charset="0"/>
                                  </a:rPr>
                                  <m:t>2</m:t>
                                </m:r>
                              </m:e>
                              <m:e>
                                <m:r>
                                  <a:rPr lang="fr-FR" i="1">
                                    <a:solidFill>
                                      <a:srgbClr val="000000"/>
                                    </a:solidFill>
                                    <a:latin typeface="Cambria Math" panose="02040503050406030204" pitchFamily="18" charset="0"/>
                                  </a:rPr>
                                  <m:t>3</m:t>
                                </m:r>
                              </m:e>
                              <m:e>
                                <m:r>
                                  <a:rPr lang="fr-FR" i="1">
                                    <a:solidFill>
                                      <a:srgbClr val="000000"/>
                                    </a:solidFill>
                                    <a:latin typeface="Cambria Math" panose="02040503050406030204" pitchFamily="18" charset="0"/>
                                  </a:rPr>
                                  <m:t>0</m:t>
                                </m:r>
                              </m:e>
                            </m:mr>
                          </m:m>
                        </m:e>
                      </m:d>
                    </m:oMath>
                  </m:oMathPara>
                </a14:m>
                <a:endParaRPr lang="fr-FR" dirty="0"/>
              </a:p>
            </p:txBody>
          </p:sp>
        </mc:Choice>
        <mc:Fallback xmlns="">
          <p:sp>
            <p:nvSpPr>
              <p:cNvPr id="21" name="Objet 7">
                <a:extLst>
                  <a:ext uri="{FF2B5EF4-FFF2-40B4-BE49-F238E27FC236}">
                    <a16:creationId xmlns:a16="http://schemas.microsoft.com/office/drawing/2014/main" id="{8651A780-9D53-4711-984A-7D00F6CD926F}"/>
                  </a:ext>
                </a:extLst>
              </p:cNvPr>
              <p:cNvSpPr txBox="1">
                <a:spLocks noRot="1" noChangeAspect="1" noMove="1" noResize="1" noEditPoints="1" noAdjustHandles="1" noChangeArrowheads="1" noChangeShapeType="1" noTextEdit="1"/>
              </p:cNvSpPr>
              <p:nvPr/>
            </p:nvSpPr>
            <p:spPr bwMode="auto">
              <a:xfrm>
                <a:off x="3131840" y="4725144"/>
                <a:ext cx="2087563" cy="1008112"/>
              </a:xfrm>
              <a:prstGeom prst="rect">
                <a:avLst/>
              </a:prstGeom>
              <a:blipFill>
                <a:blip r:embed="rId11"/>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09396014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19" grpId="0"/>
      <p:bldP spid="2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268760"/>
            <a:ext cx="9144000" cy="5301207"/>
          </a:xfrm>
        </p:spPr>
        <p:txBody>
          <a:bodyPr>
            <a:normAutofit/>
          </a:bodyPr>
          <a:lstStyle/>
          <a:p>
            <a:pPr>
              <a:buNone/>
            </a:pPr>
            <a:r>
              <a:rPr lang="fr-FR" sz="1600" b="1" u="sng" dirty="0"/>
              <a:t>Correction de l’exercice:</a:t>
            </a:r>
          </a:p>
          <a:p>
            <a:pPr>
              <a:buNone/>
            </a:pPr>
            <a:r>
              <a:rPr lang="fr-FR" sz="1600" dirty="0"/>
              <a:t>M</a:t>
            </a:r>
            <a:r>
              <a:rPr lang="fr-FR" sz="1600" baseline="-25000" dirty="0"/>
              <a:t>1 </a:t>
            </a:r>
            <a:r>
              <a:rPr lang="fr-FR" sz="1600" dirty="0"/>
              <a:t>= (1, 0), M</a:t>
            </a:r>
            <a:r>
              <a:rPr lang="fr-FR" sz="1600" baseline="-25000" dirty="0"/>
              <a:t>2 </a:t>
            </a:r>
            <a:r>
              <a:rPr lang="fr-FR" sz="1600" dirty="0"/>
              <a:t>= (0, 1) et M</a:t>
            </a:r>
            <a:r>
              <a:rPr lang="fr-FR" sz="1600" baseline="-25000" dirty="0"/>
              <a:t>3 </a:t>
            </a:r>
            <a:r>
              <a:rPr lang="fr-FR" sz="1600" dirty="0"/>
              <a:t>= (3, 1) appartiennent à C</a:t>
            </a:r>
            <a:r>
              <a:rPr lang="fr-FR" sz="1600" baseline="-25000" dirty="0"/>
              <a:t>1</a:t>
            </a:r>
            <a:endParaRPr lang="fr-FR" sz="1600" dirty="0"/>
          </a:p>
          <a:p>
            <a:pPr>
              <a:buNone/>
            </a:pPr>
            <a:r>
              <a:rPr lang="fr-FR" sz="1600" dirty="0"/>
              <a:t>M</a:t>
            </a:r>
            <a:r>
              <a:rPr lang="fr-FR" sz="1600" baseline="-25000" dirty="0"/>
              <a:t>4</a:t>
            </a:r>
            <a:r>
              <a:rPr lang="fr-FR" sz="1600" dirty="0"/>
              <a:t> = (4, 2) et M</a:t>
            </a:r>
            <a:r>
              <a:rPr lang="fr-FR" sz="1600" baseline="-25000" dirty="0"/>
              <a:t>5 </a:t>
            </a:r>
            <a:r>
              <a:rPr lang="fr-FR" sz="1600" dirty="0"/>
              <a:t>= (4, 3) appartiennent à C</a:t>
            </a:r>
            <a:r>
              <a:rPr lang="fr-FR" sz="1600" baseline="-25000" dirty="0"/>
              <a:t>2</a:t>
            </a:r>
          </a:p>
          <a:p>
            <a:pPr marL="514350" indent="-514350">
              <a:buAutoNum type="arabicParenR"/>
            </a:pPr>
            <a:r>
              <a:rPr lang="fr-FR" sz="1600" dirty="0"/>
              <a:t>						</a:t>
            </a:r>
            <a:endParaRPr lang="fr-FR" sz="1600" dirty="0">
              <a:sym typeface="Symbol"/>
            </a:endParaRPr>
          </a:p>
          <a:p>
            <a:pPr marL="514350" indent="-514350">
              <a:buAutoNum type="arabicParenR"/>
            </a:pPr>
            <a:r>
              <a:rPr lang="fr-FR" sz="1600" dirty="0">
                <a:sym typeface="Symbol"/>
              </a:rPr>
              <a:t>Centre de gravité et poids des classes</a:t>
            </a:r>
          </a:p>
          <a:p>
            <a:pPr marL="514350" indent="-514350">
              <a:buAutoNum type="arabicParenR"/>
            </a:pPr>
            <a:endParaRPr lang="fr-FR" sz="1600" dirty="0">
              <a:sym typeface="Symbol"/>
            </a:endParaRPr>
          </a:p>
          <a:p>
            <a:pPr marL="514350" indent="-514350">
              <a:buAutoNum type="arabicParenR"/>
            </a:pPr>
            <a:endParaRPr lang="fr-FR" sz="1600" dirty="0">
              <a:sym typeface="Symbol"/>
            </a:endParaRPr>
          </a:p>
          <a:p>
            <a:pPr marL="514350" indent="-514350">
              <a:buAutoNum type="arabicParenR"/>
            </a:pPr>
            <a:endParaRPr lang="fr-FR" sz="1600" dirty="0">
              <a:sym typeface="Symbol"/>
            </a:endParaRPr>
          </a:p>
          <a:p>
            <a:pPr marL="514350" indent="-514350">
              <a:buAutoNum type="arabicParenR"/>
            </a:pPr>
            <a:endParaRPr lang="fr-FR" sz="1600" dirty="0">
              <a:sym typeface="Symbol"/>
            </a:endParaRPr>
          </a:p>
          <a:p>
            <a:pPr marL="514350" indent="-514350">
              <a:buAutoNum type="arabicParenR"/>
            </a:pPr>
            <a:endParaRPr lang="fr-FR" sz="1600" dirty="0">
              <a:sym typeface="Symbol"/>
            </a:endParaRPr>
          </a:p>
          <a:p>
            <a:pPr marL="514350" indent="-514350">
              <a:buNone/>
            </a:pPr>
            <a:r>
              <a:rPr lang="fr-FR" sz="1600" dirty="0"/>
              <a:t> </a:t>
            </a:r>
          </a:p>
          <a:p>
            <a:pPr marL="514350" indent="-514350">
              <a:buNone/>
            </a:pPr>
            <a:r>
              <a:rPr lang="fr-FR" sz="1400" dirty="0"/>
              <a:t>Le Poids de chaque classe = nombre d’individus dans la classe/nombre d’individus dans le nuage</a:t>
            </a: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58</a:t>
            </a:fld>
            <a:endParaRPr lang="fr-FR"/>
          </a:p>
        </p:txBody>
      </p:sp>
      <p:graphicFrame>
        <p:nvGraphicFramePr>
          <p:cNvPr id="67591" name="Object 7"/>
          <p:cNvGraphicFramePr>
            <a:graphicFrameLocks noChangeAspect="1"/>
          </p:cNvGraphicFramePr>
          <p:nvPr/>
        </p:nvGraphicFramePr>
        <p:xfrm>
          <a:off x="827584" y="3645024"/>
          <a:ext cx="3312368" cy="699150"/>
        </p:xfrm>
        <a:graphic>
          <a:graphicData uri="http://schemas.openxmlformats.org/presentationml/2006/ole">
            <mc:AlternateContent xmlns:mc="http://schemas.openxmlformats.org/markup-compatibility/2006">
              <mc:Choice xmlns:v="urn:schemas-microsoft-com:vml" Requires="v">
                <p:oleObj spid="_x0000_s224376" name="Équation" r:id="rId3" imgW="49072800" imgH="10363200" progId="Equation.3">
                  <p:embed/>
                </p:oleObj>
              </mc:Choice>
              <mc:Fallback>
                <p:oleObj name="Équation" r:id="rId3" imgW="49072800" imgH="10363200" progId="Equation.3">
                  <p:embed/>
                  <p:pic>
                    <p:nvPicPr>
                      <p:cNvPr id="6759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3645024"/>
                        <a:ext cx="3312368" cy="69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92" name="Object 8"/>
          <p:cNvGraphicFramePr>
            <a:graphicFrameLocks noChangeAspect="1"/>
          </p:cNvGraphicFramePr>
          <p:nvPr/>
        </p:nvGraphicFramePr>
        <p:xfrm>
          <a:off x="5364088" y="3429000"/>
          <a:ext cx="3030537" cy="774700"/>
        </p:xfrm>
        <a:graphic>
          <a:graphicData uri="http://schemas.openxmlformats.org/presentationml/2006/ole">
            <mc:AlternateContent xmlns:mc="http://schemas.openxmlformats.org/markup-compatibility/2006">
              <mc:Choice xmlns:v="urn:schemas-microsoft-com:vml" Requires="v">
                <p:oleObj spid="_x0000_s224377" name="Équation" r:id="rId5" imgW="40538400" imgH="10363200" progId="Equation.3">
                  <p:embed/>
                </p:oleObj>
              </mc:Choice>
              <mc:Fallback>
                <p:oleObj name="Équation" r:id="rId5" imgW="40538400" imgH="10363200" progId="Equation.3">
                  <p:embed/>
                  <p:pic>
                    <p:nvPicPr>
                      <p:cNvPr id="6759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088" y="3429000"/>
                        <a:ext cx="3030537"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96" name="Object 12"/>
          <p:cNvGraphicFramePr>
            <a:graphicFrameLocks noChangeAspect="1"/>
          </p:cNvGraphicFramePr>
          <p:nvPr>
            <p:extLst>
              <p:ext uri="{D42A27DB-BD31-4B8C-83A1-F6EECF244321}">
                <p14:modId xmlns:p14="http://schemas.microsoft.com/office/powerpoint/2010/main" val="2438894335"/>
              </p:ext>
            </p:extLst>
          </p:nvPr>
        </p:nvGraphicFramePr>
        <p:xfrm>
          <a:off x="1537405" y="5142771"/>
          <a:ext cx="558095" cy="523950"/>
        </p:xfrm>
        <a:graphic>
          <a:graphicData uri="http://schemas.openxmlformats.org/presentationml/2006/ole">
            <mc:AlternateContent xmlns:mc="http://schemas.openxmlformats.org/markup-compatibility/2006">
              <mc:Choice xmlns:v="urn:schemas-microsoft-com:vml" Requires="v">
                <p:oleObj spid="_x0000_s224378" name="Équation" r:id="rId7" imgW="10058400" imgH="9448800" progId="Equation.3">
                  <p:embed/>
                </p:oleObj>
              </mc:Choice>
              <mc:Fallback>
                <p:oleObj name="Équation" r:id="rId7" imgW="10058400" imgH="9448800" progId="Equation.3">
                  <p:embed/>
                  <p:pic>
                    <p:nvPicPr>
                      <p:cNvPr id="67596"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7405" y="5142771"/>
                        <a:ext cx="558095" cy="5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97" name="Object 13"/>
          <p:cNvGraphicFramePr>
            <a:graphicFrameLocks noChangeAspect="1"/>
          </p:cNvGraphicFramePr>
          <p:nvPr>
            <p:extLst>
              <p:ext uri="{D42A27DB-BD31-4B8C-83A1-F6EECF244321}">
                <p14:modId xmlns:p14="http://schemas.microsoft.com/office/powerpoint/2010/main" val="2816617605"/>
              </p:ext>
            </p:extLst>
          </p:nvPr>
        </p:nvGraphicFramePr>
        <p:xfrm>
          <a:off x="5004048" y="5072185"/>
          <a:ext cx="796925" cy="706438"/>
        </p:xfrm>
        <a:graphic>
          <a:graphicData uri="http://schemas.openxmlformats.org/presentationml/2006/ole">
            <mc:AlternateContent xmlns:mc="http://schemas.openxmlformats.org/markup-compatibility/2006">
              <mc:Choice xmlns:v="urn:schemas-microsoft-com:vml" Requires="v">
                <p:oleObj spid="_x0000_s224379" name="Équation" r:id="rId9" imgW="10668000" imgH="9448800" progId="Equation.3">
                  <p:embed/>
                </p:oleObj>
              </mc:Choice>
              <mc:Fallback>
                <p:oleObj name="Équation" r:id="rId9" imgW="10668000" imgH="9448800" progId="Equation.3">
                  <p:embed/>
                  <p:pic>
                    <p:nvPicPr>
                      <p:cNvPr id="67597"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4048" y="5072185"/>
                        <a:ext cx="796925" cy="706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itre 9"/>
          <p:cNvSpPr txBox="1">
            <a:spLocks/>
          </p:cNvSpPr>
          <p:nvPr/>
        </p:nvSpPr>
        <p:spPr>
          <a:xfrm>
            <a:off x="454152" y="260648"/>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3300" dirty="0">
                <a:solidFill>
                  <a:schemeClr val="accent3">
                    <a:shade val="75000"/>
                  </a:schemeClr>
                </a:solidFill>
                <a:latin typeface="+mj-lt"/>
                <a:ea typeface="+mj-ea"/>
                <a:cs typeface="+mj-cs"/>
              </a:rPr>
              <a:t>2</a:t>
            </a: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.4. Mise en œuvre</a:t>
            </a:r>
          </a:p>
        </p:txBody>
      </p:sp>
      <p:pic>
        <p:nvPicPr>
          <p:cNvPr id="9" name="Picture 3">
            <a:extLst>
              <a:ext uri="{FF2B5EF4-FFF2-40B4-BE49-F238E27FC236}">
                <a16:creationId xmlns:a16="http://schemas.microsoft.com/office/drawing/2014/main" id="{E2E60F2A-D74D-4083-BD27-ABB148FC4DD9}"/>
              </a:ext>
            </a:extLst>
          </p:cNvPr>
          <p:cNvPicPr>
            <a:picLocks noChangeAspect="1" noChangeArrowheads="1"/>
          </p:cNvPicPr>
          <p:nvPr/>
        </p:nvPicPr>
        <p:blipFill>
          <a:blip r:embed="rId11" cstate="print"/>
          <a:srcRect/>
          <a:stretch>
            <a:fillRect/>
          </a:stretch>
        </p:blipFill>
        <p:spPr bwMode="auto">
          <a:xfrm>
            <a:off x="454152" y="2719419"/>
            <a:ext cx="5184576" cy="545745"/>
          </a:xfrm>
          <a:prstGeom prst="rect">
            <a:avLst/>
          </a:prstGeom>
          <a:noFill/>
          <a:ln w="9525">
            <a:noFill/>
            <a:miter lim="800000"/>
            <a:headEnd/>
            <a:tailEnd/>
          </a:ln>
        </p:spPr>
      </p:pic>
      <p:graphicFrame>
        <p:nvGraphicFramePr>
          <p:cNvPr id="11" name="Objet 10">
            <a:extLst>
              <a:ext uri="{FF2B5EF4-FFF2-40B4-BE49-F238E27FC236}">
                <a16:creationId xmlns:a16="http://schemas.microsoft.com/office/drawing/2014/main" id="{6C0A72DE-3D0D-428E-96D3-E7BFD19C7908}"/>
              </a:ext>
            </a:extLst>
          </p:cNvPr>
          <p:cNvGraphicFramePr>
            <a:graphicFrameLocks noChangeAspect="1"/>
          </p:cNvGraphicFramePr>
          <p:nvPr>
            <p:extLst>
              <p:ext uri="{D42A27DB-BD31-4B8C-83A1-F6EECF244321}">
                <p14:modId xmlns:p14="http://schemas.microsoft.com/office/powerpoint/2010/main" val="2444291766"/>
              </p:ext>
            </p:extLst>
          </p:nvPr>
        </p:nvGraphicFramePr>
        <p:xfrm>
          <a:off x="4812362" y="2326038"/>
          <a:ext cx="1487830" cy="382882"/>
        </p:xfrm>
        <a:graphic>
          <a:graphicData uri="http://schemas.openxmlformats.org/presentationml/2006/ole">
            <mc:AlternateContent xmlns:mc="http://schemas.openxmlformats.org/markup-compatibility/2006">
              <mc:Choice xmlns:v="urn:schemas-microsoft-com:vml" Requires="v">
                <p:oleObj spid="_x0000_s224380" name="Équation" r:id="rId12" imgW="19202400" imgH="4876800" progId="Equation.3">
                  <p:embed/>
                </p:oleObj>
              </mc:Choice>
              <mc:Fallback>
                <p:oleObj name="Équation" r:id="rId12" imgW="19202400" imgH="4876800" progId="Equation.3">
                  <p:embed/>
                  <p:pic>
                    <p:nvPicPr>
                      <p:cNvPr id="11" name="Obje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12362" y="2326038"/>
                        <a:ext cx="1487830" cy="382882"/>
                      </a:xfrm>
                      <a:prstGeom prst="rect">
                        <a:avLst/>
                      </a:prstGeom>
                      <a:noFill/>
                    </p:spPr>
                  </p:pic>
                </p:oleObj>
              </mc:Fallback>
            </mc:AlternateContent>
          </a:graphicData>
        </a:graphic>
      </p:graphicFrame>
    </p:spTree>
    <p:extLst>
      <p:ext uri="{BB962C8B-B14F-4D97-AF65-F5344CB8AC3E}">
        <p14:creationId xmlns:p14="http://schemas.microsoft.com/office/powerpoint/2010/main" val="31409491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5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59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51520" y="1268760"/>
                <a:ext cx="9144000" cy="5301207"/>
              </a:xfrm>
            </p:spPr>
            <p:txBody>
              <a:bodyPr>
                <a:normAutofit/>
              </a:bodyPr>
              <a:lstStyle/>
              <a:p>
                <a:pPr>
                  <a:buNone/>
                </a:pPr>
                <a:r>
                  <a:rPr lang="fr-FR" sz="1600" b="1" u="sng" dirty="0"/>
                  <a:t>Correction de l’exercice:</a:t>
                </a:r>
              </a:p>
              <a:p>
                <a:pPr>
                  <a:buNone/>
                </a:pPr>
                <a:r>
                  <a:rPr lang="fr-FR" sz="1600" dirty="0"/>
                  <a:t>M</a:t>
                </a:r>
                <a:r>
                  <a:rPr lang="fr-FR" sz="1600" baseline="-25000" dirty="0"/>
                  <a:t>1 </a:t>
                </a:r>
                <a:r>
                  <a:rPr lang="fr-FR" sz="1600" dirty="0"/>
                  <a:t>= (1, 0), M</a:t>
                </a:r>
                <a:r>
                  <a:rPr lang="fr-FR" sz="1600" baseline="-25000" dirty="0"/>
                  <a:t>2 </a:t>
                </a:r>
                <a:r>
                  <a:rPr lang="fr-FR" sz="1600" dirty="0"/>
                  <a:t>= (0, 1) et M</a:t>
                </a:r>
                <a:r>
                  <a:rPr lang="fr-FR" sz="1600" baseline="-25000" dirty="0"/>
                  <a:t>3 </a:t>
                </a:r>
                <a:r>
                  <a:rPr lang="fr-FR" sz="1600" dirty="0"/>
                  <a:t>= (3, 1) appartiennent à C</a:t>
                </a:r>
                <a:r>
                  <a:rPr lang="fr-FR" sz="1600" baseline="-25000" dirty="0"/>
                  <a:t>1</a:t>
                </a:r>
                <a:endParaRPr lang="fr-FR" sz="1600" dirty="0"/>
              </a:p>
              <a:p>
                <a:pPr>
                  <a:buNone/>
                </a:pPr>
                <a:r>
                  <a:rPr lang="fr-FR" sz="1600" dirty="0"/>
                  <a:t>M</a:t>
                </a:r>
                <a:r>
                  <a:rPr lang="fr-FR" sz="1600" baseline="-25000" dirty="0"/>
                  <a:t>4</a:t>
                </a:r>
                <a:r>
                  <a:rPr lang="fr-FR" sz="1600" dirty="0"/>
                  <a:t> = (4, 2) et M</a:t>
                </a:r>
                <a:r>
                  <a:rPr lang="fr-FR" sz="1600" baseline="-25000" dirty="0"/>
                  <a:t>5 </a:t>
                </a:r>
                <a:r>
                  <a:rPr lang="fr-FR" sz="1600" dirty="0"/>
                  <a:t>= (4, 3) appartiennent à C</a:t>
                </a:r>
                <a:r>
                  <a:rPr lang="fr-FR" sz="1600" baseline="-25000" dirty="0"/>
                  <a:t>2</a:t>
                </a:r>
              </a:p>
              <a:p>
                <a:pPr marL="514350" indent="-514350">
                  <a:buNone/>
                </a:pPr>
                <a:r>
                  <a:rPr lang="fr-FR" sz="1600" dirty="0">
                    <a:solidFill>
                      <a:schemeClr val="accent6"/>
                    </a:solidFill>
                  </a:rPr>
                  <a:t>3) a-</a:t>
                </a:r>
                <a:r>
                  <a:rPr lang="fr-FR" sz="1600" dirty="0"/>
                  <a:t>Ecart(C</a:t>
                </a:r>
                <a:r>
                  <a:rPr lang="fr-FR" sz="1600" baseline="-25000" dirty="0"/>
                  <a:t>1</a:t>
                </a:r>
                <a:r>
                  <a:rPr lang="fr-FR" sz="1600" dirty="0"/>
                  <a:t>,C</a:t>
                </a:r>
                <a:r>
                  <a:rPr lang="fr-FR" sz="1600" baseline="-25000" dirty="0"/>
                  <a:t>2</a:t>
                </a:r>
                <a:r>
                  <a:rPr lang="fr-FR" sz="1600" dirty="0"/>
                  <a:t>) selon </a:t>
                </a:r>
                <a:r>
                  <a:rPr lang="fr-FR" sz="1600" dirty="0">
                    <a:solidFill>
                      <a:srgbClr val="FF0000"/>
                    </a:solidFill>
                  </a:rPr>
                  <a:t>la distance du plus proche voisin: Min(d(Mi, </a:t>
                </a:r>
                <a:r>
                  <a:rPr lang="fr-FR" sz="1600" dirty="0" err="1">
                    <a:solidFill>
                      <a:srgbClr val="FF0000"/>
                    </a:solidFill>
                  </a:rPr>
                  <a:t>Mj</a:t>
                </a:r>
                <a:r>
                  <a:rPr lang="fr-FR" sz="1600" dirty="0">
                    <a:solidFill>
                      <a:srgbClr val="FF0000"/>
                    </a:solidFill>
                  </a:rPr>
                  <a:t>))</a:t>
                </a:r>
              </a:p>
              <a:p>
                <a:pPr marL="514350" indent="-514350">
                  <a:buNone/>
                </a:pPr>
                <a:r>
                  <a:rPr lang="fr-FR" sz="1600" dirty="0"/>
                  <a:t>d2(M1,M4)=</a:t>
                </a:r>
                <a14:m>
                  <m:oMath xmlns:m="http://schemas.openxmlformats.org/officeDocument/2006/math">
                    <m:rad>
                      <m:radPr>
                        <m:degHide m:val="on"/>
                        <m:ctrlPr>
                          <a:rPr lang="fr-FR" sz="1600" i="1" smtClean="0">
                            <a:latin typeface="Cambria Math" panose="02040503050406030204" pitchFamily="18" charset="0"/>
                          </a:rPr>
                        </m:ctrlPr>
                      </m:radPr>
                      <m:deg/>
                      <m:e>
                        <m:sSup>
                          <m:sSupPr>
                            <m:ctrlPr>
                              <a:rPr lang="fr-FR" sz="1600" i="1" smtClean="0">
                                <a:latin typeface="Cambria Math" panose="02040503050406030204" pitchFamily="18" charset="0"/>
                              </a:rPr>
                            </m:ctrlPr>
                          </m:sSupPr>
                          <m:e>
                            <m:r>
                              <a:rPr lang="fr-FR" sz="1600" b="0" i="1" smtClean="0">
                                <a:latin typeface="Cambria Math" panose="02040503050406030204" pitchFamily="18" charset="0"/>
                              </a:rPr>
                              <m:t>(1−4)</m:t>
                            </m:r>
                          </m:e>
                          <m:sup>
                            <m:r>
                              <a:rPr lang="fr-FR" sz="1600" b="0" i="1" smtClean="0">
                                <a:latin typeface="Cambria Math" panose="02040503050406030204" pitchFamily="18" charset="0"/>
                              </a:rPr>
                              <m:t>2</m:t>
                            </m:r>
                          </m:sup>
                        </m:sSup>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(0−2)</m:t>
                            </m:r>
                          </m:e>
                          <m:sup>
                            <m:r>
                              <a:rPr lang="fr-FR" sz="1600" b="0" i="1" smtClean="0">
                                <a:latin typeface="Cambria Math" panose="02040503050406030204" pitchFamily="18" charset="0"/>
                              </a:rPr>
                              <m:t>2</m:t>
                            </m:r>
                          </m:sup>
                        </m:sSup>
                      </m:e>
                    </m:rad>
                  </m:oMath>
                </a14:m>
                <a:r>
                  <a:rPr lang="fr-FR" sz="1600" dirty="0"/>
                  <a:t> =</a:t>
                </a:r>
                <a14:m>
                  <m:oMath xmlns:m="http://schemas.openxmlformats.org/officeDocument/2006/math">
                    <m:r>
                      <a:rPr lang="fr-FR" sz="1600" i="1" dirty="0" smtClean="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13</m:t>
                    </m:r>
                  </m:oMath>
                </a14:m>
                <a:r>
                  <a:rPr lang="fr-FR" sz="1600" dirty="0"/>
                  <a:t> ; d2(M1,M5)=</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r>
                              <a:rPr lang="fr-FR" sz="1600" b="0" i="1" smtClean="0">
                                <a:latin typeface="Cambria Math" panose="02040503050406030204" pitchFamily="18" charset="0"/>
                              </a:rPr>
                              <m:t>(−3)</m:t>
                            </m:r>
                          </m:e>
                          <m:sup>
                            <m:r>
                              <a:rPr lang="fr-FR" sz="1600" i="1">
                                <a:latin typeface="Cambria Math" panose="02040503050406030204" pitchFamily="18" charset="0"/>
                              </a:rPr>
                              <m:t>2</m:t>
                            </m:r>
                          </m:sup>
                        </m:sSup>
                        <m:r>
                          <a:rPr lang="fr-FR" sz="1600" i="1">
                            <a:latin typeface="Cambria Math" panose="02040503050406030204" pitchFamily="18" charset="0"/>
                          </a:rPr>
                          <m:t>+</m:t>
                        </m:r>
                        <m:sSup>
                          <m:sSupPr>
                            <m:ctrlPr>
                              <a:rPr lang="fr-FR" sz="1600" i="1" smtClean="0">
                                <a:latin typeface="Cambria Math" panose="02040503050406030204" pitchFamily="18" charset="0"/>
                              </a:rPr>
                            </m:ctrlPr>
                          </m:sSupPr>
                          <m:e>
                            <m:r>
                              <a:rPr lang="fr-FR" sz="1600" i="1">
                                <a:latin typeface="Cambria Math" panose="02040503050406030204" pitchFamily="18" charset="0"/>
                              </a:rPr>
                              <m:t>(</m:t>
                            </m:r>
                            <m:r>
                              <a:rPr lang="fr-FR" sz="1600" b="0" i="1" smtClean="0">
                                <a:latin typeface="Cambria Math" panose="02040503050406030204" pitchFamily="18" charset="0"/>
                              </a:rPr>
                              <m:t>−3)</m:t>
                            </m:r>
                          </m:e>
                          <m:sup>
                            <m:r>
                              <a:rPr lang="fr-FR" sz="1600" i="1">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b="0" i="1" dirty="0" smtClean="0">
                            <a:latin typeface="Cambria Math" panose="02040503050406030204" pitchFamily="18" charset="0"/>
                            <a:ea typeface="Cambria Math" panose="02040503050406030204" pitchFamily="18" charset="0"/>
                          </a:rPr>
                        </m:ctrlPr>
                      </m:radPr>
                      <m:deg/>
                      <m:e>
                        <m:r>
                          <a:rPr lang="fr-FR" sz="1600" b="0" i="1" dirty="0" smtClean="0">
                            <a:latin typeface="Cambria Math" panose="02040503050406030204" pitchFamily="18" charset="0"/>
                            <a:ea typeface="Cambria Math" panose="02040503050406030204" pitchFamily="18" charset="0"/>
                          </a:rPr>
                          <m:t>18</m:t>
                        </m:r>
                      </m:e>
                    </m:rad>
                    <m:r>
                      <a:rPr lang="fr-FR" sz="1600" b="0" i="1" dirty="0" smtClean="0">
                        <a:latin typeface="Cambria Math" panose="02040503050406030204" pitchFamily="18" charset="0"/>
                        <a:ea typeface="Cambria Math" panose="02040503050406030204" pitchFamily="18" charset="0"/>
                      </a:rPr>
                      <m:t> </m:t>
                    </m:r>
                  </m:oMath>
                </a14:m>
                <a:endParaRPr lang="fr-FR" sz="1600" dirty="0"/>
              </a:p>
              <a:p>
                <a:pPr marL="514350" indent="-514350">
                  <a:buNone/>
                </a:pPr>
                <a:r>
                  <a:rPr lang="fr-FR" sz="1600" dirty="0"/>
                  <a:t> d2(M2,M4)=</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r>
                              <a:rPr lang="fr-FR" sz="1600" b="0" i="1" smtClean="0">
                                <a:latin typeface="Cambria Math" panose="02040503050406030204" pitchFamily="18" charset="0"/>
                              </a:rPr>
                              <m:t>(−4)</m:t>
                            </m:r>
                          </m:e>
                          <m:sup>
                            <m:r>
                              <a:rPr lang="fr-FR" sz="1600" i="1">
                                <a:latin typeface="Cambria Math" panose="02040503050406030204" pitchFamily="18" charset="0"/>
                              </a:rPr>
                              <m:t>2</m:t>
                            </m:r>
                          </m:sup>
                        </m:sSup>
                        <m:r>
                          <a:rPr lang="fr-FR" sz="1600" i="1">
                            <a:latin typeface="Cambria Math" panose="02040503050406030204" pitchFamily="18" charset="0"/>
                          </a:rPr>
                          <m:t>+</m:t>
                        </m:r>
                        <m:sSup>
                          <m:sSupPr>
                            <m:ctrlPr>
                              <a:rPr lang="fr-FR" sz="1600" i="1">
                                <a:latin typeface="Cambria Math" panose="02040503050406030204" pitchFamily="18" charset="0"/>
                              </a:rPr>
                            </m:ctrlPr>
                          </m:sSupPr>
                          <m:e>
                            <m:r>
                              <a:rPr lang="fr-FR" sz="1600" i="1">
                                <a:latin typeface="Cambria Math" panose="02040503050406030204" pitchFamily="18" charset="0"/>
                              </a:rPr>
                              <m:t>(</m:t>
                            </m:r>
                            <m:r>
                              <a:rPr lang="fr-FR" sz="1600" b="0" i="1" smtClean="0">
                                <a:latin typeface="Cambria Math" panose="02040503050406030204" pitchFamily="18" charset="0"/>
                              </a:rPr>
                              <m:t>−1</m:t>
                            </m:r>
                            <m:r>
                              <a:rPr lang="fr-FR" sz="1600" i="1">
                                <a:latin typeface="Cambria Math" panose="02040503050406030204" pitchFamily="18" charset="0"/>
                              </a:rPr>
                              <m:t>)</m:t>
                            </m:r>
                          </m:e>
                          <m:sup>
                            <m:r>
                              <a:rPr lang="fr-FR" sz="1600" i="1">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b="0" i="1" dirty="0">
                            <a:latin typeface="Cambria Math" panose="02040503050406030204" pitchFamily="18" charset="0"/>
                            <a:ea typeface="Cambria Math" panose="02040503050406030204" pitchFamily="18" charset="0"/>
                          </a:rPr>
                        </m:ctrlPr>
                      </m:radPr>
                      <m:deg/>
                      <m:e>
                        <m:r>
                          <a:rPr lang="fr-FR" sz="1600" b="0" i="1" dirty="0" smtClean="0">
                            <a:latin typeface="Cambria Math" panose="02040503050406030204" pitchFamily="18" charset="0"/>
                            <a:ea typeface="Cambria Math" panose="02040503050406030204" pitchFamily="18" charset="0"/>
                          </a:rPr>
                          <m:t>17</m:t>
                        </m:r>
                      </m:e>
                    </m:rad>
                    <m:r>
                      <a:rPr lang="fr-FR" sz="1600" b="0" i="0" dirty="0" smtClean="0">
                        <a:latin typeface="Cambria Math" panose="02040503050406030204" pitchFamily="18" charset="0"/>
                        <a:ea typeface="Cambria Math" panose="02040503050406030204" pitchFamily="18" charset="0"/>
                      </a:rPr>
                      <m:t>; </m:t>
                    </m:r>
                  </m:oMath>
                </a14:m>
                <a:r>
                  <a:rPr lang="fr-FR" sz="1600" dirty="0"/>
                  <a:t>d2(M2,M5)=</a:t>
                </a:r>
                <a14:m>
                  <m:oMath xmlns:m="http://schemas.openxmlformats.org/officeDocument/2006/math">
                    <m:rad>
                      <m:radPr>
                        <m:degHide m:val="on"/>
                        <m:ctrlPr>
                          <a:rPr lang="fr-FR" sz="1600" i="1" smtClean="0">
                            <a:latin typeface="Cambria Math" panose="02040503050406030204" pitchFamily="18" charset="0"/>
                          </a:rPr>
                        </m:ctrlPr>
                      </m:radPr>
                      <m:deg/>
                      <m:e>
                        <m:sSup>
                          <m:sSupPr>
                            <m:ctrlPr>
                              <a:rPr lang="fr-FR" sz="1600" i="1">
                                <a:latin typeface="Cambria Math" panose="02040503050406030204" pitchFamily="18" charset="0"/>
                              </a:rPr>
                            </m:ctrlPr>
                          </m:sSupPr>
                          <m:e>
                            <m:r>
                              <a:rPr lang="fr-FR" sz="1600" i="1">
                                <a:latin typeface="Cambria Math" panose="02040503050406030204" pitchFamily="18" charset="0"/>
                              </a:rPr>
                              <m:t>(−</m:t>
                            </m:r>
                            <m:r>
                              <a:rPr lang="fr-FR" sz="1600" b="0" i="1" smtClean="0">
                                <a:latin typeface="Cambria Math" panose="02040503050406030204" pitchFamily="18" charset="0"/>
                              </a:rPr>
                              <m:t>4</m:t>
                            </m:r>
                            <m:r>
                              <a:rPr lang="fr-FR" sz="1600" i="1">
                                <a:latin typeface="Cambria Math" panose="02040503050406030204" pitchFamily="18" charset="0"/>
                              </a:rPr>
                              <m:t>)</m:t>
                            </m:r>
                          </m:e>
                          <m:sup>
                            <m:r>
                              <a:rPr lang="fr-FR" sz="1600" i="1">
                                <a:latin typeface="Cambria Math" panose="02040503050406030204" pitchFamily="18" charset="0"/>
                              </a:rPr>
                              <m:t>2</m:t>
                            </m:r>
                          </m:sup>
                        </m:sSup>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(−2)</m:t>
                            </m:r>
                          </m:e>
                          <m:sup>
                            <m:r>
                              <a:rPr lang="fr-FR" sz="1600" b="0" i="1" smtClean="0">
                                <a:latin typeface="Cambria Math" panose="02040503050406030204" pitchFamily="18" charset="0"/>
                              </a:rPr>
                              <m:t>2</m:t>
                            </m:r>
                          </m:sup>
                        </m:sSup>
                      </m:e>
                    </m:rad>
                  </m:oMath>
                </a14:m>
                <a:r>
                  <a:rPr lang="fr-FR" sz="1600" dirty="0"/>
                  <a:t> =</a:t>
                </a:r>
                <a14:m>
                  <m:oMath xmlns:m="http://schemas.openxmlformats.org/officeDocument/2006/math">
                    <m:r>
                      <a:rPr lang="fr-FR" sz="1600" i="1" dirty="0" smtClean="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20</m:t>
                    </m:r>
                  </m:oMath>
                </a14:m>
                <a:r>
                  <a:rPr lang="fr-FR" sz="1600" dirty="0"/>
                  <a:t>;</a:t>
                </a:r>
              </a:p>
              <a:p>
                <a:pPr marL="514350" indent="-514350">
                  <a:buNone/>
                </a:pPr>
                <a:r>
                  <a:rPr lang="fr-FR" sz="1600" dirty="0"/>
                  <a:t> d2(M3,M4)=</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sSup>
                              <m:sSupPr>
                                <m:ctrlPr>
                                  <a:rPr lang="fr-FR" sz="1600" i="1">
                                    <a:latin typeface="Cambria Math" panose="02040503050406030204" pitchFamily="18" charset="0"/>
                                  </a:rPr>
                                </m:ctrlPr>
                              </m:sSupPr>
                              <m:e>
                                <m:r>
                                  <a:rPr lang="fr-FR" sz="1600" i="1">
                                    <a:latin typeface="Cambria Math" panose="02040503050406030204" pitchFamily="18" charset="0"/>
                                  </a:rPr>
                                  <m:t>(</m:t>
                                </m:r>
                                <m:r>
                                  <a:rPr lang="fr-FR" sz="1600" b="0" i="1" smtClean="0">
                                    <a:latin typeface="Cambria Math" panose="02040503050406030204" pitchFamily="18" charset="0"/>
                                  </a:rPr>
                                  <m:t>−</m:t>
                                </m:r>
                                <m:r>
                                  <a:rPr lang="fr-FR" sz="1600" i="1">
                                    <a:latin typeface="Cambria Math" panose="02040503050406030204" pitchFamily="18" charset="0"/>
                                  </a:rPr>
                                  <m:t>1)</m:t>
                                </m:r>
                              </m:e>
                              <m:sup>
                                <m:r>
                                  <a:rPr lang="fr-FR" sz="1600" i="1">
                                    <a:latin typeface="Cambria Math" panose="02040503050406030204" pitchFamily="18" charset="0"/>
                                  </a:rPr>
                                  <m:t>2</m:t>
                                </m:r>
                              </m:sup>
                            </m:sSup>
                            <m:r>
                              <a:rPr lang="fr-FR" sz="1600" b="0" i="1" smtClean="0">
                                <a:latin typeface="Cambria Math" panose="02040503050406030204" pitchFamily="18" charset="0"/>
                              </a:rPr>
                              <m:t>+</m:t>
                            </m:r>
                            <m:r>
                              <a:rPr lang="fr-FR" sz="1600" i="1">
                                <a:latin typeface="Cambria Math" panose="02040503050406030204" pitchFamily="18" charset="0"/>
                              </a:rPr>
                              <m:t>(−</m:t>
                            </m:r>
                            <m:r>
                              <a:rPr lang="fr-FR" sz="1600" b="0" i="1" smtClean="0">
                                <a:latin typeface="Cambria Math" panose="02040503050406030204" pitchFamily="18" charset="0"/>
                              </a:rPr>
                              <m:t>1</m:t>
                            </m:r>
                            <m:r>
                              <a:rPr lang="fr-FR" sz="1600" i="1">
                                <a:latin typeface="Cambria Math" panose="02040503050406030204" pitchFamily="18" charset="0"/>
                              </a:rPr>
                              <m:t>)</m:t>
                            </m:r>
                          </m:e>
                          <m:sup>
                            <m:r>
                              <a:rPr lang="fr-FR" sz="1600" i="1">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i="1" dirty="0">
                            <a:latin typeface="Cambria Math" panose="02040503050406030204" pitchFamily="18" charset="0"/>
                            <a:ea typeface="Cambria Math" panose="02040503050406030204" pitchFamily="18" charset="0"/>
                          </a:rPr>
                        </m:ctrlPr>
                      </m:radPr>
                      <m:deg/>
                      <m:e>
                        <m:r>
                          <a:rPr lang="fr-FR" sz="1600" b="0" i="1" dirty="0" smtClean="0">
                            <a:latin typeface="Cambria Math" panose="02040503050406030204" pitchFamily="18" charset="0"/>
                            <a:ea typeface="Cambria Math" panose="02040503050406030204" pitchFamily="18" charset="0"/>
                          </a:rPr>
                          <m:t>2</m:t>
                        </m:r>
                      </m:e>
                    </m:rad>
                    <m:r>
                      <a:rPr lang="fr-FR" sz="1600" i="1" dirty="0">
                        <a:latin typeface="Cambria Math" panose="02040503050406030204" pitchFamily="18" charset="0"/>
                        <a:ea typeface="Cambria Math" panose="02040503050406030204" pitchFamily="18" charset="0"/>
                      </a:rPr>
                      <m:t> </m:t>
                    </m:r>
                  </m:oMath>
                </a14:m>
                <a:r>
                  <a:rPr lang="fr-FR" sz="1600" dirty="0"/>
                  <a:t>; d2(M3,M5)=</a:t>
                </a:r>
                <a14:m>
                  <m:oMath xmlns:m="http://schemas.openxmlformats.org/officeDocument/2006/math">
                    <m:rad>
                      <m:radPr>
                        <m:degHide m:val="on"/>
                        <m:ctrlPr>
                          <a:rPr lang="fr-FR" sz="1600" i="1">
                            <a:latin typeface="Cambria Math" panose="02040503050406030204" pitchFamily="18" charset="0"/>
                          </a:rPr>
                        </m:ctrlPr>
                      </m:radPr>
                      <m:deg/>
                      <m:e>
                        <m:sSup>
                          <m:sSupPr>
                            <m:ctrlPr>
                              <a:rPr lang="fr-FR" sz="1600" i="1">
                                <a:latin typeface="Cambria Math" panose="02040503050406030204" pitchFamily="18" charset="0"/>
                              </a:rPr>
                            </m:ctrlPr>
                          </m:sSupPr>
                          <m:e>
                            <m:sSup>
                              <m:sSupPr>
                                <m:ctrlPr>
                                  <a:rPr lang="fr-FR" sz="1600" i="1">
                                    <a:latin typeface="Cambria Math" panose="02040503050406030204" pitchFamily="18" charset="0"/>
                                  </a:rPr>
                                </m:ctrlPr>
                              </m:sSupPr>
                              <m:e>
                                <m:r>
                                  <a:rPr lang="fr-FR" sz="1600" i="1">
                                    <a:latin typeface="Cambria Math" panose="02040503050406030204" pitchFamily="18" charset="0"/>
                                  </a:rPr>
                                  <m:t>(−1)</m:t>
                                </m:r>
                              </m:e>
                              <m:sup>
                                <m:r>
                                  <a:rPr lang="fr-FR" sz="1600" i="1">
                                    <a:latin typeface="Cambria Math" panose="02040503050406030204" pitchFamily="18" charset="0"/>
                                  </a:rPr>
                                  <m:t>2</m:t>
                                </m:r>
                              </m:sup>
                            </m:sSup>
                            <m:r>
                              <a:rPr lang="fr-FR" sz="1600" i="1">
                                <a:latin typeface="Cambria Math" panose="02040503050406030204" pitchFamily="18" charset="0"/>
                              </a:rPr>
                              <m:t>+(−</m:t>
                            </m:r>
                            <m:r>
                              <a:rPr lang="fr-FR" sz="1600" b="0" i="1" smtClean="0">
                                <a:latin typeface="Cambria Math" panose="02040503050406030204" pitchFamily="18" charset="0"/>
                              </a:rPr>
                              <m:t>2</m:t>
                            </m:r>
                            <m:r>
                              <a:rPr lang="fr-FR" sz="1600" i="1">
                                <a:latin typeface="Cambria Math" panose="02040503050406030204" pitchFamily="18" charset="0"/>
                              </a:rPr>
                              <m:t>)</m:t>
                            </m:r>
                          </m:e>
                          <m:sup>
                            <m:r>
                              <a:rPr lang="fr-FR" sz="1600" i="1">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i="1" dirty="0">
                            <a:latin typeface="Cambria Math" panose="02040503050406030204" pitchFamily="18" charset="0"/>
                            <a:ea typeface="Cambria Math" panose="02040503050406030204" pitchFamily="18" charset="0"/>
                          </a:rPr>
                        </m:ctrlPr>
                      </m:radPr>
                      <m:deg/>
                      <m:e>
                        <m:r>
                          <a:rPr lang="fr-FR" sz="1600" b="0" i="1" dirty="0" smtClean="0">
                            <a:latin typeface="Cambria Math" panose="02040503050406030204" pitchFamily="18" charset="0"/>
                            <a:ea typeface="Cambria Math" panose="02040503050406030204" pitchFamily="18" charset="0"/>
                          </a:rPr>
                          <m:t>5</m:t>
                        </m:r>
                      </m:e>
                    </m:rad>
                    <m:r>
                      <a:rPr lang="fr-FR" sz="1600" i="1" dirty="0">
                        <a:latin typeface="Cambria Math" panose="02040503050406030204" pitchFamily="18" charset="0"/>
                        <a:ea typeface="Cambria Math" panose="02040503050406030204" pitchFamily="18" charset="0"/>
                      </a:rPr>
                      <m:t> </m:t>
                    </m:r>
                  </m:oMath>
                </a14:m>
                <a:endParaRPr lang="fr-FR" sz="1600" dirty="0"/>
              </a:p>
              <a:p>
                <a:pPr marL="514350" indent="-514350">
                  <a:buNone/>
                </a:pPr>
                <a:endParaRPr lang="fr-FR" sz="1600" dirty="0"/>
              </a:p>
              <a:p>
                <a:pPr marL="514350" indent="-514350">
                  <a:buNone/>
                </a:pPr>
                <a:endParaRPr lang="fr-FR" sz="1600" dirty="0"/>
              </a:p>
              <a:p>
                <a:pPr marL="514350" indent="-514350">
                  <a:buNone/>
                </a:pPr>
                <a:endParaRPr lang="fr-FR" sz="1600" dirty="0"/>
              </a:p>
              <a:p>
                <a:pPr marL="514350" indent="-514350">
                  <a:buNone/>
                </a:pPr>
                <a:endParaRPr lang="fr-FR" sz="1600" dirty="0">
                  <a:solidFill>
                    <a:schemeClr val="accent6"/>
                  </a:solidFill>
                </a:endParaRPr>
              </a:p>
              <a:p>
                <a:pPr marL="514350" indent="-514350">
                  <a:buNone/>
                </a:pPr>
                <a:r>
                  <a:rPr lang="fr-FR" sz="1600" dirty="0">
                    <a:solidFill>
                      <a:schemeClr val="accent6"/>
                    </a:solidFill>
                  </a:rPr>
                  <a:t>B-</a:t>
                </a:r>
                <a:r>
                  <a:rPr lang="fr-FR" sz="1600" dirty="0"/>
                  <a:t>Ecart(C</a:t>
                </a:r>
                <a:r>
                  <a:rPr lang="fr-FR" sz="1600" baseline="-25000" dirty="0"/>
                  <a:t>1</a:t>
                </a:r>
                <a:r>
                  <a:rPr lang="fr-FR" sz="1600" dirty="0"/>
                  <a:t>,C</a:t>
                </a:r>
                <a:r>
                  <a:rPr lang="fr-FR" sz="1600" baseline="-25000" dirty="0"/>
                  <a:t>2</a:t>
                </a:r>
                <a:r>
                  <a:rPr lang="fr-FR" sz="1600" dirty="0"/>
                  <a:t>) selon </a:t>
                </a:r>
                <a:r>
                  <a:rPr lang="fr-FR" sz="1600" dirty="0">
                    <a:solidFill>
                      <a:srgbClr val="FF0000"/>
                    </a:solidFill>
                  </a:rPr>
                  <a:t>la distance du plus loin voisin: max(d(</a:t>
                </a:r>
                <a:r>
                  <a:rPr lang="fr-FR" sz="1600" dirty="0" err="1">
                    <a:solidFill>
                      <a:srgbClr val="FF0000"/>
                    </a:solidFill>
                  </a:rPr>
                  <a:t>Mi,Mj</a:t>
                </a:r>
                <a:r>
                  <a:rPr lang="fr-FR" sz="1600" dirty="0">
                    <a:solidFill>
                      <a:srgbClr val="FF0000"/>
                    </a:solidFill>
                  </a:rPr>
                  <a:t>))</a:t>
                </a:r>
              </a:p>
              <a:p>
                <a:pPr marL="514350" indent="-514350">
                  <a:buNone/>
                </a:pPr>
                <a:endParaRPr lang="fr-FR" sz="1600" dirty="0">
                  <a:solidFill>
                    <a:srgbClr val="FF0000"/>
                  </a:solidFill>
                </a:endParaRPr>
              </a:p>
              <a:p>
                <a:pPr marL="514350" indent="-514350">
                  <a:buNone/>
                </a:pPr>
                <a:endParaRPr lang="fr-FR" sz="1600"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51520" y="1268760"/>
                <a:ext cx="9144000" cy="5301207"/>
              </a:xfrm>
              <a:blipFill>
                <a:blip r:embed="rId2"/>
                <a:stretch>
                  <a:fillRect l="-333" t="-345"/>
                </a:stretch>
              </a:blipFill>
            </p:spPr>
            <p:txBody>
              <a:bodyPr/>
              <a:lstStyle/>
              <a:p>
                <a:r>
                  <a:rPr lang="fr-FR">
                    <a:noFill/>
                  </a:rPr>
                  <a:t> </a:t>
                </a:r>
              </a:p>
            </p:txBody>
          </p:sp>
        </mc:Fallback>
      </mc:AlternateContent>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59</a:t>
            </a:fld>
            <a:endParaRPr lang="fr-FR"/>
          </a:p>
        </p:txBody>
      </p:sp>
      <mc:AlternateContent xmlns:mc="http://schemas.openxmlformats.org/markup-compatibility/2006" xmlns:a14="http://schemas.microsoft.com/office/drawing/2010/main">
        <mc:Choice Requires="a14">
          <p:sp>
            <p:nvSpPr>
              <p:cNvPr id="67594" name="Object 10"/>
              <p:cNvSpPr txBox="1"/>
              <p:nvPr/>
            </p:nvSpPr>
            <p:spPr bwMode="auto">
              <a:xfrm>
                <a:off x="4621237" y="3501008"/>
                <a:ext cx="2759075" cy="971404"/>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fr-FR" i="1" smtClean="0">
                              <a:solidFill>
                                <a:srgbClr val="000000"/>
                              </a:solidFill>
                              <a:latin typeface="Cambria Math" panose="02040503050406030204" pitchFamily="18" charset="0"/>
                            </a:rPr>
                          </m:ctrlPr>
                        </m:sSubPr>
                        <m:e>
                          <m:r>
                            <a:rPr lang="fr-FR" i="1">
                              <a:solidFill>
                                <a:srgbClr val="000000"/>
                              </a:solidFill>
                              <a:latin typeface="Cambria Math" panose="02040503050406030204" pitchFamily="18" charset="0"/>
                            </a:rPr>
                            <m:t>𝑑</m:t>
                          </m:r>
                        </m:e>
                        <m:sub>
                          <m:r>
                            <a:rPr lang="fr-FR" i="1">
                              <a:solidFill>
                                <a:srgbClr val="000000"/>
                              </a:solidFill>
                              <a:latin typeface="Cambria Math" panose="02040503050406030204" pitchFamily="18" charset="0"/>
                            </a:rPr>
                            <m:t>2</m:t>
                          </m:r>
                        </m:sub>
                      </m:sSub>
                      <m:r>
                        <a:rPr lang="fr-FR" i="1">
                          <a:solidFill>
                            <a:srgbClr val="000000"/>
                          </a:solidFill>
                          <a:latin typeface="Cambria Math" panose="02040503050406030204" pitchFamily="18" charset="0"/>
                        </a:rPr>
                        <m:t>=</m:t>
                      </m:r>
                      <m:d>
                        <m:dPr>
                          <m:ctrlPr>
                            <a:rPr lang="fr-FR" i="1">
                              <a:solidFill>
                                <a:srgbClr val="000000"/>
                              </a:solidFill>
                              <a:latin typeface="Cambria Math" panose="02040503050406030204" pitchFamily="18" charset="0"/>
                            </a:rPr>
                          </m:ctrlPr>
                        </m:dPr>
                        <m:e>
                          <m:m>
                            <m:mPr>
                              <m:plcHide m:val="on"/>
                              <m:mcs>
                                <m:mc>
                                  <m:mcPr>
                                    <m:count m:val="3"/>
                                    <m:mcJc m:val="center"/>
                                  </m:mcPr>
                                </m:mc>
                              </m:mcs>
                              <m:ctrlPr>
                                <a:rPr lang="fr-FR" i="1">
                                  <a:solidFill>
                                    <a:srgbClr val="000000"/>
                                  </a:solidFill>
                                  <a:latin typeface="Cambria Math" panose="02040503050406030204" pitchFamily="18" charset="0"/>
                                </a:rPr>
                              </m:ctrlPr>
                            </m:mPr>
                            <m:mr>
                              <m:e>
                                <m:m>
                                  <m:mPr>
                                    <m:plcHide m:val="on"/>
                                    <m:mcs>
                                      <m:mc>
                                        <m:mcPr>
                                          <m:count m:val="1"/>
                                          <m:mcJc m:val="center"/>
                                        </m:mcPr>
                                      </m:mc>
                                    </m:mcs>
                                    <m:ctrlPr>
                                      <a:rPr lang="fr-FR" i="1">
                                        <a:solidFill>
                                          <a:srgbClr val="000000"/>
                                        </a:solidFill>
                                        <a:latin typeface="Cambria Math" panose="02040503050406030204" pitchFamily="18" charset="0"/>
                                      </a:rPr>
                                    </m:ctrlPr>
                                  </m:mP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13</m:t>
                                          </m:r>
                                        </m:e>
                                      </m:rad>
                                    </m:e>
                                  </m:m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18</m:t>
                                          </m:r>
                                        </m:e>
                                      </m:rad>
                                    </m:e>
                                  </m:mr>
                                </m:m>
                              </m:e>
                              <m:e>
                                <m:m>
                                  <m:mPr>
                                    <m:plcHide m:val="on"/>
                                    <m:mcs>
                                      <m:mc>
                                        <m:mcPr>
                                          <m:count m:val="1"/>
                                          <m:mcJc m:val="center"/>
                                        </m:mcPr>
                                      </m:mc>
                                    </m:mcs>
                                    <m:ctrlPr>
                                      <a:rPr lang="fr-FR" i="1">
                                        <a:solidFill>
                                          <a:srgbClr val="000000"/>
                                        </a:solidFill>
                                        <a:latin typeface="Cambria Math" panose="02040503050406030204" pitchFamily="18" charset="0"/>
                                      </a:rPr>
                                    </m:ctrlPr>
                                  </m:mP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1</m:t>
                                          </m:r>
                                          <m:r>
                                            <a:rPr lang="fr-FR" b="0" i="1" smtClean="0">
                                              <a:solidFill>
                                                <a:srgbClr val="000000"/>
                                              </a:solidFill>
                                              <a:latin typeface="Cambria Math" panose="02040503050406030204" pitchFamily="18" charset="0"/>
                                            </a:rPr>
                                            <m:t>7</m:t>
                                          </m:r>
                                        </m:e>
                                      </m:rad>
                                    </m:e>
                                  </m:m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20</m:t>
                                          </m:r>
                                        </m:e>
                                      </m:rad>
                                    </m:e>
                                  </m:mr>
                                </m:m>
                              </m:e>
                              <m:e>
                                <m:m>
                                  <m:mPr>
                                    <m:plcHide m:val="on"/>
                                    <m:mcs>
                                      <m:mc>
                                        <m:mcPr>
                                          <m:count m:val="1"/>
                                          <m:mcJc m:val="center"/>
                                        </m:mcPr>
                                      </m:mc>
                                    </m:mcs>
                                    <m:ctrlPr>
                                      <a:rPr lang="fr-FR" i="1">
                                        <a:solidFill>
                                          <a:srgbClr val="000000"/>
                                        </a:solidFill>
                                        <a:latin typeface="Cambria Math" panose="02040503050406030204" pitchFamily="18" charset="0"/>
                                      </a:rPr>
                                    </m:ctrlPr>
                                  </m:mPr>
                                  <m:mr>
                                    <m:e>
                                      <m:rad>
                                        <m:radPr>
                                          <m:degHide m:val="on"/>
                                          <m:ctrlPr>
                                            <a:rPr lang="fr-FR" i="1" smtClean="0">
                                              <a:solidFill>
                                                <a:srgbClr val="FF0000"/>
                                              </a:solidFill>
                                              <a:latin typeface="Cambria Math" panose="02040503050406030204" pitchFamily="18" charset="0"/>
                                            </a:rPr>
                                          </m:ctrlPr>
                                        </m:radPr>
                                        <m:deg/>
                                        <m:e>
                                          <m:r>
                                            <a:rPr lang="fr-FR" i="1">
                                              <a:solidFill>
                                                <a:srgbClr val="FF0000"/>
                                              </a:solidFill>
                                              <a:latin typeface="Cambria Math" panose="02040503050406030204" pitchFamily="18" charset="0"/>
                                            </a:rPr>
                                            <m:t>2</m:t>
                                          </m:r>
                                        </m:e>
                                      </m:rad>
                                    </m:e>
                                  </m:m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5</m:t>
                                          </m:r>
                                        </m:e>
                                      </m:rad>
                                    </m:e>
                                  </m:mr>
                                </m:m>
                              </m:e>
                            </m:mr>
                          </m:m>
                        </m:e>
                      </m:d>
                    </m:oMath>
                  </m:oMathPara>
                </a14:m>
                <a:endParaRPr lang="fr-FR" dirty="0"/>
              </a:p>
            </p:txBody>
          </p:sp>
        </mc:Choice>
        <mc:Fallback xmlns="">
          <p:sp>
            <p:nvSpPr>
              <p:cNvPr id="67594" name="Object 10"/>
              <p:cNvSpPr txBox="1">
                <a:spLocks noRot="1" noChangeAspect="1" noMove="1" noResize="1" noEditPoints="1" noAdjustHandles="1" noChangeArrowheads="1" noChangeShapeType="1" noTextEdit="1"/>
              </p:cNvSpPr>
              <p:nvPr/>
            </p:nvSpPr>
            <p:spPr bwMode="auto">
              <a:xfrm>
                <a:off x="4621237" y="3501008"/>
                <a:ext cx="2759075" cy="971404"/>
              </a:xfrm>
              <a:prstGeom prst="rect">
                <a:avLst/>
              </a:prstGeom>
              <a:blipFill>
                <a:blip r:embed="rId3"/>
                <a:stretch>
                  <a:fillRect/>
                </a:stretch>
              </a:blipFill>
            </p:spPr>
            <p:txBody>
              <a:bodyPr/>
              <a:lstStyle/>
              <a:p>
                <a:r>
                  <a:rPr lang="fr-FR">
                    <a:noFill/>
                  </a:rPr>
                  <a:t> </a:t>
                </a:r>
              </a:p>
            </p:txBody>
          </p:sp>
        </mc:Fallback>
      </mc:AlternateContent>
      <p:sp>
        <p:nvSpPr>
          <p:cNvPr id="15" name="Titre 9"/>
          <p:cNvSpPr txBox="1">
            <a:spLocks/>
          </p:cNvSpPr>
          <p:nvPr/>
        </p:nvSpPr>
        <p:spPr>
          <a:xfrm>
            <a:off x="454152" y="260648"/>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3300" dirty="0">
                <a:solidFill>
                  <a:schemeClr val="accent3">
                    <a:shade val="75000"/>
                  </a:schemeClr>
                </a:solidFill>
                <a:latin typeface="+mj-lt"/>
                <a:ea typeface="+mj-ea"/>
                <a:cs typeface="+mj-cs"/>
              </a:rPr>
              <a:t>2</a:t>
            </a: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.4. Mise en œuvre</a:t>
            </a:r>
          </a:p>
        </p:txBody>
      </p:sp>
      <mc:AlternateContent xmlns:mc="http://schemas.openxmlformats.org/markup-compatibility/2006" xmlns:a14="http://schemas.microsoft.com/office/drawing/2010/main">
        <mc:Choice Requires="a14">
          <p:sp>
            <p:nvSpPr>
              <p:cNvPr id="8" name="Object 10">
                <a:extLst>
                  <a:ext uri="{FF2B5EF4-FFF2-40B4-BE49-F238E27FC236}">
                    <a16:creationId xmlns:a16="http://schemas.microsoft.com/office/drawing/2014/main" id="{5FFC8162-96F5-4E9B-9A17-7DA744EFF2C2}"/>
                  </a:ext>
                </a:extLst>
              </p:cNvPr>
              <p:cNvSpPr txBox="1"/>
              <p:nvPr/>
            </p:nvSpPr>
            <p:spPr bwMode="auto">
              <a:xfrm>
                <a:off x="539552" y="3581329"/>
                <a:ext cx="3346648" cy="567751"/>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fr-FR" sz="1400" i="1" smtClean="0">
                              <a:solidFill>
                                <a:srgbClr val="000000"/>
                              </a:solidFill>
                              <a:latin typeface="Cambria Math" panose="02040503050406030204" pitchFamily="18" charset="0"/>
                            </a:rPr>
                          </m:ctrlPr>
                        </m:sSubPr>
                        <m:e>
                          <m:r>
                            <a:rPr lang="fr-FR" sz="1400" i="1">
                              <a:solidFill>
                                <a:srgbClr val="000000"/>
                              </a:solidFill>
                              <a:latin typeface="Cambria Math" panose="02040503050406030204" pitchFamily="18" charset="0"/>
                            </a:rPr>
                            <m:t>𝑑</m:t>
                          </m:r>
                        </m:e>
                        <m:sub>
                          <m:r>
                            <a:rPr lang="fr-FR" sz="1400" i="1">
                              <a:solidFill>
                                <a:srgbClr val="000000"/>
                              </a:solidFill>
                              <a:latin typeface="Cambria Math" panose="02040503050406030204" pitchFamily="18" charset="0"/>
                            </a:rPr>
                            <m:t>2</m:t>
                          </m:r>
                        </m:sub>
                      </m:sSub>
                      <m:r>
                        <a:rPr lang="fr-FR" sz="1400" i="1">
                          <a:solidFill>
                            <a:srgbClr val="000000"/>
                          </a:solidFill>
                          <a:latin typeface="Cambria Math" panose="02040503050406030204" pitchFamily="18" charset="0"/>
                        </a:rPr>
                        <m:t>=</m:t>
                      </m:r>
                      <m:d>
                        <m:dPr>
                          <m:ctrlPr>
                            <a:rPr lang="fr-FR" sz="1400" i="1">
                              <a:solidFill>
                                <a:srgbClr val="000000"/>
                              </a:solidFill>
                              <a:latin typeface="Cambria Math" panose="02040503050406030204" pitchFamily="18" charset="0"/>
                            </a:rPr>
                          </m:ctrlPr>
                        </m:dPr>
                        <m:e>
                          <m:m>
                            <m:mPr>
                              <m:plcHide m:val="on"/>
                              <m:mcs>
                                <m:mc>
                                  <m:mcPr>
                                    <m:count m:val="3"/>
                                    <m:mcJc m:val="center"/>
                                  </m:mcPr>
                                </m:mc>
                              </m:mcs>
                              <m:ctrlPr>
                                <a:rPr lang="fr-FR" sz="1400" i="1">
                                  <a:solidFill>
                                    <a:srgbClr val="000000"/>
                                  </a:solidFill>
                                  <a:latin typeface="Cambria Math" panose="02040503050406030204" pitchFamily="18" charset="0"/>
                                </a:rPr>
                              </m:ctrlPr>
                            </m:mPr>
                            <m:mr>
                              <m:e>
                                <m:m>
                                  <m:mPr>
                                    <m:plcHide m:val="on"/>
                                    <m:mcs>
                                      <m:mc>
                                        <m:mcPr>
                                          <m:count m:val="1"/>
                                          <m:mcJc m:val="center"/>
                                        </m:mcPr>
                                      </m:mc>
                                    </m:mcs>
                                    <m:ctrlPr>
                                      <a:rPr lang="fr-FR" sz="1400" i="1">
                                        <a:solidFill>
                                          <a:srgbClr val="000000"/>
                                        </a:solidFill>
                                        <a:latin typeface="Cambria Math" panose="02040503050406030204" pitchFamily="18" charset="0"/>
                                      </a:rPr>
                                    </m:ctrlPr>
                                  </m:mPr>
                                  <m:mr>
                                    <m:e>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1 </m:t>
                                      </m:r>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4</m:t>
                                      </m:r>
                                    </m:e>
                                  </m:mr>
                                  <m:mr>
                                    <m:e>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1</m:t>
                                      </m:r>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5</m:t>
                                      </m:r>
                                    </m:e>
                                  </m:mr>
                                </m:m>
                              </m:e>
                              <m:e>
                                <m:m>
                                  <m:mPr>
                                    <m:plcHide m:val="on"/>
                                    <m:mcs>
                                      <m:mc>
                                        <m:mcPr>
                                          <m:count m:val="1"/>
                                          <m:mcJc m:val="center"/>
                                        </m:mcPr>
                                      </m:mc>
                                    </m:mcs>
                                    <m:ctrlPr>
                                      <a:rPr lang="fr-FR" sz="1400" i="1">
                                        <a:solidFill>
                                          <a:srgbClr val="000000"/>
                                        </a:solidFill>
                                        <a:latin typeface="Cambria Math" panose="02040503050406030204" pitchFamily="18" charset="0"/>
                                      </a:rPr>
                                    </m:ctrlPr>
                                  </m:mPr>
                                  <m:mr>
                                    <m:e>
                                      <m:r>
                                        <a:rPr lang="fr-FR" sz="140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2</m:t>
                                      </m:r>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4</m:t>
                                      </m:r>
                                    </m:e>
                                  </m:mr>
                                  <m:mr>
                                    <m:e>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2</m:t>
                                      </m:r>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5</m:t>
                                      </m:r>
                                    </m:e>
                                  </m:mr>
                                </m:m>
                              </m:e>
                              <m:e>
                                <m:m>
                                  <m:mPr>
                                    <m:plcHide m:val="on"/>
                                    <m:mcs>
                                      <m:mc>
                                        <m:mcPr>
                                          <m:count m:val="1"/>
                                          <m:mcJc m:val="center"/>
                                        </m:mcPr>
                                      </m:mc>
                                    </m:mcs>
                                    <m:ctrlPr>
                                      <a:rPr lang="fr-FR" sz="1400" i="1">
                                        <a:solidFill>
                                          <a:srgbClr val="000000"/>
                                        </a:solidFill>
                                        <a:latin typeface="Cambria Math" panose="02040503050406030204" pitchFamily="18" charset="0"/>
                                      </a:rPr>
                                    </m:ctrlPr>
                                  </m:mPr>
                                  <m:mr>
                                    <m:e>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3</m:t>
                                      </m:r>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4</m:t>
                                      </m:r>
                                    </m:e>
                                  </m:mr>
                                  <m:mr>
                                    <m:e>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3</m:t>
                                      </m:r>
                                      <m:r>
                                        <a:rPr lang="fr-FR" sz="1400" b="0" i="1" smtClean="0">
                                          <a:solidFill>
                                            <a:srgbClr val="000000"/>
                                          </a:solidFill>
                                          <a:latin typeface="Cambria Math" panose="02040503050406030204" pitchFamily="18" charset="0"/>
                                        </a:rPr>
                                        <m:t>𝑀</m:t>
                                      </m:r>
                                      <m:r>
                                        <a:rPr lang="fr-FR" sz="1400" b="0" i="1" smtClean="0">
                                          <a:solidFill>
                                            <a:srgbClr val="000000"/>
                                          </a:solidFill>
                                          <a:latin typeface="Cambria Math" panose="02040503050406030204" pitchFamily="18" charset="0"/>
                                        </a:rPr>
                                        <m:t>5</m:t>
                                      </m:r>
                                    </m:e>
                                  </m:mr>
                                </m:m>
                              </m:e>
                            </m:mr>
                          </m:m>
                        </m:e>
                      </m:d>
                    </m:oMath>
                  </m:oMathPara>
                </a14:m>
                <a:endParaRPr lang="fr-FR" sz="1400" dirty="0"/>
              </a:p>
            </p:txBody>
          </p:sp>
        </mc:Choice>
        <mc:Fallback xmlns="">
          <p:sp>
            <p:nvSpPr>
              <p:cNvPr id="8" name="Object 10">
                <a:extLst>
                  <a:ext uri="{FF2B5EF4-FFF2-40B4-BE49-F238E27FC236}">
                    <a16:creationId xmlns:a16="http://schemas.microsoft.com/office/drawing/2014/main" id="{5FFC8162-96F5-4E9B-9A17-7DA744EFF2C2}"/>
                  </a:ext>
                </a:extLst>
              </p:cNvPr>
              <p:cNvSpPr txBox="1">
                <a:spLocks noRot="1" noChangeAspect="1" noMove="1" noResize="1" noEditPoints="1" noAdjustHandles="1" noChangeArrowheads="1" noChangeShapeType="1" noTextEdit="1"/>
              </p:cNvSpPr>
              <p:nvPr/>
            </p:nvSpPr>
            <p:spPr bwMode="auto">
              <a:xfrm>
                <a:off x="539552" y="3581329"/>
                <a:ext cx="3346648" cy="567751"/>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D9E10774-6629-4DD5-9306-695009F1AA99}"/>
                  </a:ext>
                </a:extLst>
              </p:cNvPr>
              <p:cNvSpPr txBox="1"/>
              <p:nvPr/>
            </p:nvSpPr>
            <p:spPr bwMode="auto">
              <a:xfrm>
                <a:off x="2843213" y="5079900"/>
                <a:ext cx="2759075" cy="94138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fr-FR" i="1" smtClean="0">
                              <a:solidFill>
                                <a:srgbClr val="000000"/>
                              </a:solidFill>
                              <a:latin typeface="Cambria Math" panose="02040503050406030204" pitchFamily="18" charset="0"/>
                            </a:rPr>
                          </m:ctrlPr>
                        </m:sSubPr>
                        <m:e>
                          <m:r>
                            <a:rPr lang="fr-FR" i="1">
                              <a:solidFill>
                                <a:srgbClr val="000000"/>
                              </a:solidFill>
                              <a:latin typeface="Cambria Math" panose="02040503050406030204" pitchFamily="18" charset="0"/>
                            </a:rPr>
                            <m:t>𝑑</m:t>
                          </m:r>
                        </m:e>
                        <m:sub>
                          <m:r>
                            <a:rPr lang="fr-FR" i="1">
                              <a:solidFill>
                                <a:srgbClr val="000000"/>
                              </a:solidFill>
                              <a:latin typeface="Cambria Math" panose="02040503050406030204" pitchFamily="18" charset="0"/>
                            </a:rPr>
                            <m:t>2</m:t>
                          </m:r>
                        </m:sub>
                      </m:sSub>
                      <m:r>
                        <a:rPr lang="fr-FR" i="1">
                          <a:solidFill>
                            <a:srgbClr val="000000"/>
                          </a:solidFill>
                          <a:latin typeface="Cambria Math" panose="02040503050406030204" pitchFamily="18" charset="0"/>
                        </a:rPr>
                        <m:t>=</m:t>
                      </m:r>
                      <m:d>
                        <m:dPr>
                          <m:ctrlPr>
                            <a:rPr lang="fr-FR" i="1">
                              <a:solidFill>
                                <a:srgbClr val="000000"/>
                              </a:solidFill>
                              <a:latin typeface="Cambria Math" panose="02040503050406030204" pitchFamily="18" charset="0"/>
                            </a:rPr>
                          </m:ctrlPr>
                        </m:dPr>
                        <m:e>
                          <m:m>
                            <m:mPr>
                              <m:plcHide m:val="on"/>
                              <m:mcs>
                                <m:mc>
                                  <m:mcPr>
                                    <m:count m:val="3"/>
                                    <m:mcJc m:val="center"/>
                                  </m:mcPr>
                                </m:mc>
                              </m:mcs>
                              <m:ctrlPr>
                                <a:rPr lang="fr-FR" i="1">
                                  <a:solidFill>
                                    <a:srgbClr val="000000"/>
                                  </a:solidFill>
                                  <a:latin typeface="Cambria Math" panose="02040503050406030204" pitchFamily="18" charset="0"/>
                                </a:rPr>
                              </m:ctrlPr>
                            </m:mPr>
                            <m:mr>
                              <m:e>
                                <m:m>
                                  <m:mPr>
                                    <m:plcHide m:val="on"/>
                                    <m:mcs>
                                      <m:mc>
                                        <m:mcPr>
                                          <m:count m:val="1"/>
                                          <m:mcJc m:val="center"/>
                                        </m:mcPr>
                                      </m:mc>
                                    </m:mcs>
                                    <m:ctrlPr>
                                      <a:rPr lang="fr-FR" i="1">
                                        <a:solidFill>
                                          <a:srgbClr val="000000"/>
                                        </a:solidFill>
                                        <a:latin typeface="Cambria Math" panose="02040503050406030204" pitchFamily="18" charset="0"/>
                                      </a:rPr>
                                    </m:ctrlPr>
                                  </m:mP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13</m:t>
                                          </m:r>
                                        </m:e>
                                      </m:rad>
                                    </m:e>
                                  </m:m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18</m:t>
                                          </m:r>
                                        </m:e>
                                      </m:rad>
                                    </m:e>
                                  </m:mr>
                                </m:m>
                              </m:e>
                              <m:e>
                                <m:m>
                                  <m:mPr>
                                    <m:plcHide m:val="on"/>
                                    <m:mcs>
                                      <m:mc>
                                        <m:mcPr>
                                          <m:count m:val="1"/>
                                          <m:mcJc m:val="center"/>
                                        </m:mcPr>
                                      </m:mc>
                                    </m:mcs>
                                    <m:ctrlPr>
                                      <a:rPr lang="fr-FR" i="1">
                                        <a:solidFill>
                                          <a:srgbClr val="000000"/>
                                        </a:solidFill>
                                        <a:latin typeface="Cambria Math" panose="02040503050406030204" pitchFamily="18" charset="0"/>
                                      </a:rPr>
                                    </m:ctrlPr>
                                  </m:mP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1</m:t>
                                          </m:r>
                                          <m:r>
                                            <a:rPr lang="fr-FR" b="0" i="1" smtClean="0">
                                              <a:solidFill>
                                                <a:srgbClr val="000000"/>
                                              </a:solidFill>
                                              <a:latin typeface="Cambria Math" panose="02040503050406030204" pitchFamily="18" charset="0"/>
                                            </a:rPr>
                                            <m:t>7</m:t>
                                          </m:r>
                                        </m:e>
                                      </m:rad>
                                    </m:e>
                                  </m:mr>
                                  <m:mr>
                                    <m:e>
                                      <m:rad>
                                        <m:radPr>
                                          <m:degHide m:val="on"/>
                                          <m:ctrlPr>
                                            <a:rPr lang="fr-FR" i="1" smtClean="0">
                                              <a:solidFill>
                                                <a:srgbClr val="FF0000"/>
                                              </a:solidFill>
                                              <a:latin typeface="Cambria Math" panose="02040503050406030204" pitchFamily="18" charset="0"/>
                                            </a:rPr>
                                          </m:ctrlPr>
                                        </m:radPr>
                                        <m:deg/>
                                        <m:e>
                                          <m:r>
                                            <a:rPr lang="fr-FR" i="1">
                                              <a:solidFill>
                                                <a:srgbClr val="FF0000"/>
                                              </a:solidFill>
                                              <a:latin typeface="Cambria Math" panose="02040503050406030204" pitchFamily="18" charset="0"/>
                                            </a:rPr>
                                            <m:t>20</m:t>
                                          </m:r>
                                        </m:e>
                                      </m:rad>
                                    </m:e>
                                  </m:mr>
                                </m:m>
                              </m:e>
                              <m:e>
                                <m:m>
                                  <m:mPr>
                                    <m:plcHide m:val="on"/>
                                    <m:mcs>
                                      <m:mc>
                                        <m:mcPr>
                                          <m:count m:val="1"/>
                                          <m:mcJc m:val="center"/>
                                        </m:mcPr>
                                      </m:mc>
                                    </m:mcs>
                                    <m:ctrlPr>
                                      <a:rPr lang="fr-FR" i="1">
                                        <a:solidFill>
                                          <a:srgbClr val="000000"/>
                                        </a:solidFill>
                                        <a:latin typeface="Cambria Math" panose="02040503050406030204" pitchFamily="18" charset="0"/>
                                      </a:rPr>
                                    </m:ctrlPr>
                                  </m:mP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2</m:t>
                                          </m:r>
                                        </m:e>
                                      </m:rad>
                                    </m:e>
                                  </m:mr>
                                  <m:mr>
                                    <m:e>
                                      <m:rad>
                                        <m:radPr>
                                          <m:degHide m:val="on"/>
                                          <m:ctrlPr>
                                            <a:rPr lang="fr-FR" i="1">
                                              <a:solidFill>
                                                <a:srgbClr val="000000"/>
                                              </a:solidFill>
                                              <a:latin typeface="Cambria Math" panose="02040503050406030204" pitchFamily="18" charset="0"/>
                                            </a:rPr>
                                          </m:ctrlPr>
                                        </m:radPr>
                                        <m:deg/>
                                        <m:e>
                                          <m:r>
                                            <a:rPr lang="fr-FR" i="1">
                                              <a:solidFill>
                                                <a:srgbClr val="000000"/>
                                              </a:solidFill>
                                              <a:latin typeface="Cambria Math" panose="02040503050406030204" pitchFamily="18" charset="0"/>
                                            </a:rPr>
                                            <m:t>5</m:t>
                                          </m:r>
                                        </m:e>
                                      </m:rad>
                                    </m:e>
                                  </m:mr>
                                </m:m>
                              </m:e>
                            </m:mr>
                          </m:m>
                        </m:e>
                      </m:d>
                    </m:oMath>
                  </m:oMathPara>
                </a14:m>
                <a:endParaRPr lang="fr-FR" dirty="0"/>
              </a:p>
            </p:txBody>
          </p:sp>
        </mc:Choice>
        <mc:Fallback xmlns="">
          <p:sp>
            <p:nvSpPr>
              <p:cNvPr id="10" name="Object 10">
                <a:extLst>
                  <a:ext uri="{FF2B5EF4-FFF2-40B4-BE49-F238E27FC236}">
                    <a16:creationId xmlns:a16="http://schemas.microsoft.com/office/drawing/2014/main" id="{D9E10774-6629-4DD5-9306-695009F1AA99}"/>
                  </a:ext>
                </a:extLst>
              </p:cNvPr>
              <p:cNvSpPr txBox="1">
                <a:spLocks noRot="1" noChangeAspect="1" noMove="1" noResize="1" noEditPoints="1" noAdjustHandles="1" noChangeArrowheads="1" noChangeShapeType="1" noTextEdit="1"/>
              </p:cNvSpPr>
              <p:nvPr/>
            </p:nvSpPr>
            <p:spPr bwMode="auto">
              <a:xfrm>
                <a:off x="2843213" y="5079900"/>
                <a:ext cx="2759075" cy="941388"/>
              </a:xfrm>
              <a:prstGeom prst="rect">
                <a:avLst/>
              </a:prstGeom>
              <a:blipFill>
                <a:blip r:embed="rId5"/>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67596097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5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4" grpId="0"/>
      <p:bldP spid="8"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51520" y="1268760"/>
                <a:ext cx="9144000" cy="5301207"/>
              </a:xfrm>
            </p:spPr>
            <p:txBody>
              <a:bodyPr>
                <a:normAutofit/>
              </a:bodyPr>
              <a:lstStyle/>
              <a:p>
                <a:pPr>
                  <a:buNone/>
                </a:pPr>
                <a:r>
                  <a:rPr lang="fr-FR" sz="1600" b="1" u="sng" dirty="0"/>
                  <a:t>Correction de l’exercice:</a:t>
                </a:r>
              </a:p>
              <a:p>
                <a:pPr>
                  <a:buNone/>
                </a:pPr>
                <a:r>
                  <a:rPr lang="fr-FR" sz="1600" dirty="0"/>
                  <a:t>M</a:t>
                </a:r>
                <a:r>
                  <a:rPr lang="fr-FR" sz="1600" baseline="-25000" dirty="0"/>
                  <a:t>1 </a:t>
                </a:r>
                <a:r>
                  <a:rPr lang="fr-FR" sz="1600" dirty="0"/>
                  <a:t>= (1, 0), M</a:t>
                </a:r>
                <a:r>
                  <a:rPr lang="fr-FR" sz="1600" baseline="-25000" dirty="0"/>
                  <a:t>2 </a:t>
                </a:r>
                <a:r>
                  <a:rPr lang="fr-FR" sz="1600" dirty="0"/>
                  <a:t>= (0, 1) et M</a:t>
                </a:r>
                <a:r>
                  <a:rPr lang="fr-FR" sz="1600" baseline="-25000" dirty="0"/>
                  <a:t>3 </a:t>
                </a:r>
                <a:r>
                  <a:rPr lang="fr-FR" sz="1600" dirty="0"/>
                  <a:t>= (3, 1) appartiennent à C</a:t>
                </a:r>
                <a:r>
                  <a:rPr lang="fr-FR" sz="1600" baseline="-25000" dirty="0"/>
                  <a:t>1</a:t>
                </a:r>
                <a:endParaRPr lang="fr-FR" sz="1600" dirty="0"/>
              </a:p>
              <a:p>
                <a:pPr>
                  <a:buNone/>
                </a:pPr>
                <a:r>
                  <a:rPr lang="fr-FR" sz="1600" dirty="0"/>
                  <a:t>M</a:t>
                </a:r>
                <a:r>
                  <a:rPr lang="fr-FR" sz="1600" baseline="-25000" dirty="0"/>
                  <a:t>4</a:t>
                </a:r>
                <a:r>
                  <a:rPr lang="fr-FR" sz="1600" dirty="0"/>
                  <a:t> = (4, 2) et M</a:t>
                </a:r>
                <a:r>
                  <a:rPr lang="fr-FR" sz="1600" baseline="-25000" dirty="0"/>
                  <a:t>5 </a:t>
                </a:r>
                <a:r>
                  <a:rPr lang="fr-FR" sz="1600" dirty="0"/>
                  <a:t>= (4, 3) appartiennent à C</a:t>
                </a:r>
                <a:r>
                  <a:rPr lang="fr-FR" sz="1600" baseline="-25000" dirty="0"/>
                  <a:t>2</a:t>
                </a:r>
              </a:p>
              <a:p>
                <a:pPr marL="514350" indent="-514350">
                  <a:buNone/>
                </a:pPr>
                <a:r>
                  <a:rPr lang="fr-FR" sz="1600" dirty="0">
                    <a:solidFill>
                      <a:schemeClr val="accent6"/>
                    </a:solidFill>
                  </a:rPr>
                  <a:t>3) c-</a:t>
                </a:r>
                <a:r>
                  <a:rPr lang="fr-FR" sz="1600" dirty="0"/>
                  <a:t>Ecart(C</a:t>
                </a:r>
                <a:r>
                  <a:rPr lang="fr-FR" sz="1600" baseline="-25000" dirty="0"/>
                  <a:t>1</a:t>
                </a:r>
                <a:r>
                  <a:rPr lang="fr-FR" sz="1600" dirty="0"/>
                  <a:t>,C</a:t>
                </a:r>
                <a:r>
                  <a:rPr lang="fr-FR" sz="1600" baseline="-25000" dirty="0"/>
                  <a:t>2</a:t>
                </a:r>
                <a:r>
                  <a:rPr lang="fr-FR" sz="1600" dirty="0"/>
                  <a:t>) selon </a:t>
                </a:r>
                <a:r>
                  <a:rPr lang="fr-FR" sz="1600" dirty="0">
                    <a:solidFill>
                      <a:srgbClr val="FF0000"/>
                    </a:solidFill>
                  </a:rPr>
                  <a:t>la distance entre les centres de gravité </a:t>
                </a:r>
              </a:p>
              <a:p>
                <a:pPr marL="514350" indent="-514350">
                  <a:buNone/>
                </a:pPr>
                <a:r>
                  <a:rPr lang="fr-FR" sz="1600" dirty="0"/>
                  <a:t>d2(C1,C2)=</a:t>
                </a:r>
                <a14:m>
                  <m:oMath xmlns:m="http://schemas.openxmlformats.org/officeDocument/2006/math">
                    <m:rad>
                      <m:radPr>
                        <m:degHide m:val="on"/>
                        <m:ctrlPr>
                          <a:rPr lang="fr-FR" sz="1600" i="1" smtClean="0">
                            <a:latin typeface="Cambria Math" panose="02040503050406030204" pitchFamily="18" charset="0"/>
                          </a:rPr>
                        </m:ctrlPr>
                      </m:radPr>
                      <m:deg/>
                      <m:e>
                        <m:sSup>
                          <m:sSupPr>
                            <m:ctrlPr>
                              <a:rPr lang="fr-FR" sz="1600" i="1" smtClean="0">
                                <a:latin typeface="Cambria Math" panose="02040503050406030204" pitchFamily="18" charset="0"/>
                              </a:rPr>
                            </m:ctrlPr>
                          </m:sSupPr>
                          <m:e>
                            <m:r>
                              <a:rPr lang="fr-FR" sz="1600" b="0" i="1" smtClean="0">
                                <a:latin typeface="Cambria Math" panose="02040503050406030204" pitchFamily="18" charset="0"/>
                              </a:rPr>
                              <m:t>(4/3−4)</m:t>
                            </m:r>
                          </m:e>
                          <m:sup>
                            <m:r>
                              <a:rPr lang="fr-FR" sz="1600" b="0" i="1" smtClean="0">
                                <a:latin typeface="Cambria Math" panose="02040503050406030204" pitchFamily="18" charset="0"/>
                              </a:rPr>
                              <m:t>2</m:t>
                            </m:r>
                          </m:sup>
                        </m:sSup>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(2/3−5/2)</m:t>
                            </m:r>
                          </m:e>
                          <m:sup>
                            <m:r>
                              <a:rPr lang="fr-FR" sz="1600" b="0" i="1" smtClean="0">
                                <a:latin typeface="Cambria Math" panose="02040503050406030204" pitchFamily="18" charset="0"/>
                              </a:rPr>
                              <m:t>2</m:t>
                            </m:r>
                          </m:sup>
                        </m:sSup>
                      </m:e>
                    </m:rad>
                  </m:oMath>
                </a14:m>
                <a:r>
                  <a:rPr lang="fr-FR" sz="1600" dirty="0"/>
                  <a:t> =</a:t>
                </a:r>
                <a14:m>
                  <m:oMath xmlns:m="http://schemas.openxmlformats.org/officeDocument/2006/math">
                    <m:rad>
                      <m:radPr>
                        <m:degHide m:val="on"/>
                        <m:ctrlPr>
                          <a:rPr lang="fr-FR" sz="1600" b="0" i="1" dirty="0" smtClean="0">
                            <a:latin typeface="Cambria Math" panose="02040503050406030204" pitchFamily="18" charset="0"/>
                            <a:ea typeface="Cambria Math" panose="02040503050406030204" pitchFamily="18" charset="0"/>
                          </a:rPr>
                        </m:ctrlPr>
                      </m:radPr>
                      <m:deg/>
                      <m:e>
                        <m:r>
                          <a:rPr lang="fr-FR" sz="1600" b="0" i="1" dirty="0" smtClean="0">
                            <a:latin typeface="Cambria Math" panose="02040503050406030204" pitchFamily="18" charset="0"/>
                            <a:ea typeface="Cambria Math" panose="02040503050406030204" pitchFamily="18" charset="0"/>
                          </a:rPr>
                          <m:t>182</m:t>
                        </m:r>
                      </m:e>
                    </m:rad>
                    <m:r>
                      <a:rPr lang="fr-FR" sz="1600" b="0" i="1" dirty="0" smtClean="0">
                        <a:latin typeface="Cambria Math" panose="02040503050406030204" pitchFamily="18" charset="0"/>
                        <a:ea typeface="Cambria Math" panose="02040503050406030204" pitchFamily="18" charset="0"/>
                      </a:rPr>
                      <m:t>/3</m:t>
                    </m:r>
                  </m:oMath>
                </a14:m>
                <a:r>
                  <a:rPr lang="fr-FR" sz="1600" dirty="0"/>
                  <a:t> ; </a:t>
                </a:r>
              </a:p>
              <a:p>
                <a:pPr marL="514350" indent="-514350">
                  <a:buNone/>
                </a:pPr>
                <a:endParaRPr lang="fr-FR" sz="1600" dirty="0"/>
              </a:p>
              <a:p>
                <a:pPr marL="514350" indent="-514350">
                  <a:buNone/>
                </a:pPr>
                <a:r>
                  <a:rPr lang="fr-FR" sz="1600" dirty="0">
                    <a:solidFill>
                      <a:schemeClr val="accent6"/>
                    </a:solidFill>
                  </a:rPr>
                  <a:t> d-</a:t>
                </a:r>
                <a:r>
                  <a:rPr lang="fr-FR" sz="1600" dirty="0"/>
                  <a:t>Ecart(C</a:t>
                </a:r>
                <a:r>
                  <a:rPr lang="fr-FR" sz="1600" baseline="-25000" dirty="0"/>
                  <a:t>1</a:t>
                </a:r>
                <a:r>
                  <a:rPr lang="fr-FR" sz="1600" dirty="0"/>
                  <a:t>,C</a:t>
                </a:r>
                <a:r>
                  <a:rPr lang="fr-FR" sz="1600" baseline="-25000" dirty="0"/>
                  <a:t>2</a:t>
                </a:r>
                <a:r>
                  <a:rPr lang="fr-FR" sz="1600" dirty="0"/>
                  <a:t>) selon </a:t>
                </a:r>
                <a:r>
                  <a:rPr lang="fr-FR" sz="1600" dirty="0">
                    <a:solidFill>
                      <a:srgbClr val="FF0000"/>
                    </a:solidFill>
                  </a:rPr>
                  <a:t>l’</a:t>
                </a:r>
                <a:r>
                  <a:rPr lang="fr-FR" sz="1600" dirty="0" err="1">
                    <a:solidFill>
                      <a:srgbClr val="FF0000"/>
                    </a:solidFill>
                  </a:rPr>
                  <a:t>ecart</a:t>
                </a:r>
                <a:r>
                  <a:rPr lang="fr-FR" sz="1600" dirty="0">
                    <a:solidFill>
                      <a:srgbClr val="FF0000"/>
                    </a:solidFill>
                  </a:rPr>
                  <a:t> de Ward </a:t>
                </a:r>
              </a:p>
              <a:p>
                <a:pPr marL="514350" indent="-514350">
                  <a:buNone/>
                </a:pPr>
                <a:endParaRPr lang="fr-FR" sz="1600" dirty="0"/>
              </a:p>
              <a:p>
                <a:pPr marL="514350" indent="-514350">
                  <a:buNone/>
                </a:pPr>
                <a:endParaRPr lang="fr-FR" sz="1600" dirty="0">
                  <a:solidFill>
                    <a:srgbClr val="FF0000"/>
                  </a:solidFill>
                </a:endParaRPr>
              </a:p>
              <a:p>
                <a:pPr marL="514350" indent="-514350">
                  <a:buNone/>
                </a:pPr>
                <a:endParaRPr lang="fr-FR" sz="1600" dirty="0">
                  <a:solidFill>
                    <a:srgbClr val="FF0000"/>
                  </a:solidFill>
                </a:endParaRPr>
              </a:p>
              <a:p>
                <a:pPr marL="514350" indent="-514350">
                  <a:buNone/>
                </a:pPr>
                <a:endParaRPr lang="fr-FR" sz="1600"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51520" y="1268760"/>
                <a:ext cx="9144000" cy="5301207"/>
              </a:xfrm>
              <a:blipFill>
                <a:blip r:embed="rId2"/>
                <a:stretch>
                  <a:fillRect l="-333" t="-345"/>
                </a:stretch>
              </a:blipFill>
            </p:spPr>
            <p:txBody>
              <a:bodyPr/>
              <a:lstStyle/>
              <a:p>
                <a:r>
                  <a:rPr lang="fr-FR">
                    <a:noFill/>
                  </a:rPr>
                  <a:t> </a:t>
                </a:r>
              </a:p>
            </p:txBody>
          </p:sp>
        </mc:Fallback>
      </mc:AlternateContent>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60</a:t>
            </a:fld>
            <a:endParaRPr lang="fr-FR"/>
          </a:p>
        </p:txBody>
      </p:sp>
      <p:sp>
        <p:nvSpPr>
          <p:cNvPr id="15" name="Titre 9"/>
          <p:cNvSpPr txBox="1">
            <a:spLocks/>
          </p:cNvSpPr>
          <p:nvPr/>
        </p:nvSpPr>
        <p:spPr>
          <a:xfrm>
            <a:off x="454152" y="260648"/>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3300" dirty="0">
                <a:solidFill>
                  <a:schemeClr val="accent3">
                    <a:shade val="75000"/>
                  </a:schemeClr>
                </a:solidFill>
                <a:latin typeface="+mj-lt"/>
                <a:ea typeface="+mj-ea"/>
                <a:cs typeface="+mj-cs"/>
              </a:rPr>
              <a:t>2</a:t>
            </a:r>
            <a:r>
              <a:rPr kumimoji="0" lang="fr-FR" sz="3300" b="0" i="0" u="none" strike="noStrike" kern="1200" cap="none" spc="0" normalizeH="0" baseline="0" noProof="0" dirty="0">
                <a:ln>
                  <a:noFill/>
                </a:ln>
                <a:solidFill>
                  <a:schemeClr val="accent3">
                    <a:shade val="75000"/>
                  </a:schemeClr>
                </a:solidFill>
                <a:effectLst/>
                <a:uLnTx/>
                <a:uFillTx/>
                <a:latin typeface="+mj-lt"/>
                <a:ea typeface="+mj-ea"/>
                <a:cs typeface="+mj-cs"/>
              </a:rPr>
              <a:t>.4. Mise en œuvre</a:t>
            </a:r>
          </a:p>
        </p:txBody>
      </p:sp>
      <p:pic>
        <p:nvPicPr>
          <p:cNvPr id="2" name="Picture 5">
            <a:extLst>
              <a:ext uri="{FF2B5EF4-FFF2-40B4-BE49-F238E27FC236}">
                <a16:creationId xmlns:a16="http://schemas.microsoft.com/office/drawing/2014/main" id="{CCE130F8-9A66-4142-A8B1-BC2E589B82F5}"/>
              </a:ext>
            </a:extLst>
          </p:cNvPr>
          <p:cNvPicPr>
            <a:picLocks noChangeAspect="1" noChangeArrowheads="1"/>
          </p:cNvPicPr>
          <p:nvPr/>
        </p:nvPicPr>
        <p:blipFill>
          <a:blip r:embed="rId3" cstate="print"/>
          <a:srcRect/>
          <a:stretch>
            <a:fillRect/>
          </a:stretch>
        </p:blipFill>
        <p:spPr bwMode="auto">
          <a:xfrm>
            <a:off x="6005978" y="2088412"/>
            <a:ext cx="1446342" cy="384966"/>
          </a:xfrm>
          <a:prstGeom prst="rect">
            <a:avLst/>
          </a:prstGeom>
          <a:noFill/>
          <a:ln w="9525">
            <a:noFill/>
            <a:miter lim="800000"/>
            <a:headEnd/>
            <a:tailEnd/>
          </a:ln>
        </p:spPr>
      </p:pic>
      <p:pic>
        <p:nvPicPr>
          <p:cNvPr id="4" name="Picture 6">
            <a:extLst>
              <a:ext uri="{FF2B5EF4-FFF2-40B4-BE49-F238E27FC236}">
                <a16:creationId xmlns:a16="http://schemas.microsoft.com/office/drawing/2014/main" id="{0F5456C7-5159-46DF-B4CB-ABE8B4ED7E4A}"/>
              </a:ext>
            </a:extLst>
          </p:cNvPr>
          <p:cNvPicPr>
            <a:picLocks noChangeAspect="1" noChangeArrowheads="1"/>
          </p:cNvPicPr>
          <p:nvPr/>
        </p:nvPicPr>
        <p:blipFill>
          <a:blip r:embed="rId4" cstate="print"/>
          <a:srcRect/>
          <a:stretch>
            <a:fillRect/>
          </a:stretch>
        </p:blipFill>
        <p:spPr bwMode="auto">
          <a:xfrm>
            <a:off x="582475" y="3657969"/>
            <a:ext cx="8015627" cy="1139183"/>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AF640EAA-7295-4F4D-9D18-9FF541F6F42D}"/>
                  </a:ext>
                </a:extLst>
              </p:cNvPr>
              <p:cNvSpPr txBox="1"/>
              <p:nvPr/>
            </p:nvSpPr>
            <p:spPr>
              <a:xfrm>
                <a:off x="2699792" y="4959455"/>
                <a:ext cx="4104456" cy="845809"/>
              </a:xfrm>
              <a:prstGeom prst="rect">
                <a:avLst/>
              </a:prstGeom>
              <a:noFill/>
            </p:spPr>
            <p:txBody>
              <a:bodyPr wrap="square" lIns="0" tIns="0" rIns="0" bIns="0" rtlCol="0">
                <a:spAutoFit/>
              </a:bodyPr>
              <a:lstStyle/>
              <a:p>
                <a14:m>
                  <m:oMath xmlns:m="http://schemas.openxmlformats.org/officeDocument/2006/math">
                    <m:r>
                      <a:rPr lang="fr-FR" sz="2400" b="0" i="1" smtClean="0">
                        <a:latin typeface="Cambria Math" panose="02040503050406030204" pitchFamily="18" charset="0"/>
                      </a:rPr>
                      <m:t>𝑑</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𝐶</m:t>
                        </m:r>
                        <m:r>
                          <a:rPr lang="fr-FR" sz="2400" b="0" i="1" baseline="-25000" smtClean="0">
                            <a:latin typeface="Cambria Math" panose="02040503050406030204" pitchFamily="18" charset="0"/>
                          </a:rPr>
                          <m:t>1</m:t>
                        </m:r>
                        <m:r>
                          <a:rPr lang="fr-FR" sz="2400" b="0" i="1" smtClean="0">
                            <a:latin typeface="Cambria Math" panose="02040503050406030204" pitchFamily="18" charset="0"/>
                          </a:rPr>
                          <m:t>,</m:t>
                        </m:r>
                        <m:r>
                          <a:rPr lang="fr-FR" sz="2400" b="0" i="1" smtClean="0">
                            <a:latin typeface="Cambria Math" panose="02040503050406030204" pitchFamily="18" charset="0"/>
                          </a:rPr>
                          <m:t>𝐶</m:t>
                        </m:r>
                        <m:r>
                          <a:rPr lang="fr-FR" sz="2400" b="0" i="1" baseline="-25000" smtClean="0">
                            <a:latin typeface="Cambria Math" panose="02040503050406030204" pitchFamily="18" charset="0"/>
                          </a:rPr>
                          <m:t>2</m:t>
                        </m:r>
                      </m:e>
                    </m:d>
                    <m:r>
                      <a:rPr lang="fr-FR" sz="2400" b="0" i="1" smtClean="0">
                        <a:latin typeface="Cambria Math" panose="02040503050406030204" pitchFamily="18" charset="0"/>
                      </a:rPr>
                      <m:t>=</m:t>
                    </m:r>
                    <m:f>
                      <m:fPr>
                        <m:ctrlPr>
                          <a:rPr lang="fr-FR" sz="2400" b="0" i="1" smtClean="0">
                            <a:latin typeface="Cambria Math" panose="02040503050406030204" pitchFamily="18" charset="0"/>
                          </a:rPr>
                        </m:ctrlPr>
                      </m:fPr>
                      <m:num>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3</m:t>
                            </m:r>
                          </m:num>
                          <m:den>
                            <m:r>
                              <a:rPr lang="fr-FR" sz="2400" b="0" i="1" smtClean="0">
                                <a:latin typeface="Cambria Math" panose="02040503050406030204" pitchFamily="18" charset="0"/>
                              </a:rPr>
                              <m:t>5</m:t>
                            </m:r>
                          </m:den>
                        </m:f>
                        <m:r>
                          <a:rPr lang="fr-FR" sz="2400" b="0" i="1" smtClean="0">
                            <a:latin typeface="Cambria Math" panose="02040503050406030204" pitchFamily="18" charset="0"/>
                          </a:rPr>
                          <m:t>∗</m:t>
                        </m:r>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2</m:t>
                            </m:r>
                          </m:num>
                          <m:den>
                            <m:r>
                              <a:rPr lang="fr-FR" sz="2400" b="0" i="1" smtClean="0">
                                <a:latin typeface="Cambria Math" panose="02040503050406030204" pitchFamily="18" charset="0"/>
                              </a:rPr>
                              <m:t>5</m:t>
                            </m:r>
                          </m:den>
                        </m:f>
                      </m:num>
                      <m:den>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3</m:t>
                            </m:r>
                          </m:num>
                          <m:den>
                            <m:r>
                              <a:rPr lang="fr-FR" sz="2400" b="0" i="1" smtClean="0">
                                <a:latin typeface="Cambria Math" panose="02040503050406030204" pitchFamily="18" charset="0"/>
                              </a:rPr>
                              <m:t>5</m:t>
                            </m:r>
                          </m:den>
                        </m:f>
                        <m:r>
                          <a:rPr lang="fr-FR" sz="2400" b="0" i="1" smtClean="0">
                            <a:latin typeface="Cambria Math" panose="02040503050406030204" pitchFamily="18" charset="0"/>
                          </a:rPr>
                          <m:t>+</m:t>
                        </m:r>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2 </m:t>
                            </m:r>
                          </m:num>
                          <m:den>
                            <m:r>
                              <a:rPr lang="fr-FR" sz="2400" b="0" i="1" smtClean="0">
                                <a:latin typeface="Cambria Math" panose="02040503050406030204" pitchFamily="18" charset="0"/>
                              </a:rPr>
                              <m:t>5</m:t>
                            </m:r>
                          </m:den>
                        </m:f>
                      </m:den>
                    </m:f>
                  </m:oMath>
                </a14:m>
                <a:r>
                  <a:rPr lang="fr-FR" sz="2400" dirty="0">
                    <a:latin typeface="+mj-lt"/>
                  </a:rPr>
                  <a:t>=</a:t>
                </a:r>
                <a:r>
                  <a:rPr lang="fr-FR" dirty="0"/>
                  <a:t>364/15</a:t>
                </a:r>
              </a:p>
            </p:txBody>
          </p:sp>
        </mc:Choice>
        <mc:Fallback xmlns="">
          <p:sp>
            <p:nvSpPr>
              <p:cNvPr id="7" name="ZoneTexte 6">
                <a:extLst>
                  <a:ext uri="{FF2B5EF4-FFF2-40B4-BE49-F238E27FC236}">
                    <a16:creationId xmlns:a16="http://schemas.microsoft.com/office/drawing/2014/main" id="{AF640EAA-7295-4F4D-9D18-9FF541F6F42D}"/>
                  </a:ext>
                </a:extLst>
              </p:cNvPr>
              <p:cNvSpPr txBox="1">
                <a:spLocks noRot="1" noChangeAspect="1" noMove="1" noResize="1" noEditPoints="1" noAdjustHandles="1" noChangeArrowheads="1" noChangeShapeType="1" noTextEdit="1"/>
              </p:cNvSpPr>
              <p:nvPr/>
            </p:nvSpPr>
            <p:spPr>
              <a:xfrm>
                <a:off x="2699792" y="4959455"/>
                <a:ext cx="4104456" cy="845809"/>
              </a:xfrm>
              <a:prstGeom prst="rect">
                <a:avLst/>
              </a:prstGeom>
              <a:blipFill>
                <a:blip r:embed="rId5"/>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0635536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340768"/>
            <a:ext cx="8892480" cy="5472608"/>
          </a:xfrm>
        </p:spPr>
        <p:txBody>
          <a:bodyPr>
            <a:normAutofit/>
          </a:bodyPr>
          <a:lstStyle/>
          <a:p>
            <a:pPr>
              <a:buNone/>
            </a:pPr>
            <a:r>
              <a:rPr lang="fr-FR" sz="2200" dirty="0"/>
              <a:t>4) Inertie totale du nuage: </a:t>
            </a:r>
          </a:p>
          <a:p>
            <a:pPr>
              <a:buNone/>
            </a:pPr>
            <a:endParaRPr lang="fr-FR" dirty="0"/>
          </a:p>
          <a:p>
            <a:pPr>
              <a:buNone/>
            </a:pPr>
            <a:endParaRPr lang="fr-FR" dirty="0"/>
          </a:p>
          <a:p>
            <a:pPr>
              <a:buNone/>
            </a:pPr>
            <a:endParaRPr lang="fr-FR" dirty="0"/>
          </a:p>
          <a:p>
            <a:pPr>
              <a:buNone/>
            </a:pPr>
            <a:r>
              <a:rPr lang="fr-FR" sz="2200" dirty="0"/>
              <a:t>5) Inertie intra et interclasse </a:t>
            </a:r>
            <a:r>
              <a:rPr lang="fr-FR" dirty="0"/>
              <a:t>: </a:t>
            </a:r>
          </a:p>
          <a:p>
            <a:pPr>
              <a:buNone/>
            </a:pPr>
            <a:endParaRPr lang="fr-FR" dirty="0"/>
          </a:p>
          <a:p>
            <a:pPr>
              <a:buNone/>
            </a:pPr>
            <a:endParaRPr lang="fr-FR" dirty="0"/>
          </a:p>
          <a:p>
            <a:pPr>
              <a:buNone/>
            </a:pPr>
            <a:endParaRPr lang="fr-FR" dirty="0"/>
          </a:p>
          <a:p>
            <a:pPr>
              <a:buNone/>
            </a:pPr>
            <a:r>
              <a:rPr lang="fr-FR" sz="2200" dirty="0"/>
              <a:t>6) Vérifions que I=</a:t>
            </a:r>
            <a:r>
              <a:rPr lang="fr-FR" sz="2200" dirty="0" err="1"/>
              <a:t>I</a:t>
            </a:r>
            <a:r>
              <a:rPr lang="fr-FR" sz="2200" baseline="-25000" dirty="0" err="1"/>
              <a:t>intra</a:t>
            </a:r>
            <a:r>
              <a:rPr lang="fr-FR" sz="2200" dirty="0"/>
              <a:t> + </a:t>
            </a:r>
            <a:r>
              <a:rPr lang="fr-FR" sz="2200" dirty="0" err="1"/>
              <a:t>I</a:t>
            </a:r>
            <a:r>
              <a:rPr lang="fr-FR" sz="2200" baseline="-25000" dirty="0" err="1"/>
              <a:t>inter</a:t>
            </a:r>
            <a:endParaRPr lang="fr-FR" sz="2200" dirty="0"/>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61</a:t>
            </a:fld>
            <a:endParaRPr lang="fr-FR"/>
          </a:p>
        </p:txBody>
      </p:sp>
      <p:graphicFrame>
        <p:nvGraphicFramePr>
          <p:cNvPr id="68610" name="Object 2"/>
          <p:cNvGraphicFramePr>
            <a:graphicFrameLocks noChangeAspect="1"/>
          </p:cNvGraphicFramePr>
          <p:nvPr>
            <p:extLst>
              <p:ext uri="{D42A27DB-BD31-4B8C-83A1-F6EECF244321}">
                <p14:modId xmlns:p14="http://schemas.microsoft.com/office/powerpoint/2010/main" val="3648826508"/>
              </p:ext>
            </p:extLst>
          </p:nvPr>
        </p:nvGraphicFramePr>
        <p:xfrm>
          <a:off x="268060" y="2413416"/>
          <a:ext cx="8516843" cy="1147297"/>
        </p:xfrm>
        <a:graphic>
          <a:graphicData uri="http://schemas.openxmlformats.org/presentationml/2006/ole">
            <mc:AlternateContent xmlns:mc="http://schemas.openxmlformats.org/markup-compatibility/2006">
              <mc:Choice xmlns:v="urn:schemas-microsoft-com:vml" Requires="v">
                <p:oleObj spid="_x0000_s223504" name="Équation" r:id="rId3" imgW="107594400" imgH="15240000" progId="Equation.3">
                  <p:embed/>
                </p:oleObj>
              </mc:Choice>
              <mc:Fallback>
                <p:oleObj name="Équation" r:id="rId3" imgW="107594400" imgH="15240000" progId="Equation.3">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060" y="2413416"/>
                        <a:ext cx="8516843" cy="1147297"/>
                      </a:xfrm>
                      <a:prstGeom prst="rect">
                        <a:avLst/>
                      </a:prstGeom>
                      <a:noFill/>
                    </p:spPr>
                  </p:pic>
                </p:oleObj>
              </mc:Fallback>
            </mc:AlternateContent>
          </a:graphicData>
        </a:graphic>
      </p:graphicFrame>
      <p:graphicFrame>
        <p:nvGraphicFramePr>
          <p:cNvPr id="68611" name="Object 3"/>
          <p:cNvGraphicFramePr>
            <a:graphicFrameLocks noChangeAspect="1"/>
          </p:cNvGraphicFramePr>
          <p:nvPr/>
        </p:nvGraphicFramePr>
        <p:xfrm>
          <a:off x="1979712" y="1700808"/>
          <a:ext cx="5219700" cy="774700"/>
        </p:xfrm>
        <a:graphic>
          <a:graphicData uri="http://schemas.openxmlformats.org/presentationml/2006/ole">
            <mc:AlternateContent xmlns:mc="http://schemas.openxmlformats.org/markup-compatibility/2006">
              <mc:Choice xmlns:v="urn:schemas-microsoft-com:vml" Requires="v">
                <p:oleObj spid="_x0000_s223505" name="Équation" r:id="rId5" imgW="69799200" imgH="10363200" progId="Equation.3">
                  <p:embed/>
                </p:oleObj>
              </mc:Choice>
              <mc:Fallback>
                <p:oleObj name="Équation" r:id="rId5" imgW="69799200" imgH="10363200" progId="Equation.3">
                  <p:embed/>
                  <p:pic>
                    <p:nvPicPr>
                      <p:cNvPr id="0"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1700808"/>
                        <a:ext cx="52197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2" name="Object 4"/>
          <p:cNvGraphicFramePr>
            <a:graphicFrameLocks noChangeAspect="1"/>
          </p:cNvGraphicFramePr>
          <p:nvPr/>
        </p:nvGraphicFramePr>
        <p:xfrm>
          <a:off x="611560" y="3873103"/>
          <a:ext cx="7131050" cy="708025"/>
        </p:xfrm>
        <a:graphic>
          <a:graphicData uri="http://schemas.openxmlformats.org/presentationml/2006/ole">
            <mc:AlternateContent xmlns:mc="http://schemas.openxmlformats.org/markup-compatibility/2006">
              <mc:Choice xmlns:v="urn:schemas-microsoft-com:vml" Requires="v">
                <p:oleObj spid="_x0000_s223506" name="Équation" r:id="rId7" imgW="76809600" imgH="9448800" progId="Equation.3">
                  <p:embed/>
                </p:oleObj>
              </mc:Choice>
              <mc:Fallback>
                <p:oleObj name="Équation" r:id="rId7" imgW="76809600" imgH="9448800" progId="Equation.3">
                  <p:embed/>
                  <p:pic>
                    <p:nvPicPr>
                      <p:cNvPr id="0" name="Picture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560" y="3873103"/>
                        <a:ext cx="7131050"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3" name="Object 5"/>
          <p:cNvGraphicFramePr>
            <a:graphicFrameLocks noChangeAspect="1"/>
          </p:cNvGraphicFramePr>
          <p:nvPr/>
        </p:nvGraphicFramePr>
        <p:xfrm>
          <a:off x="683568" y="4522762"/>
          <a:ext cx="4594225" cy="706438"/>
        </p:xfrm>
        <a:graphic>
          <a:graphicData uri="http://schemas.openxmlformats.org/presentationml/2006/ole">
            <mc:AlternateContent xmlns:mc="http://schemas.openxmlformats.org/markup-compatibility/2006">
              <mc:Choice xmlns:v="urn:schemas-microsoft-com:vml" Requires="v">
                <p:oleObj spid="_x0000_s223507" name="Équation" r:id="rId9" imgW="57912000" imgH="9448800" progId="Equation.3">
                  <p:embed/>
                </p:oleObj>
              </mc:Choice>
              <mc:Fallback>
                <p:oleObj name="Équation" r:id="rId9" imgW="57912000" imgH="9448800" progId="Equation.3">
                  <p:embed/>
                  <p:pic>
                    <p:nvPicPr>
                      <p:cNvPr id="0" name="Picture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3568" y="4522762"/>
                        <a:ext cx="4594225" cy="706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4" name="Object 6"/>
          <p:cNvGraphicFramePr>
            <a:graphicFrameLocks noChangeAspect="1"/>
          </p:cNvGraphicFramePr>
          <p:nvPr/>
        </p:nvGraphicFramePr>
        <p:xfrm>
          <a:off x="4211960" y="3212976"/>
          <a:ext cx="2711450" cy="706437"/>
        </p:xfrm>
        <a:graphic>
          <a:graphicData uri="http://schemas.openxmlformats.org/presentationml/2006/ole">
            <mc:AlternateContent xmlns:mc="http://schemas.openxmlformats.org/markup-compatibility/2006">
              <mc:Choice xmlns:v="urn:schemas-microsoft-com:vml" Requires="v">
                <p:oleObj spid="_x0000_s223508" name="Équation" r:id="rId11" imgW="36271200" imgH="9448800" progId="Equation.3">
                  <p:embed/>
                </p:oleObj>
              </mc:Choice>
              <mc:Fallback>
                <p:oleObj name="Équation" r:id="rId11" imgW="36271200" imgH="9448800" progId="Equation.3">
                  <p:embed/>
                  <p:pic>
                    <p:nvPicPr>
                      <p:cNvPr id="0" name="Picture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11960" y="3212976"/>
                        <a:ext cx="2711450" cy="706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5" name="Object 7"/>
          <p:cNvGraphicFramePr>
            <a:graphicFrameLocks noChangeAspect="1"/>
          </p:cNvGraphicFramePr>
          <p:nvPr/>
        </p:nvGraphicFramePr>
        <p:xfrm>
          <a:off x="2627784" y="5674891"/>
          <a:ext cx="3781425" cy="706437"/>
        </p:xfrm>
        <a:graphic>
          <a:graphicData uri="http://schemas.openxmlformats.org/presentationml/2006/ole">
            <mc:AlternateContent xmlns:mc="http://schemas.openxmlformats.org/markup-compatibility/2006">
              <mc:Choice xmlns:v="urn:schemas-microsoft-com:vml" Requires="v">
                <p:oleObj spid="_x0000_s223509" name="Équation" r:id="rId13" imgW="50596800" imgH="9448800" progId="Equation.3">
                  <p:embed/>
                </p:oleObj>
              </mc:Choice>
              <mc:Fallback>
                <p:oleObj name="Équation" r:id="rId13" imgW="50596800" imgH="9448800" progId="Equation.3">
                  <p:embed/>
                  <p:pic>
                    <p:nvPicPr>
                      <p:cNvPr id="0" name="Picture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7784" y="5674891"/>
                        <a:ext cx="3781425" cy="706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itre 9"/>
          <p:cNvSpPr>
            <a:spLocks noGrp="1"/>
          </p:cNvSpPr>
          <p:nvPr>
            <p:ph type="title"/>
          </p:nvPr>
        </p:nvSpPr>
        <p:spPr>
          <a:xfrm>
            <a:off x="301752" y="228600"/>
            <a:ext cx="8534400" cy="758952"/>
          </a:xfrm>
        </p:spPr>
        <p:txBody>
          <a:bodyPr/>
          <a:lstStyle/>
          <a:p>
            <a:r>
              <a:rPr lang="fr-FR" dirty="0"/>
              <a:t>2.4. Mise en œuvre</a:t>
            </a:r>
          </a:p>
        </p:txBody>
      </p:sp>
    </p:spTree>
    <p:extLst>
      <p:ext uri="{BB962C8B-B14F-4D97-AF65-F5344CB8AC3E}">
        <p14:creationId xmlns:p14="http://schemas.microsoft.com/office/powerpoint/2010/main" val="12439137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6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6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259198" y="1537061"/>
            <a:ext cx="5119382" cy="5187902"/>
          </a:xfrm>
          <a:prstGeom prst="rect">
            <a:avLst/>
          </a:prstGeom>
          <a:noFill/>
          <a:ln w="9525">
            <a:noFill/>
            <a:miter lim="800000"/>
            <a:headEnd/>
            <a:tailEnd/>
          </a:ln>
        </p:spPr>
      </p:pic>
      <p:sp>
        <p:nvSpPr>
          <p:cNvPr id="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7"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9"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
        <p:nvSpPr>
          <p:cNvPr id="14" name="Espace réservé du numéro de diapositive 13"/>
          <p:cNvSpPr>
            <a:spLocks noGrp="1"/>
          </p:cNvSpPr>
          <p:nvPr>
            <p:ph type="sldNum" sz="quarter" idx="12"/>
          </p:nvPr>
        </p:nvSpPr>
        <p:spPr/>
        <p:txBody>
          <a:bodyPr/>
          <a:lstStyle/>
          <a:p>
            <a:fld id="{A3F31473-23EB-4724-8B59-FE6D21D89FA4}" type="slidenum">
              <a:rPr lang="fr-FR" smtClean="0"/>
              <a:pPr/>
              <a:t>62</a:t>
            </a:fld>
            <a:endParaRPr lang="fr-FR"/>
          </a:p>
        </p:txBody>
      </p:sp>
      <p:sp>
        <p:nvSpPr>
          <p:cNvPr id="15" name="Espace réservé du pied de page 14"/>
          <p:cNvSpPr>
            <a:spLocks noGrp="1"/>
          </p:cNvSpPr>
          <p:nvPr>
            <p:ph type="ftr" sz="quarter" idx="11"/>
          </p:nvPr>
        </p:nvSpPr>
        <p:spPr/>
        <p:txBody>
          <a:bodyPr/>
          <a:lstStyle/>
          <a:p>
            <a:r>
              <a:rPr lang="fr-FR"/>
              <a:t>Dr. H.Chikh Zaouali</a:t>
            </a:r>
          </a:p>
        </p:txBody>
      </p:sp>
    </p:spTree>
    <p:extLst>
      <p:ext uri="{BB962C8B-B14F-4D97-AF65-F5344CB8AC3E}">
        <p14:creationId xmlns:p14="http://schemas.microsoft.com/office/powerpoint/2010/main" val="4017336262"/>
      </p:ext>
    </p:extLst>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63</a:t>
            </a:fld>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1"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
        <p:nvSpPr>
          <p:cNvPr id="22" name="ZoneTexte 21"/>
          <p:cNvSpPr txBox="1"/>
          <p:nvPr/>
        </p:nvSpPr>
        <p:spPr>
          <a:xfrm>
            <a:off x="971600" y="1615970"/>
            <a:ext cx="4449936" cy="4598182"/>
          </a:xfrm>
          <a:prstGeom prst="rect">
            <a:avLst/>
          </a:prstGeom>
          <a:noFill/>
        </p:spPr>
        <p:txBody>
          <a:bodyPr wrap="none" rtlCol="0">
            <a:spAutoFit/>
          </a:bodyPr>
          <a:lstStyle/>
          <a:p>
            <a:pPr marL="274320" indent="-274320" algn="just">
              <a:spcBef>
                <a:spcPct val="20000"/>
              </a:spcBef>
              <a:buClr>
                <a:schemeClr val="accent1"/>
              </a:buClr>
              <a:buSzPct val="85000"/>
              <a:buFont typeface="Wingdings 2"/>
              <a:buChar char=""/>
            </a:pPr>
            <a:r>
              <a:rPr lang="fr-FR" sz="2400" dirty="0"/>
              <a:t>Classification non supervisée</a:t>
            </a:r>
          </a:p>
          <a:p>
            <a:pPr marL="731520" lvl="1" indent="-274320" algn="just">
              <a:spcBef>
                <a:spcPct val="20000"/>
              </a:spcBef>
              <a:buClr>
                <a:schemeClr val="accent1"/>
              </a:buClr>
              <a:buSzPct val="85000"/>
              <a:buFont typeface="Wingdings 2"/>
              <a:buChar char=""/>
            </a:pPr>
            <a:r>
              <a:rPr lang="fr-FR" sz="2000" dirty="0"/>
              <a:t>Hiérarchique</a:t>
            </a:r>
          </a:p>
          <a:p>
            <a:pPr marL="1188720" lvl="2" indent="-274320" algn="just">
              <a:spcBef>
                <a:spcPct val="20000"/>
              </a:spcBef>
              <a:buClr>
                <a:schemeClr val="accent1"/>
              </a:buClr>
              <a:buSzPct val="85000"/>
              <a:buFont typeface="Wingdings 2"/>
              <a:buChar char=""/>
            </a:pPr>
            <a:r>
              <a:rPr lang="fr-FR" sz="2000" dirty="0"/>
              <a:t>Classification ascendante</a:t>
            </a:r>
          </a:p>
          <a:p>
            <a:pPr marL="1188720" lvl="2" indent="-274320" algn="just">
              <a:spcBef>
                <a:spcPct val="20000"/>
              </a:spcBef>
              <a:buClr>
                <a:schemeClr val="accent1"/>
              </a:buClr>
              <a:buSzPct val="85000"/>
              <a:buFont typeface="Wingdings 2"/>
              <a:buChar char=""/>
            </a:pPr>
            <a:r>
              <a:rPr lang="fr-FR" sz="2000" dirty="0"/>
              <a:t>Classification descendante </a:t>
            </a:r>
          </a:p>
          <a:p>
            <a:pPr marL="731520" lvl="1" indent="-274320" algn="just">
              <a:spcBef>
                <a:spcPct val="20000"/>
              </a:spcBef>
              <a:buClr>
                <a:schemeClr val="accent1"/>
              </a:buClr>
              <a:buSzPct val="85000"/>
              <a:buFont typeface="Wingdings 2"/>
              <a:buChar char=""/>
            </a:pPr>
            <a:r>
              <a:rPr lang="fr-FR" sz="2000" dirty="0"/>
              <a:t>Non hiérarchique </a:t>
            </a:r>
          </a:p>
          <a:p>
            <a:pPr marL="1188720" lvl="2" indent="-274320" algn="just">
              <a:spcBef>
                <a:spcPct val="20000"/>
              </a:spcBef>
              <a:buClr>
                <a:schemeClr val="accent1"/>
              </a:buClr>
              <a:buSzPct val="85000"/>
              <a:buFont typeface="Wingdings 2"/>
              <a:buChar char=""/>
            </a:pPr>
            <a:r>
              <a:rPr lang="fr-FR" sz="2000" dirty="0"/>
              <a:t>K-moyenne</a:t>
            </a:r>
          </a:p>
          <a:p>
            <a:pPr marL="1188720" lvl="2" indent="-274320" algn="just">
              <a:spcBef>
                <a:spcPct val="20000"/>
              </a:spcBef>
              <a:buClr>
                <a:schemeClr val="accent1"/>
              </a:buClr>
              <a:buSzPct val="85000"/>
              <a:buFont typeface="Wingdings 2"/>
              <a:buChar char=""/>
            </a:pPr>
            <a:r>
              <a:rPr lang="fr-FR" sz="2000" dirty="0"/>
              <a:t>K-</a:t>
            </a:r>
            <a:r>
              <a:rPr lang="fr-FR" sz="2000" dirty="0" err="1"/>
              <a:t>médoïdes</a:t>
            </a:r>
            <a:endParaRPr lang="fr-FR" sz="2000" dirty="0"/>
          </a:p>
          <a:p>
            <a:pPr marL="274320" indent="-274320" algn="just">
              <a:spcBef>
                <a:spcPct val="20000"/>
              </a:spcBef>
              <a:buClr>
                <a:schemeClr val="accent1"/>
              </a:buClr>
              <a:buSzPct val="85000"/>
              <a:buFont typeface="Wingdings 2"/>
              <a:buChar char=""/>
            </a:pPr>
            <a:r>
              <a:rPr lang="fr-FR" sz="2400" dirty="0"/>
              <a:t>Classification supervisée</a:t>
            </a:r>
          </a:p>
          <a:p>
            <a:pPr marL="731520" lvl="1" indent="-274320" algn="just">
              <a:spcBef>
                <a:spcPct val="20000"/>
              </a:spcBef>
              <a:buClr>
                <a:schemeClr val="accent1"/>
              </a:buClr>
              <a:buSzPct val="85000"/>
              <a:buFont typeface="Wingdings 2"/>
              <a:buChar char=""/>
            </a:pPr>
            <a:r>
              <a:rPr lang="fr-FR" sz="2000" dirty="0"/>
              <a:t>K-plus proches voisins</a:t>
            </a:r>
          </a:p>
          <a:p>
            <a:pPr marL="731520" lvl="1" indent="-274320" algn="just">
              <a:spcBef>
                <a:spcPct val="20000"/>
              </a:spcBef>
              <a:buClr>
                <a:schemeClr val="accent1"/>
              </a:buClr>
              <a:buSzPct val="85000"/>
              <a:buFont typeface="Wingdings 2"/>
              <a:buChar char=""/>
            </a:pPr>
            <a:r>
              <a:rPr lang="fr-FR" sz="2000" dirty="0"/>
              <a:t>Classification </a:t>
            </a:r>
            <a:r>
              <a:rPr lang="fr-FR" sz="2000" dirty="0" err="1"/>
              <a:t>bayesienne</a:t>
            </a:r>
            <a:endParaRPr lang="fr-FR" sz="2000" dirty="0"/>
          </a:p>
          <a:p>
            <a:pPr marL="731520" lvl="1" indent="-274320" algn="just">
              <a:spcBef>
                <a:spcPct val="20000"/>
              </a:spcBef>
              <a:buClr>
                <a:schemeClr val="accent1"/>
              </a:buClr>
              <a:buSzPct val="85000"/>
              <a:buFont typeface="Wingdings 2"/>
              <a:buChar char=""/>
            </a:pPr>
            <a:r>
              <a:rPr lang="fr-FR" sz="2000" dirty="0"/>
              <a:t>Arbre de décision</a:t>
            </a:r>
          </a:p>
          <a:p>
            <a:pPr marL="731520" lvl="1" indent="-274320" algn="just">
              <a:spcBef>
                <a:spcPct val="20000"/>
              </a:spcBef>
              <a:buClr>
                <a:schemeClr val="accent1"/>
              </a:buClr>
              <a:buSzPct val="85000"/>
              <a:buFont typeface="Wingdings 2"/>
              <a:buChar char=""/>
            </a:pPr>
            <a:r>
              <a:rPr lang="fr-FR" sz="2000" dirty="0"/>
              <a:t>Réseaux de neurones</a:t>
            </a:r>
          </a:p>
        </p:txBody>
      </p:sp>
    </p:spTree>
    <p:extLst>
      <p:ext uri="{BB962C8B-B14F-4D97-AF65-F5344CB8AC3E}">
        <p14:creationId xmlns:p14="http://schemas.microsoft.com/office/powerpoint/2010/main" val="1586484989"/>
      </p:ext>
    </p:extLst>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64</a:t>
            </a:fld>
            <a:endParaRPr lang="fr-FR"/>
          </a:p>
        </p:txBody>
      </p:sp>
      <p:pic>
        <p:nvPicPr>
          <p:cNvPr id="67586" name="Picture 2"/>
          <p:cNvPicPr>
            <a:picLocks noChangeAspect="1" noChangeArrowheads="1"/>
          </p:cNvPicPr>
          <p:nvPr/>
        </p:nvPicPr>
        <p:blipFill>
          <a:blip r:embed="rId2" cstate="print"/>
          <a:srcRect/>
          <a:stretch>
            <a:fillRect/>
          </a:stretch>
        </p:blipFill>
        <p:spPr bwMode="auto">
          <a:xfrm>
            <a:off x="277456" y="2276872"/>
            <a:ext cx="8866544" cy="3265140"/>
          </a:xfrm>
          <a:prstGeom prst="rect">
            <a:avLst/>
          </a:prstGeom>
          <a:noFill/>
          <a:ln w="9525">
            <a:noFill/>
            <a:miter lim="800000"/>
            <a:headEnd/>
            <a:tailEnd/>
          </a:ln>
        </p:spPr>
      </p:pic>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1" name="ZoneTexte 20"/>
          <p:cNvSpPr txBox="1"/>
          <p:nvPr/>
        </p:nvSpPr>
        <p:spPr>
          <a:xfrm>
            <a:off x="2411760" y="5229200"/>
            <a:ext cx="1614609" cy="369332"/>
          </a:xfrm>
          <a:prstGeom prst="rect">
            <a:avLst/>
          </a:prstGeom>
          <a:noFill/>
        </p:spPr>
        <p:txBody>
          <a:bodyPr wrap="none" rtlCol="0">
            <a:spAutoFit/>
          </a:bodyPr>
          <a:lstStyle/>
          <a:p>
            <a:r>
              <a:rPr lang="fr-FR" b="1" dirty="0">
                <a:latin typeface="Times New Roman" pitchFamily="18" charset="0"/>
                <a:cs typeface="Times New Roman" pitchFamily="18" charset="0"/>
              </a:rPr>
              <a:t>ou Ascendante</a:t>
            </a:r>
          </a:p>
        </p:txBody>
      </p:sp>
      <p:sp>
        <p:nvSpPr>
          <p:cNvPr id="22" name="ZoneTexte 21"/>
          <p:cNvSpPr txBox="1"/>
          <p:nvPr/>
        </p:nvSpPr>
        <p:spPr>
          <a:xfrm>
            <a:off x="321759" y="5229200"/>
            <a:ext cx="1729961" cy="369332"/>
          </a:xfrm>
          <a:prstGeom prst="rect">
            <a:avLst/>
          </a:prstGeom>
          <a:noFill/>
        </p:spPr>
        <p:txBody>
          <a:bodyPr wrap="none" rtlCol="0">
            <a:spAutoFit/>
          </a:bodyPr>
          <a:lstStyle/>
          <a:p>
            <a:r>
              <a:rPr lang="fr-FR" b="1" dirty="0">
                <a:latin typeface="Times New Roman" pitchFamily="18" charset="0"/>
                <a:cs typeface="Times New Roman" pitchFamily="18" charset="0"/>
              </a:rPr>
              <a:t>ou Descendante</a:t>
            </a:r>
          </a:p>
        </p:txBody>
      </p:sp>
      <p:sp>
        <p:nvSpPr>
          <p:cNvPr id="23"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
        <p:nvSpPr>
          <p:cNvPr id="24" name="ZoneTexte 23"/>
          <p:cNvSpPr txBox="1"/>
          <p:nvPr/>
        </p:nvSpPr>
        <p:spPr>
          <a:xfrm>
            <a:off x="565457" y="1464556"/>
            <a:ext cx="3796232" cy="430887"/>
          </a:xfrm>
          <a:prstGeom prst="rect">
            <a:avLst/>
          </a:prstGeom>
          <a:noFill/>
        </p:spPr>
        <p:txBody>
          <a:bodyPr wrap="none" rtlCol="0">
            <a:spAutoFit/>
          </a:bodyPr>
          <a:lstStyle/>
          <a:p>
            <a:r>
              <a:rPr lang="fr-FR" sz="2200" dirty="0"/>
              <a:t>Classification non supervisée</a:t>
            </a:r>
          </a:p>
        </p:txBody>
      </p:sp>
    </p:spTree>
    <p:extLst>
      <p:ext uri="{BB962C8B-B14F-4D97-AF65-F5344CB8AC3E}">
        <p14:creationId xmlns:p14="http://schemas.microsoft.com/office/powerpoint/2010/main" val="546691267"/>
      </p:ext>
    </p:extLst>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65</a:t>
            </a:fld>
            <a:endParaRPr lang="fr-FR"/>
          </a:p>
        </p:txBody>
      </p:sp>
      <p:sp>
        <p:nvSpPr>
          <p:cNvPr id="9" name="Rectangle 8"/>
          <p:cNvSpPr/>
          <p:nvPr/>
        </p:nvSpPr>
        <p:spPr>
          <a:xfrm>
            <a:off x="720080" y="2204864"/>
            <a:ext cx="8100392" cy="4161139"/>
          </a:xfrm>
          <a:prstGeom prst="rect">
            <a:avLst/>
          </a:prstGeom>
        </p:spPr>
        <p:txBody>
          <a:bodyPr wrap="square">
            <a:spAutoFit/>
          </a:bodyPr>
          <a:lstStyle/>
          <a:p>
            <a:pPr marL="731520" lvl="1" indent="-274320" algn="just">
              <a:spcBef>
                <a:spcPct val="20000"/>
              </a:spcBef>
              <a:buClr>
                <a:schemeClr val="accent1"/>
              </a:buClr>
              <a:buSzPct val="85000"/>
              <a:buFont typeface="Courier New" pitchFamily="49" charset="0"/>
              <a:buChar char="o"/>
            </a:pPr>
            <a:r>
              <a:rPr lang="fr-FR" sz="2000" dirty="0"/>
              <a:t>Créer une décomposition hiérarchique des objets selon certains critères. On peut procéder par une méthode :</a:t>
            </a:r>
          </a:p>
          <a:p>
            <a:pPr marL="1188720" lvl="2" indent="-274320" algn="just">
              <a:spcBef>
                <a:spcPct val="20000"/>
              </a:spcBef>
              <a:buClr>
                <a:schemeClr val="accent1"/>
              </a:buClr>
              <a:buSzPct val="85000"/>
              <a:buFont typeface="Wingdings" pitchFamily="2" charset="2"/>
              <a:buChar char="§"/>
            </a:pPr>
            <a:r>
              <a:rPr lang="fr-FR" sz="2000" dirty="0">
                <a:solidFill>
                  <a:srgbClr val="C00000"/>
                </a:solidFill>
              </a:rPr>
              <a:t>Descendante</a:t>
            </a:r>
            <a:r>
              <a:rPr lang="fr-FR" sz="2000" dirty="0"/>
              <a:t> ou </a:t>
            </a:r>
            <a:r>
              <a:rPr lang="fr-FR" sz="2000" dirty="0" err="1">
                <a:solidFill>
                  <a:srgbClr val="C00000"/>
                </a:solidFill>
              </a:rPr>
              <a:t>divisive</a:t>
            </a:r>
            <a:r>
              <a:rPr lang="fr-FR" sz="2000" dirty="0"/>
              <a:t>, </a:t>
            </a:r>
          </a:p>
          <a:p>
            <a:pPr marL="1645920" lvl="3" indent="-274320" algn="just">
              <a:spcBef>
                <a:spcPct val="20000"/>
              </a:spcBef>
              <a:buClr>
                <a:schemeClr val="accent1"/>
              </a:buClr>
              <a:buSzPct val="85000"/>
              <a:buFont typeface="Wingdings" pitchFamily="2" charset="2"/>
              <a:buChar char="v"/>
            </a:pPr>
            <a:r>
              <a:rPr lang="fr-FR" dirty="0"/>
              <a:t>On part de l’ensemble de tous les éléments que l’on fractionne en un certain nombre de sous-ensembles. </a:t>
            </a:r>
          </a:p>
          <a:p>
            <a:pPr marL="1645920" lvl="3" indent="-274320" algn="just">
              <a:spcBef>
                <a:spcPct val="20000"/>
              </a:spcBef>
              <a:buClr>
                <a:schemeClr val="accent1"/>
              </a:buClr>
              <a:buSzPct val="85000"/>
              <a:buFont typeface="Wingdings" pitchFamily="2" charset="2"/>
              <a:buChar char="v"/>
            </a:pPr>
            <a:r>
              <a:rPr lang="fr-FR" dirty="0"/>
              <a:t>Ces derniers sont eux-mêmes fractionnés récursivement jusqu’à ce que l’on arrive aux éléments individuels.</a:t>
            </a:r>
          </a:p>
          <a:p>
            <a:pPr marL="1188720" lvl="2" indent="-274320" algn="just">
              <a:spcBef>
                <a:spcPct val="20000"/>
              </a:spcBef>
              <a:buClr>
                <a:schemeClr val="accent1"/>
              </a:buClr>
              <a:buSzPct val="85000"/>
              <a:buFont typeface="Wingdings" pitchFamily="2" charset="2"/>
              <a:buChar char="§"/>
            </a:pPr>
            <a:r>
              <a:rPr lang="fr-FR" dirty="0">
                <a:solidFill>
                  <a:srgbClr val="C00000"/>
                </a:solidFill>
              </a:rPr>
              <a:t>A</a:t>
            </a:r>
            <a:r>
              <a:rPr lang="fr-FR" sz="2000" dirty="0">
                <a:solidFill>
                  <a:srgbClr val="C00000"/>
                </a:solidFill>
              </a:rPr>
              <a:t>scendante </a:t>
            </a:r>
            <a:r>
              <a:rPr lang="fr-FR" sz="2000" dirty="0"/>
              <a:t>ou </a:t>
            </a:r>
            <a:r>
              <a:rPr lang="fr-FR" sz="2000" dirty="0" err="1">
                <a:solidFill>
                  <a:srgbClr val="C00000"/>
                </a:solidFill>
              </a:rPr>
              <a:t>agglomérative</a:t>
            </a:r>
            <a:r>
              <a:rPr lang="fr-FR" sz="2000" dirty="0"/>
              <a:t>, </a:t>
            </a:r>
          </a:p>
          <a:p>
            <a:pPr marL="1645920" lvl="3" indent="-274320" algn="just">
              <a:spcBef>
                <a:spcPct val="20000"/>
              </a:spcBef>
              <a:buClr>
                <a:schemeClr val="accent1"/>
              </a:buClr>
              <a:buSzPct val="85000"/>
              <a:buFont typeface="Wingdings" pitchFamily="2" charset="2"/>
              <a:buChar char="v"/>
            </a:pPr>
            <a:r>
              <a:rPr lang="fr-FR" dirty="0"/>
              <a:t>On part des éléments individuels que l’on regroupe en sous-ensembles </a:t>
            </a:r>
          </a:p>
          <a:p>
            <a:pPr marL="1645920" lvl="3" indent="-274320" algn="just">
              <a:spcBef>
                <a:spcPct val="20000"/>
              </a:spcBef>
              <a:buClr>
                <a:schemeClr val="accent1"/>
              </a:buClr>
              <a:buSzPct val="85000"/>
              <a:buFont typeface="Wingdings" pitchFamily="2" charset="2"/>
              <a:buChar char="v"/>
            </a:pPr>
            <a:r>
              <a:rPr lang="fr-FR" dirty="0"/>
              <a:t>avant d’appliquer récursivement les regroupements sur les sous-ensembles jusqu’à obtenir un seul ensemble contenant tous les éléments.</a:t>
            </a:r>
          </a:p>
        </p:txBody>
      </p:sp>
      <p:sp>
        <p:nvSpPr>
          <p:cNvPr id="1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2"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
        <p:nvSpPr>
          <p:cNvPr id="20" name="ZoneTexte 19"/>
          <p:cNvSpPr txBox="1"/>
          <p:nvPr/>
        </p:nvSpPr>
        <p:spPr>
          <a:xfrm>
            <a:off x="467544" y="1522543"/>
            <a:ext cx="6157455" cy="461665"/>
          </a:xfrm>
          <a:prstGeom prst="rect">
            <a:avLst/>
          </a:prstGeom>
          <a:noFill/>
        </p:spPr>
        <p:txBody>
          <a:bodyPr wrap="none" rtlCol="0">
            <a:spAutoFit/>
          </a:bodyPr>
          <a:lstStyle/>
          <a:p>
            <a:r>
              <a:rPr lang="fr-FR" sz="2400" dirty="0"/>
              <a:t>Classification non supervisée (hiérarchique)</a:t>
            </a:r>
          </a:p>
        </p:txBody>
      </p:sp>
    </p:spTree>
    <p:extLst>
      <p:ext uri="{BB962C8B-B14F-4D97-AF65-F5344CB8AC3E}">
        <p14:creationId xmlns:p14="http://schemas.microsoft.com/office/powerpoint/2010/main" val="4073793466"/>
      </p:ext>
    </p:extLst>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4282" y="1428736"/>
            <a:ext cx="8388424" cy="2300836"/>
          </a:xfrm>
        </p:spPr>
        <p:txBody>
          <a:bodyPr>
            <a:normAutofit/>
          </a:bodyPr>
          <a:lstStyle/>
          <a:p>
            <a:pPr>
              <a:buNone/>
            </a:pPr>
            <a:r>
              <a:rPr lang="fr-FR" sz="2000" dirty="0"/>
              <a:t>Classification non supervisée (hiérarchique)</a:t>
            </a:r>
          </a:p>
          <a:p>
            <a:pPr lvl="1" algn="just"/>
            <a:r>
              <a:rPr lang="fr-FR" sz="1800" dirty="0"/>
              <a:t>Pour un niveau de précision donné, deux individus peuvent être confondus dans un même groupe, alors qu'à un autre niveau de précision, ils seront distingués et appartiendront à deux sous-groupes différents.</a:t>
            </a:r>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66</a:t>
            </a:fld>
            <a:endParaRPr lang="fr-FR"/>
          </a:p>
        </p:txBody>
      </p:sp>
      <p:sp>
        <p:nvSpPr>
          <p:cNvPr id="1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grpSp>
        <p:nvGrpSpPr>
          <p:cNvPr id="21" name="Groupe 20"/>
          <p:cNvGrpSpPr/>
          <p:nvPr/>
        </p:nvGrpSpPr>
        <p:grpSpPr>
          <a:xfrm>
            <a:off x="539552" y="3068960"/>
            <a:ext cx="7848872" cy="2952009"/>
            <a:chOff x="539552" y="3330546"/>
            <a:chExt cx="7848872" cy="2952009"/>
          </a:xfrm>
        </p:grpSpPr>
        <p:pic>
          <p:nvPicPr>
            <p:cNvPr id="3075" name="Picture 3"/>
            <p:cNvPicPr>
              <a:picLocks noChangeAspect="1" noChangeArrowheads="1"/>
            </p:cNvPicPr>
            <p:nvPr/>
          </p:nvPicPr>
          <p:blipFill>
            <a:blip r:embed="rId2" cstate="print"/>
            <a:srcRect/>
            <a:stretch>
              <a:fillRect/>
            </a:stretch>
          </p:blipFill>
          <p:spPr bwMode="auto">
            <a:xfrm>
              <a:off x="539552" y="3330546"/>
              <a:ext cx="7848872" cy="2952009"/>
            </a:xfrm>
            <a:prstGeom prst="rect">
              <a:avLst/>
            </a:prstGeom>
            <a:noFill/>
            <a:ln w="9525">
              <a:noFill/>
              <a:miter lim="800000"/>
              <a:headEnd/>
              <a:tailEnd/>
            </a:ln>
          </p:spPr>
        </p:pic>
        <p:cxnSp>
          <p:nvCxnSpPr>
            <p:cNvPr id="11" name="Connecteur droit 10"/>
            <p:cNvCxnSpPr/>
            <p:nvPr/>
          </p:nvCxnSpPr>
          <p:spPr>
            <a:xfrm>
              <a:off x="683568" y="5661248"/>
              <a:ext cx="388843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a:off x="683568" y="5157192"/>
              <a:ext cx="388843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Tree>
    <p:extLst>
      <p:ext uri="{BB962C8B-B14F-4D97-AF65-F5344CB8AC3E}">
        <p14:creationId xmlns:p14="http://schemas.microsoft.com/office/powerpoint/2010/main" val="705444660"/>
      </p:ext>
    </p:extLst>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2" cstate="print"/>
          <a:srcRect/>
          <a:stretch>
            <a:fillRect/>
          </a:stretch>
        </p:blipFill>
        <p:spPr bwMode="auto">
          <a:xfrm>
            <a:off x="2160240" y="2151673"/>
            <a:ext cx="6948264" cy="4229655"/>
          </a:xfrm>
          <a:prstGeom prst="rect">
            <a:avLst/>
          </a:prstGeom>
          <a:noFill/>
          <a:ln w="9525">
            <a:noFill/>
            <a:miter lim="800000"/>
            <a:headEnd/>
            <a:tailEnd/>
          </a:ln>
        </p:spPr>
      </p:pic>
      <p:sp>
        <p:nvSpPr>
          <p:cNvPr id="5" name="Espace réservé du pied de page 4"/>
          <p:cNvSpPr>
            <a:spLocks noGrp="1"/>
          </p:cNvSpPr>
          <p:nvPr>
            <p:ph type="ftr" sz="quarter" idx="11"/>
          </p:nvPr>
        </p:nvSpPr>
        <p:spPr>
          <a:xfrm>
            <a:off x="3124200" y="5924302"/>
            <a:ext cx="2895600" cy="365125"/>
          </a:xfrm>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67</a:t>
            </a:fld>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1"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
        <p:nvSpPr>
          <p:cNvPr id="22" name="ZoneTexte 21"/>
          <p:cNvSpPr txBox="1"/>
          <p:nvPr/>
        </p:nvSpPr>
        <p:spPr>
          <a:xfrm>
            <a:off x="751801" y="1558533"/>
            <a:ext cx="7200800" cy="830997"/>
          </a:xfrm>
          <a:prstGeom prst="rect">
            <a:avLst/>
          </a:prstGeom>
          <a:noFill/>
        </p:spPr>
        <p:txBody>
          <a:bodyPr wrap="square" rtlCol="0">
            <a:spAutoFit/>
          </a:bodyPr>
          <a:lstStyle/>
          <a:p>
            <a:pPr>
              <a:buNone/>
            </a:pPr>
            <a:r>
              <a:rPr lang="fr-FR" sz="2400" dirty="0"/>
              <a:t>Classification non supervisée (hiérarchique)</a:t>
            </a:r>
          </a:p>
          <a:p>
            <a:endParaRPr lang="fr-FR" sz="2400" dirty="0">
              <a:solidFill>
                <a:schemeClr val="accent5">
                  <a:lumMod val="75000"/>
                </a:schemeClr>
              </a:solidFill>
            </a:endParaRPr>
          </a:p>
        </p:txBody>
      </p:sp>
      <p:sp>
        <p:nvSpPr>
          <p:cNvPr id="19" name="Rectangle 18"/>
          <p:cNvSpPr/>
          <p:nvPr/>
        </p:nvSpPr>
        <p:spPr>
          <a:xfrm>
            <a:off x="755576" y="2204864"/>
            <a:ext cx="1368152" cy="369332"/>
          </a:xfrm>
          <a:prstGeom prst="rect">
            <a:avLst/>
          </a:prstGeom>
        </p:spPr>
        <p:txBody>
          <a:bodyPr wrap="square">
            <a:spAutoFit/>
          </a:bodyPr>
          <a:lstStyle/>
          <a:p>
            <a:pPr algn="just"/>
            <a:r>
              <a:rPr lang="fr-FR" u="sng" dirty="0">
                <a:solidFill>
                  <a:schemeClr val="tx2">
                    <a:lumMod val="50000"/>
                  </a:schemeClr>
                </a:solidFill>
              </a:rPr>
              <a:t>Exemple:</a:t>
            </a:r>
          </a:p>
        </p:txBody>
      </p:sp>
    </p:spTree>
    <p:extLst>
      <p:ext uri="{BB962C8B-B14F-4D97-AF65-F5344CB8AC3E}">
        <p14:creationId xmlns:p14="http://schemas.microsoft.com/office/powerpoint/2010/main" val="660974879"/>
      </p:ext>
    </p:extLst>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83568" y="1844824"/>
            <a:ext cx="8208912" cy="4536504"/>
          </a:xfrm>
        </p:spPr>
        <p:txBody>
          <a:bodyPr>
            <a:normAutofit/>
          </a:bodyPr>
          <a:lstStyle/>
          <a:p>
            <a:pPr algn="just"/>
            <a:endParaRPr lang="fr-FR" sz="2000" dirty="0"/>
          </a:p>
          <a:p>
            <a:pPr lvl="1" algn="just"/>
            <a:r>
              <a:rPr lang="fr-FR" sz="1500" dirty="0"/>
              <a:t>En classification non hiérarchique, construire plusieurs partitions puis les évaluer selon certains critères.</a:t>
            </a:r>
          </a:p>
          <a:p>
            <a:pPr algn="just"/>
            <a:endParaRPr lang="fr-FR" sz="2000" dirty="0"/>
          </a:p>
          <a:p>
            <a:pPr lvl="1" algn="just"/>
            <a:r>
              <a:rPr lang="fr-FR" sz="1500" dirty="0"/>
              <a:t>On part d'une partition arbitraire en </a:t>
            </a:r>
            <a:r>
              <a:rPr lang="fr-FR" sz="1500" i="1" dirty="0"/>
              <a:t>K</a:t>
            </a:r>
            <a:r>
              <a:rPr lang="fr-FR" sz="1500" dirty="0"/>
              <a:t> classes (quelconques) que l’on améliore itérativement jusqu’à la convergence du critère choisi.</a:t>
            </a:r>
          </a:p>
          <a:p>
            <a:pPr algn="just"/>
            <a:endParaRPr lang="fr-FR" sz="2000" dirty="0"/>
          </a:p>
          <a:p>
            <a:pPr lvl="1" algn="just"/>
            <a:r>
              <a:rPr lang="fr-FR" sz="1500" dirty="0"/>
              <a:t>On peut considérer que chaque élément:</a:t>
            </a:r>
          </a:p>
          <a:p>
            <a:pPr lvl="2" algn="just"/>
            <a:r>
              <a:rPr lang="fr-FR" sz="1600" dirty="0">
                <a:solidFill>
                  <a:schemeClr val="tx1"/>
                </a:solidFill>
              </a:rPr>
              <a:t>ne fait partie que d’un sous ensemble, on parle alors de </a:t>
            </a:r>
            <a:r>
              <a:rPr lang="fr-FR" sz="1600" dirty="0">
                <a:solidFill>
                  <a:srgbClr val="C00000"/>
                </a:solidFill>
              </a:rPr>
              <a:t>partition</a:t>
            </a:r>
            <a:r>
              <a:rPr lang="fr-FR" sz="1600" dirty="0">
                <a:solidFill>
                  <a:schemeClr val="tx1"/>
                </a:solidFill>
              </a:rPr>
              <a:t>. </a:t>
            </a:r>
          </a:p>
          <a:p>
            <a:pPr lvl="2" algn="just"/>
            <a:r>
              <a:rPr lang="fr-FR" sz="1600" dirty="0">
                <a:solidFill>
                  <a:schemeClr val="tx1"/>
                </a:solidFill>
              </a:rPr>
              <a:t>en fait partie de plusieurs, en attribuant une probabilité d’appartenance à chaque groupe et on parle alors de classification </a:t>
            </a:r>
            <a:r>
              <a:rPr lang="fr-FR" sz="1600" dirty="0" err="1">
                <a:solidFill>
                  <a:srgbClr val="C00000"/>
                </a:solidFill>
              </a:rPr>
              <a:t>recouvrante</a:t>
            </a:r>
            <a:r>
              <a:rPr lang="fr-FR" sz="1600" dirty="0">
                <a:solidFill>
                  <a:schemeClr val="tx1"/>
                </a:solidFill>
              </a:rPr>
              <a:t>.</a:t>
            </a: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68</a:t>
            </a:fld>
            <a:endParaRPr lang="fr-FR"/>
          </a:p>
        </p:txBody>
      </p:sp>
      <p:sp>
        <p:nvSpPr>
          <p:cNvPr id="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0"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
        <p:nvSpPr>
          <p:cNvPr id="18" name="ZoneTexte 17"/>
          <p:cNvSpPr txBox="1"/>
          <p:nvPr/>
        </p:nvSpPr>
        <p:spPr>
          <a:xfrm>
            <a:off x="474803" y="1346005"/>
            <a:ext cx="7992888" cy="830997"/>
          </a:xfrm>
          <a:prstGeom prst="rect">
            <a:avLst/>
          </a:prstGeom>
          <a:noFill/>
        </p:spPr>
        <p:txBody>
          <a:bodyPr wrap="square" rtlCol="0">
            <a:spAutoFit/>
          </a:bodyPr>
          <a:lstStyle/>
          <a:p>
            <a:pPr>
              <a:buNone/>
            </a:pPr>
            <a:r>
              <a:rPr lang="fr-FR" sz="2400" dirty="0"/>
              <a:t>Classification non supervisée (Non hiérarchique)</a:t>
            </a:r>
          </a:p>
          <a:p>
            <a:endParaRPr lang="fr-FR" sz="2400" dirty="0">
              <a:solidFill>
                <a:schemeClr val="accent5">
                  <a:lumMod val="75000"/>
                </a:schemeClr>
              </a:solidFill>
            </a:endParaRPr>
          </a:p>
        </p:txBody>
      </p:sp>
    </p:spTree>
    <p:extLst>
      <p:ext uri="{BB962C8B-B14F-4D97-AF65-F5344CB8AC3E}">
        <p14:creationId xmlns:p14="http://schemas.microsoft.com/office/powerpoint/2010/main" val="2684042204"/>
      </p:ext>
    </p:extLst>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7158" y="1500174"/>
            <a:ext cx="8324408" cy="4572000"/>
          </a:xfrm>
        </p:spPr>
        <p:txBody>
          <a:bodyPr>
            <a:normAutofit/>
          </a:bodyPr>
          <a:lstStyle/>
          <a:p>
            <a:pPr>
              <a:buNone/>
            </a:pPr>
            <a:r>
              <a:rPr lang="fr-FR" sz="2200" dirty="0"/>
              <a:t>Classification supervisée</a:t>
            </a:r>
          </a:p>
          <a:p>
            <a:pPr>
              <a:buNone/>
            </a:pPr>
            <a:endParaRPr lang="fr-FR" sz="2200" dirty="0"/>
          </a:p>
          <a:p>
            <a:pPr lvl="1" algn="just"/>
            <a:r>
              <a:rPr lang="fr-FR" sz="1900" dirty="0">
                <a:latin typeface="Times New Roman" pitchFamily="18" charset="0"/>
                <a:cs typeface="Times New Roman" pitchFamily="18" charset="0"/>
              </a:rPr>
              <a:t>On dispose d’un ensemble </a:t>
            </a:r>
            <a:r>
              <a:rPr lang="fr-FR" sz="1900" dirty="0">
                <a:solidFill>
                  <a:srgbClr val="C00000"/>
                </a:solidFill>
                <a:latin typeface="Times New Roman" pitchFamily="18" charset="0"/>
                <a:cs typeface="Times New Roman" pitchFamily="18" charset="0"/>
              </a:rPr>
              <a:t>X</a:t>
            </a:r>
            <a:r>
              <a:rPr lang="fr-FR" sz="1900" dirty="0">
                <a:latin typeface="Times New Roman" pitchFamily="18" charset="0"/>
                <a:cs typeface="Times New Roman" pitchFamily="18" charset="0"/>
              </a:rPr>
              <a:t>, de </a:t>
            </a:r>
            <a:r>
              <a:rPr lang="fr-FR" sz="1900" dirty="0">
                <a:solidFill>
                  <a:srgbClr val="C00000"/>
                </a:solidFill>
                <a:latin typeface="Times New Roman" pitchFamily="18" charset="0"/>
                <a:cs typeface="Times New Roman" pitchFamily="18" charset="0"/>
              </a:rPr>
              <a:t>N</a:t>
            </a:r>
            <a:r>
              <a:rPr lang="fr-FR" sz="1900" dirty="0">
                <a:latin typeface="Times New Roman" pitchFamily="18" charset="0"/>
                <a:cs typeface="Times New Roman" pitchFamily="18" charset="0"/>
              </a:rPr>
              <a:t> exemples: des couples (donnée, classe).</a:t>
            </a:r>
          </a:p>
          <a:p>
            <a:pPr lvl="1" algn="just"/>
            <a:r>
              <a:rPr lang="fr-FR" sz="1900" dirty="0">
                <a:latin typeface="Times New Roman" pitchFamily="18" charset="0"/>
                <a:cs typeface="Times New Roman" pitchFamily="18" charset="0"/>
              </a:rPr>
              <a:t>Chaque donnée </a:t>
            </a:r>
            <a:r>
              <a:rPr lang="fr-FR" sz="1900" dirty="0">
                <a:solidFill>
                  <a:srgbClr val="C00000"/>
                </a:solidFill>
                <a:latin typeface="Times New Roman" pitchFamily="18" charset="0"/>
                <a:cs typeface="Times New Roman" pitchFamily="18" charset="0"/>
              </a:rPr>
              <a:t>x</a:t>
            </a:r>
            <a:r>
              <a:rPr lang="fr-FR" sz="1900" baseline="-25000" dirty="0">
                <a:solidFill>
                  <a:srgbClr val="C00000"/>
                </a:solidFill>
                <a:latin typeface="Times New Roman" pitchFamily="18" charset="0"/>
                <a:cs typeface="Times New Roman" pitchFamily="18" charset="0"/>
              </a:rPr>
              <a:t>i</a:t>
            </a:r>
            <a:r>
              <a:rPr lang="fr-FR" sz="1900" dirty="0">
                <a:solidFill>
                  <a:srgbClr val="C00000"/>
                </a:solidFill>
                <a:latin typeface="Times New Roman" pitchFamily="18" charset="0"/>
                <a:cs typeface="Times New Roman" pitchFamily="18" charset="0"/>
              </a:rPr>
              <a:t> ∈ D </a:t>
            </a:r>
            <a:r>
              <a:rPr lang="fr-FR" sz="1900" dirty="0">
                <a:latin typeface="Times New Roman" pitchFamily="18" charset="0"/>
                <a:cs typeface="Times New Roman" pitchFamily="18" charset="0"/>
              </a:rPr>
              <a:t>est caractérisée par </a:t>
            </a:r>
            <a:r>
              <a:rPr lang="fr-FR" sz="1900" dirty="0">
                <a:solidFill>
                  <a:srgbClr val="C00000"/>
                </a:solidFill>
                <a:latin typeface="Times New Roman" pitchFamily="18" charset="0"/>
                <a:cs typeface="Times New Roman" pitchFamily="18" charset="0"/>
              </a:rPr>
              <a:t>P</a:t>
            </a:r>
            <a:r>
              <a:rPr lang="fr-FR" sz="1900" dirty="0">
                <a:latin typeface="Times New Roman" pitchFamily="18" charset="0"/>
                <a:cs typeface="Times New Roman" pitchFamily="18" charset="0"/>
              </a:rPr>
              <a:t> attributs et par sa classe </a:t>
            </a:r>
            <a:r>
              <a:rPr lang="fr-FR" sz="1900" dirty="0">
                <a:solidFill>
                  <a:srgbClr val="C00000"/>
                </a:solidFill>
                <a:latin typeface="Times New Roman" pitchFamily="18" charset="0"/>
                <a:cs typeface="Times New Roman" pitchFamily="18" charset="0"/>
              </a:rPr>
              <a:t>y</a:t>
            </a:r>
            <a:r>
              <a:rPr lang="fr-FR" sz="1900" baseline="-25000" dirty="0">
                <a:solidFill>
                  <a:srgbClr val="C00000"/>
                </a:solidFill>
                <a:latin typeface="Times New Roman" pitchFamily="18" charset="0"/>
                <a:cs typeface="Times New Roman" pitchFamily="18" charset="0"/>
              </a:rPr>
              <a:t>i</a:t>
            </a:r>
            <a:r>
              <a:rPr lang="fr-FR" sz="1900" dirty="0">
                <a:solidFill>
                  <a:srgbClr val="C00000"/>
                </a:solidFill>
                <a:latin typeface="Times New Roman" pitchFamily="18" charset="0"/>
                <a:cs typeface="Times New Roman" pitchFamily="18" charset="0"/>
              </a:rPr>
              <a:t> ∈ Y</a:t>
            </a:r>
            <a:r>
              <a:rPr lang="fr-FR" sz="1900" dirty="0">
                <a:latin typeface="Times New Roman" pitchFamily="18" charset="0"/>
                <a:cs typeface="Times New Roman" pitchFamily="18" charset="0"/>
              </a:rPr>
              <a:t>.</a:t>
            </a:r>
          </a:p>
          <a:p>
            <a:pPr lvl="1" algn="just"/>
            <a:r>
              <a:rPr lang="fr-FR" sz="1900" dirty="0">
                <a:latin typeface="Times New Roman" pitchFamily="18" charset="0"/>
                <a:cs typeface="Times New Roman" pitchFamily="18" charset="0"/>
              </a:rPr>
              <a:t>Dans un problème de classification supervisée, la classe prend sa valeur parmi un ensemble </a:t>
            </a:r>
            <a:r>
              <a:rPr lang="fr-FR" sz="1900" dirty="0">
                <a:solidFill>
                  <a:srgbClr val="C00000"/>
                </a:solidFill>
                <a:latin typeface="Times New Roman" pitchFamily="18" charset="0"/>
                <a:cs typeface="Times New Roman" pitchFamily="18" charset="0"/>
              </a:rPr>
              <a:t>Y</a:t>
            </a:r>
            <a:r>
              <a:rPr lang="fr-FR" sz="1900" dirty="0">
                <a:latin typeface="Times New Roman" pitchFamily="18" charset="0"/>
                <a:cs typeface="Times New Roman" pitchFamily="18" charset="0"/>
              </a:rPr>
              <a:t> fini. Le problème consiste alors, en s’appuyant sur l’ensemble d’exemples </a:t>
            </a:r>
            <a:r>
              <a:rPr lang="fr-FR" sz="1900" dirty="0">
                <a:solidFill>
                  <a:srgbClr val="C00000"/>
                </a:solidFill>
                <a:latin typeface="Times New Roman" pitchFamily="18" charset="0"/>
                <a:cs typeface="Times New Roman" pitchFamily="18" charset="0"/>
              </a:rPr>
              <a:t>X={(x</a:t>
            </a:r>
            <a:r>
              <a:rPr lang="fr-FR" sz="1900" baseline="-25000" dirty="0">
                <a:solidFill>
                  <a:srgbClr val="C00000"/>
                </a:solidFill>
                <a:latin typeface="Times New Roman" pitchFamily="18" charset="0"/>
                <a:cs typeface="Times New Roman" pitchFamily="18" charset="0"/>
              </a:rPr>
              <a:t>i</a:t>
            </a:r>
            <a:r>
              <a:rPr lang="fr-FR" sz="1900" dirty="0">
                <a:solidFill>
                  <a:srgbClr val="C00000"/>
                </a:solidFill>
                <a:latin typeface="Times New Roman" pitchFamily="18" charset="0"/>
                <a:cs typeface="Times New Roman" pitchFamily="18" charset="0"/>
              </a:rPr>
              <a:t>, y</a:t>
            </a:r>
            <a:r>
              <a:rPr lang="fr-FR" sz="1900" baseline="-25000" dirty="0">
                <a:solidFill>
                  <a:srgbClr val="C00000"/>
                </a:solidFill>
                <a:latin typeface="Times New Roman" pitchFamily="18" charset="0"/>
                <a:cs typeface="Times New Roman" pitchFamily="18" charset="0"/>
              </a:rPr>
              <a:t>i</a:t>
            </a:r>
            <a:r>
              <a:rPr lang="fr-FR" sz="1900" dirty="0">
                <a:solidFill>
                  <a:srgbClr val="C00000"/>
                </a:solidFill>
                <a:latin typeface="Times New Roman" pitchFamily="18" charset="0"/>
                <a:cs typeface="Times New Roman" pitchFamily="18" charset="0"/>
              </a:rPr>
              <a:t>) où i∈{1,...,N}}, </a:t>
            </a:r>
            <a:r>
              <a:rPr lang="fr-FR" sz="1900" dirty="0">
                <a:latin typeface="Times New Roman" pitchFamily="18" charset="0"/>
                <a:cs typeface="Times New Roman" pitchFamily="18" charset="0"/>
              </a:rPr>
              <a:t>à prédire la classe de toute nouvelle donnée </a:t>
            </a:r>
            <a:r>
              <a:rPr lang="fr-FR" sz="1900" dirty="0">
                <a:solidFill>
                  <a:srgbClr val="C00000"/>
                </a:solidFill>
                <a:latin typeface="Times New Roman" pitchFamily="18" charset="0"/>
                <a:cs typeface="Times New Roman" pitchFamily="18" charset="0"/>
              </a:rPr>
              <a:t>x∈ D</a:t>
            </a:r>
            <a:r>
              <a:rPr lang="fr-FR" sz="1900" dirty="0">
                <a:latin typeface="Times New Roman" pitchFamily="18" charset="0"/>
                <a:cs typeface="Times New Roman" pitchFamily="18" charset="0"/>
              </a:rPr>
              <a:t>.</a:t>
            </a:r>
          </a:p>
          <a:p>
            <a:pPr algn="just"/>
            <a:endParaRPr lang="fr-FR" sz="2400" dirty="0">
              <a:latin typeface="Times New Roman" pitchFamily="18" charset="0"/>
              <a:cs typeface="Times New Roman" pitchFamily="18" charset="0"/>
            </a:endParaRPr>
          </a:p>
          <a:p>
            <a:pPr algn="just"/>
            <a:endParaRPr lang="fr-FR" sz="2400" dirty="0">
              <a:latin typeface="Times New Roman" pitchFamily="18" charset="0"/>
              <a:cs typeface="Times New Roman" pitchFamily="18" charset="0"/>
            </a:endParaRP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69</a:t>
            </a:fld>
            <a:endParaRPr lang="fr-FR"/>
          </a:p>
        </p:txBody>
      </p:sp>
      <p:sp>
        <p:nvSpPr>
          <p:cNvPr id="7"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7"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Tree>
    <p:extLst>
      <p:ext uri="{BB962C8B-B14F-4D97-AF65-F5344CB8AC3E}">
        <p14:creationId xmlns:p14="http://schemas.microsoft.com/office/powerpoint/2010/main" val="872806497"/>
      </p:ext>
    </p:extLst>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buNone/>
            </a:pPr>
            <a:r>
              <a:rPr lang="fr-FR" sz="2400" dirty="0"/>
              <a:t>Classification supervisée</a:t>
            </a:r>
          </a:p>
          <a:p>
            <a:pPr lvl="1" algn="just"/>
            <a:r>
              <a:rPr lang="fr-FR" sz="1900" dirty="0"/>
              <a:t>On distingue deux grands types de </a:t>
            </a:r>
            <a:r>
              <a:rPr lang="fr-FR" sz="1900" dirty="0" err="1"/>
              <a:t>classifieurs</a:t>
            </a:r>
            <a:r>
              <a:rPr lang="fr-FR" sz="1900" dirty="0"/>
              <a:t>: </a:t>
            </a:r>
          </a:p>
          <a:p>
            <a:pPr lvl="2" algn="just"/>
            <a:r>
              <a:rPr lang="fr-FR" sz="1800" dirty="0">
                <a:solidFill>
                  <a:schemeClr val="tx1"/>
                </a:solidFill>
              </a:rPr>
              <a:t>ceux qui utilisent directement les exemples pour prédire la classe d’une donnée  (classification </a:t>
            </a:r>
            <a:r>
              <a:rPr lang="fr-FR" sz="1800" dirty="0" err="1">
                <a:solidFill>
                  <a:schemeClr val="tx1"/>
                </a:solidFill>
              </a:rPr>
              <a:t>bayésienne</a:t>
            </a:r>
            <a:r>
              <a:rPr lang="fr-FR" sz="1800" dirty="0">
                <a:solidFill>
                  <a:schemeClr val="tx1"/>
                </a:solidFill>
              </a:rPr>
              <a:t>, etc.);</a:t>
            </a:r>
          </a:p>
          <a:p>
            <a:pPr lvl="2" algn="just"/>
            <a:r>
              <a:rPr lang="fr-FR" sz="1800" dirty="0">
                <a:solidFill>
                  <a:schemeClr val="tx1"/>
                </a:solidFill>
              </a:rPr>
              <a:t>ceux pour lesquels on a d’abord construit un modèle et qui, ensuite, utilisent ce modèle pour effectuer leur prédiction (arbre de décision, réseau de neurones artificiels, etc.).</a:t>
            </a: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70</a:t>
            </a:fld>
            <a:endParaRPr lang="fr-FR"/>
          </a:p>
        </p:txBody>
      </p:sp>
      <p:sp>
        <p:nvSpPr>
          <p:cNvPr id="7"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8" name="Titre 9"/>
          <p:cNvSpPr>
            <a:spLocks noGrp="1"/>
          </p:cNvSpPr>
          <p:nvPr>
            <p:ph type="title"/>
          </p:nvPr>
        </p:nvSpPr>
        <p:spPr>
          <a:xfrm>
            <a:off x="301752" y="228600"/>
            <a:ext cx="8534400" cy="758952"/>
          </a:xfrm>
        </p:spPr>
        <p:txBody>
          <a:bodyPr>
            <a:normAutofit fontScale="90000"/>
          </a:bodyPr>
          <a:lstStyle/>
          <a:p>
            <a:r>
              <a:rPr lang="fr-FR" dirty="0"/>
              <a:t>2.5. Classification non supervisée </a:t>
            </a:r>
            <a:r>
              <a:rPr lang="fr-FR" i="1" dirty="0"/>
              <a:t>vs.</a:t>
            </a:r>
            <a:r>
              <a:rPr lang="fr-FR" dirty="0"/>
              <a:t> supervisée</a:t>
            </a:r>
          </a:p>
        </p:txBody>
      </p:sp>
    </p:spTree>
    <p:extLst>
      <p:ext uri="{BB962C8B-B14F-4D97-AF65-F5344CB8AC3E}">
        <p14:creationId xmlns:p14="http://schemas.microsoft.com/office/powerpoint/2010/main" val="4271254046"/>
      </p:ext>
    </p:extLst>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340768"/>
            <a:ext cx="8568952" cy="4525963"/>
          </a:xfrm>
        </p:spPr>
        <p:txBody>
          <a:bodyPr>
            <a:noAutofit/>
          </a:bodyPr>
          <a:lstStyle/>
          <a:p>
            <a:pPr algn="just"/>
            <a:r>
              <a:rPr lang="fr-FR" sz="2400" dirty="0"/>
              <a:t>L'interprétation des classes</a:t>
            </a:r>
          </a:p>
          <a:p>
            <a:pPr lvl="1" algn="just"/>
            <a:r>
              <a:rPr lang="fr-FR" sz="2000" dirty="0">
                <a:solidFill>
                  <a:schemeClr val="tx1"/>
                </a:solidFill>
              </a:rPr>
              <a:t>permet de comprendre la partition. </a:t>
            </a:r>
          </a:p>
          <a:p>
            <a:pPr lvl="1" algn="just"/>
            <a:r>
              <a:rPr lang="fr-FR" sz="2000" dirty="0">
                <a:solidFill>
                  <a:schemeClr val="tx1"/>
                </a:solidFill>
              </a:rPr>
              <a:t>s'effectue en analysant les individus qui composent chaque classe. </a:t>
            </a:r>
          </a:p>
          <a:p>
            <a:pPr algn="just"/>
            <a:r>
              <a:rPr lang="fr-FR" sz="2400" dirty="0"/>
              <a:t>Le statisticien peut </a:t>
            </a:r>
          </a:p>
          <a:p>
            <a:pPr lvl="1" algn="just"/>
            <a:r>
              <a:rPr lang="fr-FR" sz="2000" dirty="0">
                <a:solidFill>
                  <a:schemeClr val="tx1"/>
                </a:solidFill>
              </a:rPr>
              <a:t>compter les individus dans chaque classe, </a:t>
            </a:r>
          </a:p>
          <a:p>
            <a:pPr lvl="1" algn="just"/>
            <a:r>
              <a:rPr lang="fr-FR" sz="2000" dirty="0">
                <a:solidFill>
                  <a:schemeClr val="tx1"/>
                </a:solidFill>
              </a:rPr>
              <a:t>calculer le diamètre des classes  (la distance maximum entre individus de chaque classe). </a:t>
            </a:r>
          </a:p>
          <a:p>
            <a:pPr lvl="1" algn="just"/>
            <a:r>
              <a:rPr lang="fr-FR" sz="2000" dirty="0">
                <a:solidFill>
                  <a:schemeClr val="tx1"/>
                </a:solidFill>
              </a:rPr>
              <a:t>identifier les individus proches du centre de gravité, </a:t>
            </a:r>
          </a:p>
          <a:p>
            <a:pPr lvl="1" algn="just"/>
            <a:r>
              <a:rPr lang="fr-FR" sz="2000" dirty="0">
                <a:solidFill>
                  <a:schemeClr val="tx1"/>
                </a:solidFill>
              </a:rPr>
              <a:t>établir la séparation entre deux classes (distance minimum entre deux membres de ces classes) </a:t>
            </a:r>
          </a:p>
          <a:p>
            <a:pPr lvl="1" algn="just"/>
            <a:r>
              <a:rPr lang="fr-FR" sz="2000" dirty="0">
                <a:solidFill>
                  <a:schemeClr val="tx1"/>
                </a:solidFill>
              </a:rPr>
              <a:t>Analyser les variables, en calculant par exemple la fréquence de certaines valeurs de variables prises par les individus de chaque classe.</a:t>
            </a:r>
          </a:p>
          <a:p>
            <a:pPr lvl="1" algn="just"/>
            <a:endParaRPr lang="fr-FR" sz="2000" dirty="0">
              <a:solidFill>
                <a:schemeClr val="tx1"/>
              </a:solidFill>
            </a:endParaRPr>
          </a:p>
        </p:txBody>
      </p:sp>
      <p:sp>
        <p:nvSpPr>
          <p:cNvPr id="5" name="Espace réservé du pied de page 4"/>
          <p:cNvSpPr>
            <a:spLocks noGrp="1"/>
          </p:cNvSpPr>
          <p:nvPr>
            <p:ph type="ftr" sz="quarter" idx="11"/>
          </p:nvPr>
        </p:nvSpPr>
        <p:spPr/>
        <p:txBody>
          <a:bodyPr/>
          <a:lstStyle/>
          <a:p>
            <a:r>
              <a:rPr lang="fr-FR"/>
              <a:t>Dr. H.Chikh Zaouali</a:t>
            </a:r>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71</a:t>
            </a:fld>
            <a:endParaRPr lang="fr-FR" dirty="0"/>
          </a:p>
        </p:txBody>
      </p:sp>
      <p:sp>
        <p:nvSpPr>
          <p:cNvPr id="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Titre 9"/>
          <p:cNvSpPr>
            <a:spLocks noGrp="1"/>
          </p:cNvSpPr>
          <p:nvPr>
            <p:ph type="title"/>
          </p:nvPr>
        </p:nvSpPr>
        <p:spPr>
          <a:xfrm>
            <a:off x="301752" y="228600"/>
            <a:ext cx="8534400" cy="758952"/>
          </a:xfrm>
        </p:spPr>
        <p:txBody>
          <a:bodyPr>
            <a:normAutofit/>
          </a:bodyPr>
          <a:lstStyle/>
          <a:p>
            <a:r>
              <a:rPr lang="fr-FR" dirty="0"/>
              <a:t>2.6. Evaluation de la classification</a:t>
            </a:r>
          </a:p>
        </p:txBody>
      </p:sp>
    </p:spTree>
    <p:extLst>
      <p:ext uri="{BB962C8B-B14F-4D97-AF65-F5344CB8AC3E}">
        <p14:creationId xmlns:p14="http://schemas.microsoft.com/office/powerpoint/2010/main" val="4111695938"/>
      </p:ext>
    </p:extLst>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2.6</a:t>
            </a:r>
            <a:r>
              <a:rPr lang="fr-FR" dirty="0"/>
              <a:t>. Evaluation de la classification</a:t>
            </a: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72</a:t>
            </a:fld>
            <a:endParaRPr lang="fr-FR"/>
          </a:p>
        </p:txBody>
      </p:sp>
      <p:sp>
        <p:nvSpPr>
          <p:cNvPr id="5" name="Espace réservé du contenu 4"/>
          <p:cNvSpPr>
            <a:spLocks noGrp="1"/>
          </p:cNvSpPr>
          <p:nvPr>
            <p:ph sz="quarter" idx="1"/>
          </p:nvPr>
        </p:nvSpPr>
        <p:spPr/>
        <p:txBody>
          <a:bodyPr/>
          <a:lstStyle/>
          <a:p>
            <a:pPr algn="just"/>
            <a:r>
              <a:rPr lang="fr-FR" sz="2000" dirty="0"/>
              <a:t>On doit être capable de dire si tel modèle (</a:t>
            </a:r>
            <a:r>
              <a:rPr lang="fr-FR" sz="2000" dirty="0" err="1"/>
              <a:t>classifieur</a:t>
            </a:r>
            <a:r>
              <a:rPr lang="fr-FR" sz="2000" dirty="0"/>
              <a:t>) est meilleur que tel autre tout en le justifiant. </a:t>
            </a:r>
          </a:p>
          <a:p>
            <a:pPr algn="just"/>
            <a:r>
              <a:rPr lang="fr-FR" sz="2000" dirty="0"/>
              <a:t>Des critères globaux de mesure de qualité d’une classification peuvent être basés sur :</a:t>
            </a:r>
          </a:p>
          <a:p>
            <a:pPr lvl="1" algn="just"/>
            <a:r>
              <a:rPr lang="fr-FR" sz="1800" dirty="0"/>
              <a:t>les </a:t>
            </a:r>
            <a:r>
              <a:rPr lang="fr-FR" sz="1800" dirty="0">
                <a:solidFill>
                  <a:srgbClr val="FF0000"/>
                </a:solidFill>
              </a:rPr>
              <a:t>séparations des classes</a:t>
            </a:r>
            <a:r>
              <a:rPr lang="fr-FR" sz="1800" dirty="0"/>
              <a:t>, </a:t>
            </a:r>
          </a:p>
          <a:p>
            <a:pPr lvl="1" algn="just"/>
            <a:r>
              <a:rPr lang="fr-FR" sz="1800" dirty="0">
                <a:solidFill>
                  <a:srgbClr val="FF0000"/>
                </a:solidFill>
              </a:rPr>
              <a:t>l’homogénéité</a:t>
            </a:r>
            <a:r>
              <a:rPr lang="fr-FR" sz="1800" dirty="0"/>
              <a:t> </a:t>
            </a:r>
            <a:r>
              <a:rPr lang="fr-FR" sz="1800" dirty="0">
                <a:solidFill>
                  <a:srgbClr val="FF0000"/>
                </a:solidFill>
              </a:rPr>
              <a:t>des éléments </a:t>
            </a:r>
            <a:r>
              <a:rPr lang="fr-FR" sz="1800" dirty="0"/>
              <a:t>à l’intérieur d’une classe.</a:t>
            </a:r>
          </a:p>
          <a:p>
            <a:endParaRPr lang="fr-FR" dirty="0"/>
          </a:p>
        </p:txBody>
      </p:sp>
    </p:spTree>
    <p:extLst>
      <p:ext uri="{BB962C8B-B14F-4D97-AF65-F5344CB8AC3E}">
        <p14:creationId xmlns:p14="http://schemas.microsoft.com/office/powerpoint/2010/main" val="4151324948"/>
      </p:ext>
    </p:extLst>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2.6. Evaluation de la classification</a:t>
            </a: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73</a:t>
            </a:fld>
            <a:endParaRPr lang="fr-FR"/>
          </a:p>
        </p:txBody>
      </p:sp>
      <p:sp>
        <p:nvSpPr>
          <p:cNvPr id="5" name="Espace réservé du contenu 4"/>
          <p:cNvSpPr>
            <a:spLocks noGrp="1"/>
          </p:cNvSpPr>
          <p:nvPr>
            <p:ph sz="quarter" idx="1"/>
          </p:nvPr>
        </p:nvSpPr>
        <p:spPr>
          <a:xfrm>
            <a:off x="179512" y="1412776"/>
            <a:ext cx="8503920" cy="4572000"/>
          </a:xfrm>
        </p:spPr>
        <p:txBody>
          <a:bodyPr>
            <a:normAutofit/>
          </a:bodyPr>
          <a:lstStyle/>
          <a:p>
            <a:pPr algn="just"/>
            <a:r>
              <a:rPr lang="fr-FR" sz="2000" dirty="0"/>
              <a:t>Il existe différents </a:t>
            </a:r>
            <a:r>
              <a:rPr lang="fr-FR" sz="2000" dirty="0">
                <a:solidFill>
                  <a:srgbClr val="00B0F0"/>
                </a:solidFill>
              </a:rPr>
              <a:t>critères d’évaluation </a:t>
            </a:r>
            <a:r>
              <a:rPr lang="fr-FR" sz="2000" dirty="0"/>
              <a:t>comme la sensibilité (</a:t>
            </a:r>
            <a:r>
              <a:rPr lang="fr-FR" sz="2000" dirty="0">
                <a:solidFill>
                  <a:srgbClr val="C00000"/>
                </a:solidFill>
              </a:rPr>
              <a:t>le</a:t>
            </a:r>
            <a:r>
              <a:rPr lang="fr-FR" sz="2000" dirty="0"/>
              <a:t> </a:t>
            </a:r>
            <a:r>
              <a:rPr lang="fr-FR" sz="2000" dirty="0">
                <a:solidFill>
                  <a:srgbClr val="C00000"/>
                </a:solidFill>
              </a:rPr>
              <a:t>rappel</a:t>
            </a:r>
            <a:r>
              <a:rPr lang="fr-FR" sz="2000" dirty="0"/>
              <a:t>), la </a:t>
            </a:r>
            <a:r>
              <a:rPr lang="fr-FR" sz="2000" dirty="0">
                <a:solidFill>
                  <a:srgbClr val="C00000"/>
                </a:solidFill>
              </a:rPr>
              <a:t>précision</a:t>
            </a:r>
            <a:r>
              <a:rPr lang="fr-FR" sz="2000" dirty="0"/>
              <a:t>, le </a:t>
            </a:r>
            <a:r>
              <a:rPr lang="fr-FR" sz="2000" dirty="0">
                <a:solidFill>
                  <a:srgbClr val="C00000"/>
                </a:solidFill>
              </a:rPr>
              <a:t>F-mesure</a:t>
            </a:r>
            <a:r>
              <a:rPr lang="fr-FR" sz="2000" dirty="0"/>
              <a:t>, etc.</a:t>
            </a:r>
          </a:p>
          <a:p>
            <a:pPr algn="just"/>
            <a:r>
              <a:rPr lang="fr-FR" sz="2000" dirty="0"/>
              <a:t>Avant d’arriver à ces critères, on commande par découper les données pour créer une </a:t>
            </a:r>
            <a:r>
              <a:rPr lang="fr-FR" sz="2000" dirty="0">
                <a:solidFill>
                  <a:srgbClr val="C00000"/>
                </a:solidFill>
              </a:rPr>
              <a:t>matrice de confusion</a:t>
            </a:r>
            <a:r>
              <a:rPr lang="fr-FR" sz="2000" dirty="0"/>
              <a:t>.</a:t>
            </a:r>
          </a:p>
          <a:p>
            <a:pPr algn="just"/>
            <a:r>
              <a:rPr lang="fr-FR" sz="2000" dirty="0"/>
              <a:t>C’est en croisant les étiquettes réelles des individus avec les étiquettes prédites par le modèle qu’on va mettre en place la matrice de confusion.</a:t>
            </a:r>
          </a:p>
        </p:txBody>
      </p:sp>
      <p:pic>
        <p:nvPicPr>
          <p:cNvPr id="241667" name="Picture 3"/>
          <p:cNvPicPr>
            <a:picLocks noChangeAspect="1" noChangeArrowheads="1"/>
          </p:cNvPicPr>
          <p:nvPr/>
        </p:nvPicPr>
        <p:blipFill>
          <a:blip r:embed="rId2" cstate="print"/>
          <a:srcRect/>
          <a:stretch>
            <a:fillRect/>
          </a:stretch>
        </p:blipFill>
        <p:spPr bwMode="auto">
          <a:xfrm>
            <a:off x="395536" y="3429000"/>
            <a:ext cx="8568952" cy="2953425"/>
          </a:xfrm>
          <a:prstGeom prst="rect">
            <a:avLst/>
          </a:prstGeom>
          <a:noFill/>
          <a:ln w="9525">
            <a:noFill/>
            <a:miter lim="800000"/>
            <a:headEnd/>
            <a:tailEnd/>
          </a:ln>
        </p:spPr>
      </p:pic>
    </p:spTree>
    <p:extLst>
      <p:ext uri="{BB962C8B-B14F-4D97-AF65-F5344CB8AC3E}">
        <p14:creationId xmlns:p14="http://schemas.microsoft.com/office/powerpoint/2010/main" val="2382192900"/>
      </p:ext>
    </p:extLst>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2.6. Evaluation de la classification</a:t>
            </a: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74</a:t>
            </a:fld>
            <a:endParaRPr lang="fr-FR"/>
          </a:p>
        </p:txBody>
      </p:sp>
      <p:sp>
        <p:nvSpPr>
          <p:cNvPr id="5" name="Espace réservé du contenu 4"/>
          <p:cNvSpPr>
            <a:spLocks noGrp="1"/>
          </p:cNvSpPr>
          <p:nvPr>
            <p:ph sz="quarter" idx="1"/>
          </p:nvPr>
        </p:nvSpPr>
        <p:spPr>
          <a:xfrm>
            <a:off x="251520" y="1482424"/>
            <a:ext cx="8712968" cy="5330952"/>
          </a:xfrm>
        </p:spPr>
        <p:txBody>
          <a:bodyPr>
            <a:normAutofit/>
          </a:bodyPr>
          <a:lstStyle/>
          <a:p>
            <a:pPr algn="just"/>
            <a:r>
              <a:rPr lang="fr-FR" sz="2400" u="sng" dirty="0"/>
              <a:t>Exemple:</a:t>
            </a:r>
            <a:r>
              <a:rPr lang="fr-FR" sz="2400" dirty="0"/>
              <a:t> Créer un modèle permettant de prédire le temps qu’il fait dehors en fonction de relevés météorologiques. </a:t>
            </a:r>
          </a:p>
          <a:p>
            <a:pPr lvl="1" algn="just"/>
            <a:r>
              <a:rPr lang="fr-FR" sz="2000" dirty="0"/>
              <a:t>les individus statistiques </a:t>
            </a:r>
            <a:r>
              <a:rPr lang="fr-FR" sz="2000" dirty="0">
                <a:solidFill>
                  <a:schemeClr val="tx1"/>
                </a:solidFill>
              </a:rPr>
              <a:t>sont les villes, </a:t>
            </a:r>
          </a:p>
          <a:p>
            <a:pPr lvl="1" algn="just"/>
            <a:r>
              <a:rPr lang="fr-FR" sz="2000" dirty="0"/>
              <a:t>les variables explicatives </a:t>
            </a:r>
            <a:r>
              <a:rPr lang="fr-FR" sz="2000" dirty="0">
                <a:solidFill>
                  <a:schemeClr val="tx1"/>
                </a:solidFill>
              </a:rPr>
              <a:t>sont des relevés de température, pression atmosphérique, luminosité et </a:t>
            </a:r>
          </a:p>
          <a:p>
            <a:pPr lvl="1" algn="just"/>
            <a:r>
              <a:rPr lang="fr-FR" sz="2000" dirty="0"/>
              <a:t>les classes à prédire </a:t>
            </a:r>
            <a:r>
              <a:rPr lang="fr-FR" sz="2000" dirty="0">
                <a:solidFill>
                  <a:schemeClr val="tx1"/>
                </a:solidFill>
              </a:rPr>
              <a:t>sont « pluie », « beau temps » et « neige ».</a:t>
            </a:r>
          </a:p>
          <a:p>
            <a:pPr algn="just"/>
            <a:r>
              <a:rPr lang="fr-FR" sz="2400" dirty="0"/>
              <a:t>Admettons qu’on ait fait tout le travail en amont permettant de :</a:t>
            </a:r>
          </a:p>
          <a:p>
            <a:pPr lvl="1" algn="just"/>
            <a:r>
              <a:rPr lang="fr-FR" sz="2000" dirty="0"/>
              <a:t>créer le modèle avec les données d’apprentissage et </a:t>
            </a:r>
          </a:p>
          <a:p>
            <a:pPr lvl="1" algn="just"/>
            <a:r>
              <a:rPr lang="fr-FR" sz="2000" dirty="0"/>
              <a:t>on a prédit les classes des données de tests. </a:t>
            </a:r>
          </a:p>
          <a:p>
            <a:pPr algn="just"/>
            <a:endParaRPr lang="fr-FR" sz="2800" dirty="0"/>
          </a:p>
        </p:txBody>
      </p:sp>
    </p:spTree>
    <p:extLst>
      <p:ext uri="{BB962C8B-B14F-4D97-AF65-F5344CB8AC3E}">
        <p14:creationId xmlns:p14="http://schemas.microsoft.com/office/powerpoint/2010/main" val="3961679398"/>
      </p:ext>
    </p:extLst>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2.6. Evaluation de la classification</a:t>
            </a: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75</a:t>
            </a:fld>
            <a:endParaRPr lang="fr-FR"/>
          </a:p>
        </p:txBody>
      </p:sp>
      <p:sp>
        <p:nvSpPr>
          <p:cNvPr id="5" name="Espace réservé du contenu 4"/>
          <p:cNvSpPr>
            <a:spLocks noGrp="1"/>
          </p:cNvSpPr>
          <p:nvPr>
            <p:ph sz="quarter" idx="1"/>
          </p:nvPr>
        </p:nvSpPr>
        <p:spPr>
          <a:xfrm>
            <a:off x="179512" y="1482424"/>
            <a:ext cx="8784976" cy="5330952"/>
          </a:xfrm>
        </p:spPr>
        <p:txBody>
          <a:bodyPr>
            <a:normAutofit fontScale="77500" lnSpcReduction="20000"/>
          </a:bodyPr>
          <a:lstStyle/>
          <a:p>
            <a:pPr algn="just"/>
            <a:r>
              <a:rPr lang="fr-FR" sz="2600" dirty="0"/>
              <a:t>On va donc croiser ces données et obtenir une matrice de confusion</a:t>
            </a:r>
          </a:p>
          <a:p>
            <a:pPr algn="just"/>
            <a:endParaRPr lang="fr-FR" sz="2000" dirty="0"/>
          </a:p>
          <a:p>
            <a:pPr algn="just"/>
            <a:endParaRPr lang="fr-FR" sz="2000" dirty="0"/>
          </a:p>
          <a:p>
            <a:pPr algn="just"/>
            <a:endParaRPr lang="fr-FR" sz="2000" dirty="0"/>
          </a:p>
          <a:p>
            <a:pPr algn="just"/>
            <a:endParaRPr lang="fr-FR" sz="2000" dirty="0"/>
          </a:p>
          <a:p>
            <a:pPr algn="just"/>
            <a:endParaRPr lang="fr-FR" sz="2000" dirty="0"/>
          </a:p>
          <a:p>
            <a:pPr algn="just"/>
            <a:endParaRPr lang="fr-FR" sz="2000" dirty="0"/>
          </a:p>
          <a:p>
            <a:pPr algn="just"/>
            <a:endParaRPr lang="fr-FR" sz="2000" dirty="0"/>
          </a:p>
          <a:p>
            <a:pPr algn="just"/>
            <a:endParaRPr lang="fr-FR" sz="2000" dirty="0"/>
          </a:p>
          <a:p>
            <a:pPr algn="just"/>
            <a:endParaRPr lang="fr-FR" sz="2000" dirty="0"/>
          </a:p>
          <a:p>
            <a:pPr lvl="1" algn="just"/>
            <a:r>
              <a:rPr lang="fr-FR" sz="2300" dirty="0"/>
              <a:t>Elle a en colonne et en ligne les mêmes intitulés et </a:t>
            </a:r>
          </a:p>
          <a:p>
            <a:pPr lvl="1" algn="just"/>
            <a:r>
              <a:rPr lang="fr-FR" sz="2300" dirty="0"/>
              <a:t>Elle n’est pas pour autant une matrice symétrique.</a:t>
            </a:r>
          </a:p>
          <a:p>
            <a:pPr lvl="1" algn="just"/>
            <a:r>
              <a:rPr lang="fr-FR" sz="2300" dirty="0"/>
              <a:t>En ligne, on lit les labels des individus et en colonne les labels prédits par le modèle.</a:t>
            </a:r>
          </a:p>
          <a:p>
            <a:pPr algn="just"/>
            <a:r>
              <a:rPr lang="fr-FR" dirty="0"/>
              <a:t>On peut conclure par exemple que :</a:t>
            </a:r>
          </a:p>
          <a:p>
            <a:pPr lvl="1" algn="just"/>
            <a:r>
              <a:rPr lang="fr-FR" sz="2300" dirty="0"/>
              <a:t>Dans 31 situations ou il pleuvait, le modèle a bien prédit qu’il pleuvait</a:t>
            </a:r>
          </a:p>
          <a:p>
            <a:pPr lvl="1" algn="just"/>
            <a:r>
              <a:rPr lang="fr-FR" sz="2300" dirty="0"/>
              <a:t>Le modèle a prédit 1 fois qu’il faisait beau temps alors qu’en réalité il pleuvait</a:t>
            </a:r>
          </a:p>
          <a:p>
            <a:pPr lvl="1" algn="just"/>
            <a:r>
              <a:rPr lang="fr-FR" sz="2300" dirty="0"/>
              <a:t>La classe beau temps déduite par le modèle contient 23 observations bien classés et </a:t>
            </a:r>
            <a:r>
              <a:rPr lang="fr-FR" sz="2300"/>
              <a:t>7 (=6+1</a:t>
            </a:r>
            <a:r>
              <a:rPr lang="fr-FR" sz="2300" dirty="0"/>
              <a:t>) mauvaises</a:t>
            </a:r>
            <a:endParaRPr lang="fr-FR" sz="1800" dirty="0"/>
          </a:p>
        </p:txBody>
      </p:sp>
      <p:sp>
        <p:nvSpPr>
          <p:cNvPr id="7" name="ZoneTexte 6"/>
          <p:cNvSpPr txBox="1"/>
          <p:nvPr/>
        </p:nvSpPr>
        <p:spPr>
          <a:xfrm rot="16200000">
            <a:off x="911360" y="2780928"/>
            <a:ext cx="1907895" cy="369332"/>
          </a:xfrm>
          <a:prstGeom prst="rect">
            <a:avLst/>
          </a:prstGeom>
          <a:noFill/>
        </p:spPr>
        <p:txBody>
          <a:bodyPr wrap="none" rtlCol="0">
            <a:spAutoFit/>
          </a:bodyPr>
          <a:lstStyle/>
          <a:p>
            <a:r>
              <a:rPr lang="fr-FR" b="1" dirty="0">
                <a:solidFill>
                  <a:srgbClr val="00B050"/>
                </a:solidFill>
              </a:rPr>
              <a:t>Classes réelles</a:t>
            </a:r>
          </a:p>
        </p:txBody>
      </p:sp>
      <p:sp>
        <p:nvSpPr>
          <p:cNvPr id="8" name="ZoneTexte 7"/>
          <p:cNvSpPr txBox="1"/>
          <p:nvPr/>
        </p:nvSpPr>
        <p:spPr>
          <a:xfrm>
            <a:off x="4860032" y="1844824"/>
            <a:ext cx="2093843" cy="369332"/>
          </a:xfrm>
          <a:prstGeom prst="rect">
            <a:avLst/>
          </a:prstGeom>
          <a:noFill/>
        </p:spPr>
        <p:txBody>
          <a:bodyPr wrap="none" rtlCol="0">
            <a:spAutoFit/>
          </a:bodyPr>
          <a:lstStyle/>
          <a:p>
            <a:r>
              <a:rPr lang="fr-FR" b="1" dirty="0">
                <a:solidFill>
                  <a:srgbClr val="FF0000"/>
                </a:solidFill>
              </a:rPr>
              <a:t>Classes prédites</a:t>
            </a:r>
          </a:p>
        </p:txBody>
      </p:sp>
      <p:grpSp>
        <p:nvGrpSpPr>
          <p:cNvPr id="22" name="Groupe 21"/>
          <p:cNvGrpSpPr/>
          <p:nvPr/>
        </p:nvGrpSpPr>
        <p:grpSpPr>
          <a:xfrm>
            <a:off x="2152987" y="2204864"/>
            <a:ext cx="5515357" cy="1512168"/>
            <a:chOff x="2152987" y="2132856"/>
            <a:chExt cx="5515357" cy="1512168"/>
          </a:xfrm>
        </p:grpSpPr>
        <p:pic>
          <p:nvPicPr>
            <p:cNvPr id="6" name="Picture 2" descr="matrice-de-confusion"/>
            <p:cNvPicPr>
              <a:picLocks noChangeAspect="1" noChangeArrowheads="1"/>
            </p:cNvPicPr>
            <p:nvPr/>
          </p:nvPicPr>
          <p:blipFill>
            <a:blip r:embed="rId2" cstate="print"/>
            <a:srcRect/>
            <a:stretch>
              <a:fillRect/>
            </a:stretch>
          </p:blipFill>
          <p:spPr bwMode="auto">
            <a:xfrm>
              <a:off x="2152987" y="2132856"/>
              <a:ext cx="5371341" cy="1512168"/>
            </a:xfrm>
            <a:prstGeom prst="rect">
              <a:avLst/>
            </a:prstGeom>
            <a:noFill/>
          </p:spPr>
        </p:pic>
        <p:cxnSp>
          <p:nvCxnSpPr>
            <p:cNvPr id="10" name="Connecteur droit 9"/>
            <p:cNvCxnSpPr/>
            <p:nvPr/>
          </p:nvCxnSpPr>
          <p:spPr>
            <a:xfrm>
              <a:off x="2195736" y="2132856"/>
              <a:ext cx="547260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a:off x="2195736" y="2924944"/>
              <a:ext cx="547260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2195736" y="3212976"/>
              <a:ext cx="547260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a:off x="2195736" y="2564904"/>
              <a:ext cx="547260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2195736" y="3573016"/>
              <a:ext cx="547260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a:off x="4427984" y="2132856"/>
              <a:ext cx="0" cy="144016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5148064" y="2132856"/>
              <a:ext cx="0" cy="144016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a:xfrm>
              <a:off x="6732240" y="2132856"/>
              <a:ext cx="0" cy="144016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a:off x="7668344" y="2132856"/>
              <a:ext cx="0" cy="144016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a:xfrm>
              <a:off x="2195736" y="2132856"/>
              <a:ext cx="0" cy="144016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297206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left)">
                                      <p:cBhvr>
                                        <p:cTn id="1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2.6. Evaluation de la classification</a:t>
            </a:r>
          </a:p>
        </p:txBody>
      </p:sp>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76</a:t>
            </a:fld>
            <a:endParaRPr lang="fr-FR"/>
          </a:p>
        </p:txBody>
      </p:sp>
      <p:sp>
        <p:nvSpPr>
          <p:cNvPr id="5" name="Espace réservé du contenu 4"/>
          <p:cNvSpPr>
            <a:spLocks noGrp="1"/>
          </p:cNvSpPr>
          <p:nvPr>
            <p:ph sz="quarter" idx="1"/>
          </p:nvPr>
        </p:nvSpPr>
        <p:spPr>
          <a:xfrm>
            <a:off x="301752" y="1527048"/>
            <a:ext cx="8503920" cy="4998296"/>
          </a:xfrm>
        </p:spPr>
        <p:txBody>
          <a:bodyPr>
            <a:normAutofit fontScale="85000" lnSpcReduction="20000"/>
          </a:bodyPr>
          <a:lstStyle/>
          <a:p>
            <a:pPr algn="just"/>
            <a:r>
              <a:rPr lang="fr-FR" sz="2400" dirty="0"/>
              <a:t>A partir de cette matrice, on peut calculer des indicateurs de performances en classification :</a:t>
            </a:r>
          </a:p>
          <a:p>
            <a:pPr lvl="1" algn="just"/>
            <a:r>
              <a:rPr lang="fr-FR" sz="2100" dirty="0">
                <a:solidFill>
                  <a:srgbClr val="C00000"/>
                </a:solidFill>
              </a:rPr>
              <a:t>Taux d’erreur</a:t>
            </a:r>
            <a:r>
              <a:rPr lang="fr-FR" sz="2100" dirty="0"/>
              <a:t> : correspond à la qualité générale du modèle. </a:t>
            </a:r>
          </a:p>
          <a:p>
            <a:pPr lvl="2" algn="just"/>
            <a:r>
              <a:rPr lang="fr-FR" dirty="0"/>
              <a:t>Pour cela, on va diviser les bonnes prédictions (somme de la diagonale) par le nombre total de prédictions, le tout soustrait de 1. </a:t>
            </a:r>
          </a:p>
          <a:p>
            <a:pPr lvl="2" algn="just"/>
            <a:r>
              <a:rPr lang="fr-FR" dirty="0"/>
              <a:t>Dans notre exemple, on a un taux d’erreur précision égale à: 1- [(31+23+32)/(31+1+9+6+23+8+5+6+32)]=29%.</a:t>
            </a:r>
          </a:p>
          <a:p>
            <a:pPr lvl="1" algn="just"/>
            <a:r>
              <a:rPr lang="fr-FR" sz="2100" dirty="0">
                <a:solidFill>
                  <a:srgbClr val="C00000"/>
                </a:solidFill>
              </a:rPr>
              <a:t>Précision par classe </a:t>
            </a:r>
            <a:r>
              <a:rPr lang="fr-FR" sz="2100" dirty="0"/>
              <a:t>: correspond à la qualité de la classe (précision) </a:t>
            </a:r>
          </a:p>
          <a:p>
            <a:pPr lvl="2" algn="just"/>
            <a:r>
              <a:rPr lang="fr-FR" dirty="0"/>
              <a:t>On divise le nombre d’éléments bien classés dans la classe par le nombre total d’éléments attribués à la classe. </a:t>
            </a:r>
          </a:p>
          <a:p>
            <a:pPr lvl="2" algn="just"/>
            <a:r>
              <a:rPr lang="fr-FR" dirty="0"/>
              <a:t>Par exemple, il y a une précision de 74% (31/31+6+5) dans la classe Pluie.</a:t>
            </a:r>
          </a:p>
          <a:p>
            <a:pPr lvl="1" algn="just"/>
            <a:r>
              <a:rPr lang="fr-FR" sz="2100" dirty="0">
                <a:solidFill>
                  <a:srgbClr val="C00000"/>
                </a:solidFill>
              </a:rPr>
              <a:t>Sensibilité (rappel) </a:t>
            </a:r>
            <a:r>
              <a:rPr lang="fr-FR" sz="2100" dirty="0"/>
              <a:t>: correspond à la qualité d’une classe (pertinence). </a:t>
            </a:r>
          </a:p>
          <a:p>
            <a:pPr lvl="2" algn="just"/>
            <a:r>
              <a:rPr lang="fr-FR" dirty="0"/>
              <a:t>On va diviser le nombre d’éléments bien classés dans la classe par le nombre total d’individus appartenant réellement à la classe. </a:t>
            </a:r>
          </a:p>
          <a:p>
            <a:pPr lvl="2" algn="just"/>
            <a:r>
              <a:rPr lang="fr-FR" dirty="0"/>
              <a:t>Par exemple, il y a une sensibilité de 76% (31/31+1+9) dans la classe Pluie.</a:t>
            </a:r>
          </a:p>
          <a:p>
            <a:pPr marL="274320" lvl="2" indent="-274320" algn="just">
              <a:buClr>
                <a:schemeClr val="accent1"/>
              </a:buClr>
              <a:buSzPct val="85000"/>
              <a:buFont typeface="Wingdings 2"/>
              <a:buChar char=""/>
            </a:pPr>
            <a:r>
              <a:rPr lang="fr-FR" sz="2400" dirty="0"/>
              <a:t>Note : Dans le cas où il y a plusieurs classes à prédire, la sensibilité correspond à la somme des sensibilités de chacune des classes divisé par le nombre de classes. Il s’agit donc d’une moyenne des sensibilités. Même raisonnement pour la précision en multi-classes.</a:t>
            </a:r>
          </a:p>
          <a:p>
            <a:pPr algn="just"/>
            <a:endParaRPr lang="fr-FR" dirty="0"/>
          </a:p>
        </p:txBody>
      </p:sp>
    </p:spTree>
    <p:extLst>
      <p:ext uri="{BB962C8B-B14F-4D97-AF65-F5344CB8AC3E}">
        <p14:creationId xmlns:p14="http://schemas.microsoft.com/office/powerpoint/2010/main" val="2131723919"/>
      </p:ext>
    </p:extLst>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496" y="1412776"/>
            <a:ext cx="8856984" cy="5517232"/>
          </a:xfrm>
        </p:spPr>
        <p:txBody>
          <a:bodyPr>
            <a:normAutofit/>
          </a:bodyPr>
          <a:lstStyle/>
          <a:p>
            <a:pPr lvl="1" algn="just"/>
            <a:r>
              <a:rPr lang="fr-FR" sz="2000" dirty="0"/>
              <a:t>Exemple:</a:t>
            </a:r>
            <a:r>
              <a:rPr lang="fr-FR" sz="1600" dirty="0"/>
              <a:t> </a:t>
            </a:r>
            <a:r>
              <a:rPr lang="fr-FR" sz="2000" dirty="0">
                <a:solidFill>
                  <a:schemeClr val="tx1"/>
                </a:solidFill>
              </a:rPr>
              <a:t>Un </a:t>
            </a:r>
            <a:r>
              <a:rPr lang="fr-FR" sz="2000" dirty="0" err="1">
                <a:solidFill>
                  <a:schemeClr val="tx1"/>
                </a:solidFill>
              </a:rPr>
              <a:t>classifieur</a:t>
            </a:r>
            <a:r>
              <a:rPr lang="fr-FR" sz="2000" dirty="0">
                <a:solidFill>
                  <a:schemeClr val="tx1"/>
                </a:solidFill>
              </a:rPr>
              <a:t> binaire, c’est-à-dire, qui prédit 2 classes notées classe 0 (négatif) et classe 1 (positif).</a:t>
            </a:r>
            <a:endParaRPr lang="fr-FR" sz="1600" dirty="0">
              <a:solidFill>
                <a:schemeClr val="tx1"/>
              </a:solidFill>
            </a:endParaRPr>
          </a:p>
          <a:p>
            <a:pPr lvl="2" algn="just"/>
            <a:r>
              <a:rPr lang="fr-FR" sz="1800" dirty="0"/>
              <a:t>Pour mesurer les performances de ce </a:t>
            </a:r>
            <a:r>
              <a:rPr lang="fr-FR" sz="1800" dirty="0" err="1"/>
              <a:t>classifieur</a:t>
            </a:r>
            <a:r>
              <a:rPr lang="fr-FR" sz="1800" dirty="0"/>
              <a:t>, il est d’usage de distinguer 4 types d’éléments classés pour la classe voulue :</a:t>
            </a:r>
          </a:p>
          <a:p>
            <a:pPr lvl="3" algn="just"/>
            <a:r>
              <a:rPr lang="fr-FR" sz="1800" b="1" dirty="0"/>
              <a:t>Vrai positif</a:t>
            </a:r>
            <a:r>
              <a:rPr lang="fr-FR" sz="1800" dirty="0"/>
              <a:t>  (</a:t>
            </a:r>
            <a:r>
              <a:rPr lang="fr-FR" sz="1800" b="1" dirty="0"/>
              <a:t>VP):</a:t>
            </a:r>
            <a:r>
              <a:rPr lang="fr-FR" sz="1800" dirty="0"/>
              <a:t> Elément de la classe 1 correctement prédit,</a:t>
            </a:r>
            <a:r>
              <a:rPr lang="fr-FR" sz="1800" b="0" i="0" dirty="0">
                <a:solidFill>
                  <a:srgbClr val="111111"/>
                </a:solidFill>
                <a:effectLst/>
                <a:latin typeface="Georgia" panose="02040502050405020303" pitchFamily="18" charset="0"/>
              </a:rPr>
              <a:t> Nombre d’individus bien prédits dans la classe à juste titre</a:t>
            </a:r>
          </a:p>
          <a:p>
            <a:pPr lvl="3" algn="just"/>
            <a:endParaRPr lang="fr-FR" sz="1800" dirty="0"/>
          </a:p>
          <a:p>
            <a:pPr lvl="3" algn="just"/>
            <a:r>
              <a:rPr lang="fr-FR" sz="1800" b="1" dirty="0"/>
              <a:t>Vrai négatif (VN):</a:t>
            </a:r>
            <a:r>
              <a:rPr lang="fr-FR" sz="1800" dirty="0"/>
              <a:t> Elément de la classe 0 correctement prédit,</a:t>
            </a:r>
            <a:r>
              <a:rPr lang="fr-FR" sz="1800" b="0" i="0" dirty="0">
                <a:solidFill>
                  <a:srgbClr val="111111"/>
                </a:solidFill>
                <a:effectLst/>
                <a:latin typeface="Georgia" panose="02040502050405020303" pitchFamily="18" charset="0"/>
              </a:rPr>
              <a:t> Nombre d’individus prédits comme n’étant pas dans la classe à juste titre</a:t>
            </a:r>
          </a:p>
          <a:p>
            <a:pPr marL="868680" lvl="3" indent="0" algn="just">
              <a:buNone/>
            </a:pPr>
            <a:endParaRPr lang="fr-FR" sz="1800" dirty="0"/>
          </a:p>
          <a:p>
            <a:pPr lvl="3" algn="just"/>
            <a:r>
              <a:rPr lang="fr-FR" sz="1800" b="1" dirty="0"/>
              <a:t>Faux positif (FP):</a:t>
            </a:r>
            <a:r>
              <a:rPr lang="fr-FR" sz="1800" dirty="0"/>
              <a:t> Elément de la classe 1 mal prédit, </a:t>
            </a:r>
            <a:r>
              <a:rPr lang="fr-FR" sz="1800" b="0" i="0" dirty="0">
                <a:solidFill>
                  <a:srgbClr val="111111"/>
                </a:solidFill>
                <a:effectLst/>
                <a:latin typeface="Georgia" panose="02040502050405020303" pitchFamily="18" charset="0"/>
              </a:rPr>
              <a:t>Nombre d’individus prédits dans la classe alors qu’ils ne devraient pas en faire parti</a:t>
            </a:r>
          </a:p>
          <a:p>
            <a:pPr lvl="3" algn="just"/>
            <a:endParaRPr lang="fr-FR" sz="1800" dirty="0"/>
          </a:p>
          <a:p>
            <a:pPr lvl="3" algn="just"/>
            <a:r>
              <a:rPr lang="fr-FR" sz="1800" b="1" dirty="0"/>
              <a:t>Faux négatif (FN):</a:t>
            </a:r>
            <a:r>
              <a:rPr lang="fr-FR" sz="1800" dirty="0"/>
              <a:t> Elément de la classe 0 mal prédit,</a:t>
            </a:r>
            <a:r>
              <a:rPr lang="fr-FR" sz="1800" b="0" i="0" dirty="0">
                <a:solidFill>
                  <a:srgbClr val="111111"/>
                </a:solidFill>
                <a:effectLst/>
                <a:latin typeface="Georgia" panose="02040502050405020303" pitchFamily="18" charset="0"/>
              </a:rPr>
              <a:t> Nombre d’individus prédits comme étant de la classe alors qu’il ne le sont pas en vrai</a:t>
            </a:r>
            <a:endParaRPr lang="fr-FR" sz="1800" dirty="0"/>
          </a:p>
        </p:txBody>
      </p:sp>
      <p:sp>
        <p:nvSpPr>
          <p:cNvPr id="5" name="Espace réservé du pied de page 4"/>
          <p:cNvSpPr>
            <a:spLocks noGrp="1"/>
          </p:cNvSpPr>
          <p:nvPr>
            <p:ph type="ftr" sz="quarter" idx="11"/>
          </p:nvPr>
        </p:nvSpPr>
        <p:spPr/>
        <p:txBody>
          <a:bodyPr/>
          <a:lstStyle/>
          <a:p>
            <a:r>
              <a:rPr lang="fr-FR" dirty="0"/>
              <a:t>Dr. </a:t>
            </a:r>
            <a:r>
              <a:rPr lang="fr-FR" dirty="0" err="1"/>
              <a:t>H.Chikh</a:t>
            </a:r>
            <a:r>
              <a:rPr lang="fr-FR" dirty="0"/>
              <a:t> </a:t>
            </a:r>
            <a:r>
              <a:rPr lang="fr-FR" dirty="0" err="1"/>
              <a:t>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77</a:t>
            </a:fld>
            <a:endParaRPr lang="fr-FR"/>
          </a:p>
        </p:txBody>
      </p:sp>
      <p:sp>
        <p:nvSpPr>
          <p:cNvPr id="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Titre 9"/>
          <p:cNvSpPr>
            <a:spLocks noGrp="1"/>
          </p:cNvSpPr>
          <p:nvPr>
            <p:ph type="title"/>
          </p:nvPr>
        </p:nvSpPr>
        <p:spPr>
          <a:xfrm>
            <a:off x="301752" y="228600"/>
            <a:ext cx="8534400" cy="758952"/>
          </a:xfrm>
        </p:spPr>
        <p:txBody>
          <a:bodyPr>
            <a:normAutofit/>
          </a:bodyPr>
          <a:lstStyle/>
          <a:p>
            <a:r>
              <a:rPr lang="fr-FR" dirty="0"/>
              <a:t>2.6. Evaluation de la classification</a:t>
            </a:r>
          </a:p>
        </p:txBody>
      </p:sp>
    </p:spTree>
    <p:extLst>
      <p:ext uri="{BB962C8B-B14F-4D97-AF65-F5344CB8AC3E}">
        <p14:creationId xmlns:p14="http://schemas.microsoft.com/office/powerpoint/2010/main" val="1321828337"/>
      </p:ext>
    </p:extLst>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330" name="Picture 2" descr="C:\Users\Kacem\Desktop\Downloads\1425.image_193F3D6A.png"/>
          <p:cNvPicPr>
            <a:picLocks noChangeAspect="1" noChangeArrowheads="1"/>
          </p:cNvPicPr>
          <p:nvPr/>
        </p:nvPicPr>
        <p:blipFill>
          <a:blip r:embed="rId2" cstate="print"/>
          <a:srcRect/>
          <a:stretch>
            <a:fillRect/>
          </a:stretch>
        </p:blipFill>
        <p:spPr bwMode="auto">
          <a:xfrm>
            <a:off x="1331640" y="2541464"/>
            <a:ext cx="4719610" cy="1104926"/>
          </a:xfrm>
          <a:prstGeom prst="rect">
            <a:avLst/>
          </a:prstGeom>
          <a:noFill/>
        </p:spPr>
      </p:pic>
      <p:sp>
        <p:nvSpPr>
          <p:cNvPr id="3" name="Espace réservé du contenu 2"/>
          <p:cNvSpPr>
            <a:spLocks noGrp="1"/>
          </p:cNvSpPr>
          <p:nvPr>
            <p:ph idx="1"/>
          </p:nvPr>
        </p:nvSpPr>
        <p:spPr>
          <a:xfrm>
            <a:off x="35496" y="1412776"/>
            <a:ext cx="8856984" cy="5517232"/>
          </a:xfrm>
        </p:spPr>
        <p:txBody>
          <a:bodyPr>
            <a:normAutofit/>
          </a:bodyPr>
          <a:lstStyle/>
          <a:p>
            <a:pPr lvl="1" algn="just"/>
            <a:r>
              <a:rPr lang="fr-FR" sz="2000" dirty="0"/>
              <a:t>Exemple:</a:t>
            </a:r>
            <a:r>
              <a:rPr lang="fr-FR" sz="1600" dirty="0"/>
              <a:t> </a:t>
            </a:r>
          </a:p>
          <a:p>
            <a:pPr lvl="1" algn="just"/>
            <a:r>
              <a:rPr lang="fr-FR" sz="1800" dirty="0"/>
              <a:t>Ces informations peuvent être rassemblées dans une </a:t>
            </a:r>
            <a:r>
              <a:rPr lang="fr-FR" sz="1800" dirty="0">
                <a:solidFill>
                  <a:srgbClr val="C00000"/>
                </a:solidFill>
              </a:rPr>
              <a:t>matrice de confusion</a:t>
            </a:r>
            <a:r>
              <a:rPr lang="fr-FR" sz="1800" dirty="0"/>
              <a:t>. Dans le cas d’un classifieur binaire, on obtient :</a:t>
            </a:r>
          </a:p>
          <a:p>
            <a:pPr lvl="2" algn="just"/>
            <a:endParaRPr lang="fr-FR" sz="1600" dirty="0"/>
          </a:p>
          <a:p>
            <a:pPr lvl="2" algn="just"/>
            <a:endParaRPr lang="fr-FR" sz="1600" dirty="0"/>
          </a:p>
          <a:p>
            <a:pPr lvl="2" algn="just"/>
            <a:endParaRPr lang="fr-FR" sz="1600" dirty="0"/>
          </a:p>
          <a:p>
            <a:pPr lvl="2" algn="just"/>
            <a:endParaRPr lang="fr-FR" sz="1800" dirty="0"/>
          </a:p>
          <a:p>
            <a:pPr lvl="2" algn="just"/>
            <a:endParaRPr lang="fr-FR" sz="1800" dirty="0"/>
          </a:p>
          <a:p>
            <a:pPr lvl="2" algn="just"/>
            <a:endParaRPr lang="fr-FR" sz="1800" dirty="0"/>
          </a:p>
          <a:p>
            <a:pPr lvl="2" algn="just"/>
            <a:endParaRPr lang="fr-FR" sz="1800" dirty="0"/>
          </a:p>
          <a:p>
            <a:pPr lvl="2" algn="just"/>
            <a:endParaRPr lang="fr-FR" sz="1800" dirty="0"/>
          </a:p>
          <a:p>
            <a:pPr lvl="2" algn="just"/>
            <a:endParaRPr lang="fr-FR" sz="1800" dirty="0"/>
          </a:p>
          <a:p>
            <a:pPr lvl="2" algn="just"/>
            <a:endParaRPr lang="fr-FR" sz="1800" dirty="0"/>
          </a:p>
          <a:p>
            <a:pPr lvl="2" algn="just"/>
            <a:r>
              <a:rPr lang="fr-FR" sz="1800" dirty="0"/>
              <a:t>Si la matrice de confusion est diagonale, le </a:t>
            </a:r>
            <a:r>
              <a:rPr lang="fr-FR" sz="1800" dirty="0" err="1"/>
              <a:t>classifieur</a:t>
            </a:r>
            <a:r>
              <a:rPr lang="fr-FR" sz="1800" dirty="0"/>
              <a:t> est parfait.</a:t>
            </a:r>
          </a:p>
          <a:p>
            <a:pPr lvl="2" algn="just"/>
            <a:r>
              <a:rPr lang="fr-FR" sz="1800" dirty="0"/>
              <a:t>La matrice de confusion est généralisable lorsqu’il y a </a:t>
            </a:r>
            <a:r>
              <a:rPr lang="fr-FR" sz="1800" i="1" dirty="0"/>
              <a:t>k</a:t>
            </a:r>
            <a:r>
              <a:rPr lang="fr-FR" sz="1800" dirty="0"/>
              <a:t> &gt; 2 classes à prédire.</a:t>
            </a:r>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78</a:t>
            </a:fld>
            <a:endParaRPr lang="fr-FR"/>
          </a:p>
        </p:txBody>
      </p:sp>
      <p:sp>
        <p:nvSpPr>
          <p:cNvPr id="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Titre 9"/>
          <p:cNvSpPr>
            <a:spLocks noGrp="1"/>
          </p:cNvSpPr>
          <p:nvPr>
            <p:ph type="title"/>
          </p:nvPr>
        </p:nvSpPr>
        <p:spPr>
          <a:xfrm>
            <a:off x="301752" y="228600"/>
            <a:ext cx="8534400" cy="758952"/>
          </a:xfrm>
        </p:spPr>
        <p:txBody>
          <a:bodyPr>
            <a:normAutofit/>
          </a:bodyPr>
          <a:lstStyle/>
          <a:p>
            <a:r>
              <a:rPr lang="fr-FR" dirty="0"/>
              <a:t>2.6. Evaluation de la classification</a:t>
            </a:r>
          </a:p>
        </p:txBody>
      </p:sp>
      <p:pic>
        <p:nvPicPr>
          <p:cNvPr id="7" name="Image 6">
            <a:extLst>
              <a:ext uri="{FF2B5EF4-FFF2-40B4-BE49-F238E27FC236}">
                <a16:creationId xmlns:a16="http://schemas.microsoft.com/office/drawing/2014/main" id="{9475DF85-F584-4D25-B67D-E4739F6937AA}"/>
              </a:ext>
            </a:extLst>
          </p:cNvPr>
          <p:cNvPicPr>
            <a:picLocks noChangeAspect="1"/>
          </p:cNvPicPr>
          <p:nvPr/>
        </p:nvPicPr>
        <p:blipFill>
          <a:blip r:embed="rId3"/>
          <a:stretch>
            <a:fillRect/>
          </a:stretch>
        </p:blipFill>
        <p:spPr>
          <a:xfrm>
            <a:off x="1691680" y="4077072"/>
            <a:ext cx="4686300" cy="1171575"/>
          </a:xfrm>
          <a:prstGeom prst="rect">
            <a:avLst/>
          </a:prstGeom>
        </p:spPr>
      </p:pic>
    </p:spTree>
    <p:extLst>
      <p:ext uri="{BB962C8B-B14F-4D97-AF65-F5344CB8AC3E}">
        <p14:creationId xmlns:p14="http://schemas.microsoft.com/office/powerpoint/2010/main" val="1395318916"/>
      </p:ext>
    </p:extLst>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496" y="1412776"/>
            <a:ext cx="8856984" cy="5517232"/>
          </a:xfrm>
        </p:spPr>
        <p:txBody>
          <a:bodyPr>
            <a:normAutofit/>
          </a:bodyPr>
          <a:lstStyle/>
          <a:p>
            <a:pPr lvl="1" algn="just"/>
            <a:r>
              <a:rPr lang="fr-FR" sz="2000" dirty="0"/>
              <a:t>Exemple:</a:t>
            </a:r>
            <a:r>
              <a:rPr lang="fr-FR" sz="1600" dirty="0"/>
              <a:t> </a:t>
            </a:r>
          </a:p>
          <a:p>
            <a:pPr lvl="1" algn="just"/>
            <a:endParaRPr lang="fr-FR" sz="1800" dirty="0"/>
          </a:p>
        </p:txBody>
      </p:sp>
      <p:sp>
        <p:nvSpPr>
          <p:cNvPr id="5" name="Espace réservé du pied de page 4"/>
          <p:cNvSpPr>
            <a:spLocks noGrp="1"/>
          </p:cNvSpPr>
          <p:nvPr>
            <p:ph type="ftr" sz="quarter" idx="11"/>
          </p:nvPr>
        </p:nvSpPr>
        <p:spPr/>
        <p:txBody>
          <a:bodyPr/>
          <a:lstStyle/>
          <a:p>
            <a:r>
              <a:rPr lang="fr-FR"/>
              <a:t>Dr. H.Chikh Zaouali</a:t>
            </a:r>
            <a:endParaRPr lang="fr-FR" dirty="0"/>
          </a:p>
        </p:txBody>
      </p:sp>
      <p:sp>
        <p:nvSpPr>
          <p:cNvPr id="6" name="Espace réservé du numéro de diapositive 5"/>
          <p:cNvSpPr>
            <a:spLocks noGrp="1"/>
          </p:cNvSpPr>
          <p:nvPr>
            <p:ph type="sldNum" sz="quarter" idx="12"/>
          </p:nvPr>
        </p:nvSpPr>
        <p:spPr/>
        <p:txBody>
          <a:bodyPr/>
          <a:lstStyle/>
          <a:p>
            <a:fld id="{CE29D81B-14E6-4D1B-84D2-56C6390BA72A}" type="slidenum">
              <a:rPr lang="fr-FR" smtClean="0"/>
              <a:pPr/>
              <a:t>79</a:t>
            </a:fld>
            <a:endParaRPr lang="fr-FR"/>
          </a:p>
        </p:txBody>
      </p:sp>
      <p:sp>
        <p:nvSpPr>
          <p:cNvPr id="9"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1"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5"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9" name="Titre 9"/>
          <p:cNvSpPr>
            <a:spLocks noGrp="1"/>
          </p:cNvSpPr>
          <p:nvPr>
            <p:ph type="title"/>
          </p:nvPr>
        </p:nvSpPr>
        <p:spPr>
          <a:xfrm>
            <a:off x="301752" y="228600"/>
            <a:ext cx="8534400" cy="758952"/>
          </a:xfrm>
        </p:spPr>
        <p:txBody>
          <a:bodyPr>
            <a:normAutofit/>
          </a:bodyPr>
          <a:lstStyle/>
          <a:p>
            <a:r>
              <a:rPr lang="fr-FR" dirty="0"/>
              <a:t>2.6. Evaluation de la classification</a:t>
            </a:r>
          </a:p>
        </p:txBody>
      </p:sp>
      <p:sp>
        <p:nvSpPr>
          <p:cNvPr id="17" name="ZoneTexte 16">
            <a:extLst>
              <a:ext uri="{FF2B5EF4-FFF2-40B4-BE49-F238E27FC236}">
                <a16:creationId xmlns:a16="http://schemas.microsoft.com/office/drawing/2014/main" id="{F96A0EF6-BF4B-4DA5-ADE5-0F82A8D3A493}"/>
              </a:ext>
            </a:extLst>
          </p:cNvPr>
          <p:cNvSpPr txBox="1"/>
          <p:nvPr/>
        </p:nvSpPr>
        <p:spPr>
          <a:xfrm>
            <a:off x="179512" y="1702549"/>
            <a:ext cx="4572000" cy="646331"/>
          </a:xfrm>
          <a:prstGeom prst="rect">
            <a:avLst/>
          </a:prstGeom>
          <a:noFill/>
        </p:spPr>
        <p:txBody>
          <a:bodyPr wrap="square">
            <a:spAutoFit/>
          </a:bodyPr>
          <a:lstStyle/>
          <a:p>
            <a:r>
              <a:rPr lang="fr-FR" b="1" i="0">
                <a:solidFill>
                  <a:srgbClr val="111111"/>
                </a:solidFill>
                <a:effectLst/>
                <a:latin typeface="Georgia" panose="02040502050405020303" pitchFamily="18" charset="0"/>
              </a:rPr>
              <a:t>Table de confusion de la classe « Pluie » :</a:t>
            </a:r>
            <a:endParaRPr lang="fr-FR" dirty="0"/>
          </a:p>
        </p:txBody>
      </p:sp>
      <p:sp>
        <p:nvSpPr>
          <p:cNvPr id="20" name="ZoneTexte 19">
            <a:extLst>
              <a:ext uri="{FF2B5EF4-FFF2-40B4-BE49-F238E27FC236}">
                <a16:creationId xmlns:a16="http://schemas.microsoft.com/office/drawing/2014/main" id="{EB9C8756-E95C-4A20-ABFA-B52745057C80}"/>
              </a:ext>
            </a:extLst>
          </p:cNvPr>
          <p:cNvSpPr txBox="1"/>
          <p:nvPr/>
        </p:nvSpPr>
        <p:spPr>
          <a:xfrm>
            <a:off x="4644008" y="1702549"/>
            <a:ext cx="4572000" cy="646331"/>
          </a:xfrm>
          <a:prstGeom prst="rect">
            <a:avLst/>
          </a:prstGeom>
          <a:noFill/>
        </p:spPr>
        <p:txBody>
          <a:bodyPr wrap="square">
            <a:spAutoFit/>
          </a:bodyPr>
          <a:lstStyle/>
          <a:p>
            <a:r>
              <a:rPr lang="fr-FR" b="1" i="0" dirty="0">
                <a:solidFill>
                  <a:srgbClr val="111111"/>
                </a:solidFill>
                <a:effectLst/>
                <a:latin typeface="Georgia" panose="02040502050405020303" pitchFamily="18" charset="0"/>
              </a:rPr>
              <a:t>Table de confusion de la classe « Beau Temps » :</a:t>
            </a:r>
            <a:endParaRPr lang="fr-FR" dirty="0"/>
          </a:p>
        </p:txBody>
      </p:sp>
      <p:sp>
        <p:nvSpPr>
          <p:cNvPr id="22" name="ZoneTexte 21">
            <a:extLst>
              <a:ext uri="{FF2B5EF4-FFF2-40B4-BE49-F238E27FC236}">
                <a16:creationId xmlns:a16="http://schemas.microsoft.com/office/drawing/2014/main" id="{7E9F671B-BAED-4C11-B876-6A8F257079EC}"/>
              </a:ext>
            </a:extLst>
          </p:cNvPr>
          <p:cNvSpPr txBox="1"/>
          <p:nvPr/>
        </p:nvSpPr>
        <p:spPr>
          <a:xfrm>
            <a:off x="2304737" y="3861048"/>
            <a:ext cx="4609474" cy="646331"/>
          </a:xfrm>
          <a:prstGeom prst="rect">
            <a:avLst/>
          </a:prstGeom>
          <a:noFill/>
        </p:spPr>
        <p:txBody>
          <a:bodyPr wrap="square">
            <a:spAutoFit/>
          </a:bodyPr>
          <a:lstStyle/>
          <a:p>
            <a:r>
              <a:rPr lang="fr-FR" b="1" i="0" dirty="0">
                <a:solidFill>
                  <a:srgbClr val="111111"/>
                </a:solidFill>
                <a:effectLst/>
                <a:latin typeface="Georgia" panose="02040502050405020303" pitchFamily="18" charset="0"/>
              </a:rPr>
              <a:t>Table de confusion de la classe « Neige » :</a:t>
            </a:r>
            <a:endParaRPr lang="fr-FR" dirty="0"/>
          </a:p>
        </p:txBody>
      </p:sp>
      <p:pic>
        <p:nvPicPr>
          <p:cNvPr id="2" name="Image 1">
            <a:extLst>
              <a:ext uri="{FF2B5EF4-FFF2-40B4-BE49-F238E27FC236}">
                <a16:creationId xmlns:a16="http://schemas.microsoft.com/office/drawing/2014/main" id="{FC856024-5849-4DE2-A438-07CEBE9B9E39}"/>
              </a:ext>
            </a:extLst>
          </p:cNvPr>
          <p:cNvPicPr>
            <a:picLocks noChangeAspect="1"/>
          </p:cNvPicPr>
          <p:nvPr/>
        </p:nvPicPr>
        <p:blipFill>
          <a:blip r:embed="rId2"/>
          <a:stretch>
            <a:fillRect/>
          </a:stretch>
        </p:blipFill>
        <p:spPr>
          <a:xfrm>
            <a:off x="467544" y="2636912"/>
            <a:ext cx="2695575" cy="838200"/>
          </a:xfrm>
          <a:prstGeom prst="rect">
            <a:avLst/>
          </a:prstGeom>
        </p:spPr>
      </p:pic>
      <p:pic>
        <p:nvPicPr>
          <p:cNvPr id="4" name="Image 3">
            <a:extLst>
              <a:ext uri="{FF2B5EF4-FFF2-40B4-BE49-F238E27FC236}">
                <a16:creationId xmlns:a16="http://schemas.microsoft.com/office/drawing/2014/main" id="{BC00ACFD-A981-4787-9692-0595F0FFF4DA}"/>
              </a:ext>
            </a:extLst>
          </p:cNvPr>
          <p:cNvPicPr>
            <a:picLocks noChangeAspect="1"/>
          </p:cNvPicPr>
          <p:nvPr/>
        </p:nvPicPr>
        <p:blipFill>
          <a:blip r:embed="rId3"/>
          <a:stretch>
            <a:fillRect/>
          </a:stretch>
        </p:blipFill>
        <p:spPr>
          <a:xfrm>
            <a:off x="5023048" y="2748533"/>
            <a:ext cx="3581400" cy="752475"/>
          </a:xfrm>
          <a:prstGeom prst="rect">
            <a:avLst/>
          </a:prstGeom>
        </p:spPr>
      </p:pic>
      <p:pic>
        <p:nvPicPr>
          <p:cNvPr id="7" name="Image 6">
            <a:extLst>
              <a:ext uri="{FF2B5EF4-FFF2-40B4-BE49-F238E27FC236}">
                <a16:creationId xmlns:a16="http://schemas.microsoft.com/office/drawing/2014/main" id="{AA653987-B029-464C-B943-97FDCC33B681}"/>
              </a:ext>
            </a:extLst>
          </p:cNvPr>
          <p:cNvPicPr>
            <a:picLocks noChangeAspect="1"/>
          </p:cNvPicPr>
          <p:nvPr/>
        </p:nvPicPr>
        <p:blipFill>
          <a:blip r:embed="rId4"/>
          <a:stretch>
            <a:fillRect/>
          </a:stretch>
        </p:blipFill>
        <p:spPr>
          <a:xfrm>
            <a:off x="3209925" y="4880198"/>
            <a:ext cx="2724150" cy="781050"/>
          </a:xfrm>
          <a:prstGeom prst="rect">
            <a:avLst/>
          </a:prstGeom>
        </p:spPr>
      </p:pic>
    </p:spTree>
    <p:extLst>
      <p:ext uri="{BB962C8B-B14F-4D97-AF65-F5344CB8AC3E}">
        <p14:creationId xmlns:p14="http://schemas.microsoft.com/office/powerpoint/2010/main" val="2409820355"/>
      </p:ext>
    </p:extLst>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
          </p:nvPr>
        </p:nvSpPr>
        <p:spPr>
          <a:xfrm>
            <a:off x="640080" y="1527048"/>
            <a:ext cx="8252400" cy="5142312"/>
          </a:xfrm>
        </p:spPr>
        <p:txBody>
          <a:bodyPr>
            <a:normAutofit/>
          </a:bodyPr>
          <a:lstStyle/>
          <a:p>
            <a:pPr algn="just"/>
            <a:r>
              <a:rPr lang="fr-FR" sz="2200" dirty="0"/>
              <a:t>Indicateurs de performances en classification</a:t>
            </a:r>
          </a:p>
          <a:p>
            <a:pPr algn="just"/>
            <a:r>
              <a:rPr lang="fr-FR" sz="1600" b="0" i="0" dirty="0">
                <a:solidFill>
                  <a:srgbClr val="111111"/>
                </a:solidFill>
                <a:effectLst/>
                <a:latin typeface="Georgia" panose="02040502050405020303" pitchFamily="18" charset="0"/>
              </a:rPr>
              <a:t>Ces tables de confusion vont nous permettre de sortir des critères d’évaluation.</a:t>
            </a:r>
            <a:endParaRPr lang="fr-FR" sz="2200" dirty="0"/>
          </a:p>
          <a:p>
            <a:pPr lvl="1" algn="just"/>
            <a:r>
              <a:rPr lang="fr-FR" sz="1800" dirty="0"/>
              <a:t>Indicateurs de base :</a:t>
            </a:r>
          </a:p>
          <a:p>
            <a:pPr lvl="2" algn="just"/>
            <a:r>
              <a:rPr lang="fr-FR" sz="1600" dirty="0"/>
              <a:t>I</a:t>
            </a:r>
            <a:r>
              <a:rPr lang="fr-FR" sz="1800" dirty="0"/>
              <a:t>l est possible de calculer plusieurs indicateurs résumant la matrice de confusion. </a:t>
            </a:r>
          </a:p>
          <a:p>
            <a:pPr lvl="2" algn="just"/>
            <a:r>
              <a:rPr lang="fr-FR" sz="1800" dirty="0"/>
              <a:t>E</a:t>
            </a:r>
            <a:r>
              <a:rPr lang="fr-FR" sz="1800" dirty="0">
                <a:solidFill>
                  <a:schemeClr val="tx1"/>
                </a:solidFill>
              </a:rPr>
              <a:t>xemple: Rendre compte de la qualité de la prédiction sur la classe 1, on définit :</a:t>
            </a:r>
          </a:p>
          <a:p>
            <a:pPr lvl="3" algn="just"/>
            <a:r>
              <a:rPr lang="fr-FR" sz="1600" b="1" dirty="0"/>
              <a:t>Rappel (</a:t>
            </a:r>
            <a:r>
              <a:rPr lang="fr-FR" sz="1600" dirty="0"/>
              <a:t>ou</a:t>
            </a:r>
            <a:r>
              <a:rPr lang="fr-FR" sz="1600" b="1" dirty="0"/>
              <a:t> </a:t>
            </a:r>
            <a:r>
              <a:rPr lang="fr-FR" sz="1600" b="1" dirty="0" err="1"/>
              <a:t>Recall</a:t>
            </a:r>
            <a:r>
              <a:rPr lang="fr-FR" sz="1600" b="1" dirty="0"/>
              <a:t>)</a:t>
            </a:r>
            <a:r>
              <a:rPr lang="fr-FR" sz="1600" dirty="0"/>
              <a:t> Proportion d’éléments bien classés par rapport au nombre d’éléments de la classe à prédire :</a:t>
            </a:r>
          </a:p>
          <a:p>
            <a:pPr lvl="3" algn="just"/>
            <a:r>
              <a:rPr lang="fr-FR" sz="1400" b="0" i="0" dirty="0">
                <a:solidFill>
                  <a:srgbClr val="111111"/>
                </a:solidFill>
                <a:effectLst/>
                <a:latin typeface="Georgia" panose="02040502050405020303" pitchFamily="18" charset="0"/>
              </a:rPr>
              <a:t>La sensibilité indique la probabilité d’un individu d’appartenir à la classe sachant qu’il devrait y appartenir</a:t>
            </a:r>
            <a:endParaRPr lang="fr-FR" sz="1600" dirty="0"/>
          </a:p>
          <a:p>
            <a:pPr lvl="3" algn="just"/>
            <a:endParaRPr lang="fr-FR" sz="1600" dirty="0"/>
          </a:p>
          <a:p>
            <a:pPr lvl="3" algn="just"/>
            <a:endParaRPr lang="fr-FR" sz="1600" dirty="0"/>
          </a:p>
          <a:p>
            <a:pPr lvl="3" algn="just">
              <a:buNone/>
            </a:pPr>
            <a:endParaRPr lang="fr-FR" sz="1600" b="1" dirty="0"/>
          </a:p>
          <a:p>
            <a:pPr lvl="3" algn="just"/>
            <a:endParaRPr lang="fr-FR" sz="1600" b="1" dirty="0"/>
          </a:p>
          <a:p>
            <a:pPr lvl="3" algn="just"/>
            <a:endParaRPr lang="fr-FR" sz="1600" dirty="0"/>
          </a:p>
          <a:p>
            <a:pPr lvl="1" algn="just"/>
            <a:endParaRPr lang="fr-FR" dirty="0"/>
          </a:p>
        </p:txBody>
      </p:sp>
      <p:pic>
        <p:nvPicPr>
          <p:cNvPr id="228360" name="Picture 8"/>
          <p:cNvPicPr>
            <a:picLocks noChangeAspect="1" noChangeArrowheads="1"/>
          </p:cNvPicPr>
          <p:nvPr/>
        </p:nvPicPr>
        <p:blipFill>
          <a:blip r:embed="rId2" cstate="print"/>
          <a:srcRect/>
          <a:stretch>
            <a:fillRect/>
          </a:stretch>
        </p:blipFill>
        <p:spPr bwMode="auto">
          <a:xfrm>
            <a:off x="1124876" y="5132988"/>
            <a:ext cx="4186465" cy="1008112"/>
          </a:xfrm>
          <a:prstGeom prst="rect">
            <a:avLst/>
          </a:prstGeom>
          <a:noFill/>
          <a:ln w="9525">
            <a:noFill/>
            <a:miter lim="800000"/>
            <a:headEnd/>
            <a:tailEnd/>
          </a:ln>
        </p:spPr>
      </p:pic>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80</a:t>
            </a:fld>
            <a:endParaRPr lang="fr-FR"/>
          </a:p>
        </p:txBody>
      </p:sp>
      <p:pic>
        <p:nvPicPr>
          <p:cNvPr id="228359" name="Picture 7" descr="C:\Users\Kacem\Desktop\Downloads\2045.clip_image004_3FA3B166 (1).png"/>
          <p:cNvPicPr>
            <a:picLocks noChangeAspect="1" noChangeArrowheads="1"/>
          </p:cNvPicPr>
          <p:nvPr/>
        </p:nvPicPr>
        <p:blipFill>
          <a:blip r:embed="rId3" cstate="print"/>
          <a:srcRect/>
          <a:stretch>
            <a:fillRect/>
          </a:stretch>
        </p:blipFill>
        <p:spPr bwMode="auto">
          <a:xfrm>
            <a:off x="5796136" y="4972237"/>
            <a:ext cx="3096344" cy="833027"/>
          </a:xfrm>
          <a:prstGeom prst="rect">
            <a:avLst/>
          </a:prstGeom>
          <a:noFill/>
        </p:spPr>
      </p:pic>
      <p:sp>
        <p:nvSpPr>
          <p:cNvPr id="10" name="Titre 9"/>
          <p:cNvSpPr>
            <a:spLocks noGrp="1"/>
          </p:cNvSpPr>
          <p:nvPr>
            <p:ph type="title"/>
          </p:nvPr>
        </p:nvSpPr>
        <p:spPr/>
        <p:txBody>
          <a:bodyPr>
            <a:normAutofit/>
          </a:bodyPr>
          <a:lstStyle/>
          <a:p>
            <a:r>
              <a:rPr lang="fr-FR" dirty="0">
                <a:solidFill>
                  <a:srgbClr val="FF0000"/>
                </a:solidFill>
              </a:rPr>
              <a:t>2.6. Evaluation de la classification</a:t>
            </a:r>
          </a:p>
        </p:txBody>
      </p:sp>
    </p:spTree>
    <p:extLst>
      <p:ext uri="{BB962C8B-B14F-4D97-AF65-F5344CB8AC3E}">
        <p14:creationId xmlns:p14="http://schemas.microsoft.com/office/powerpoint/2010/main" val="3120424538"/>
      </p:ext>
    </p:extLst>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81</a:t>
            </a:fld>
            <a:endParaRPr lang="fr-FR"/>
          </a:p>
        </p:txBody>
      </p:sp>
      <p:sp>
        <p:nvSpPr>
          <p:cNvPr id="5" name="Espace réservé du contenu 4"/>
          <p:cNvSpPr>
            <a:spLocks noGrp="1"/>
          </p:cNvSpPr>
          <p:nvPr>
            <p:ph sz="quarter" idx="1"/>
          </p:nvPr>
        </p:nvSpPr>
        <p:spPr>
          <a:xfrm>
            <a:off x="301752" y="1527048"/>
            <a:ext cx="8503920" cy="5070304"/>
          </a:xfrm>
        </p:spPr>
        <p:txBody>
          <a:bodyPr/>
          <a:lstStyle/>
          <a:p>
            <a:pPr lvl="3" algn="just"/>
            <a:r>
              <a:rPr lang="fr-FR" sz="1600" b="1" dirty="0"/>
              <a:t>Précision</a:t>
            </a:r>
            <a:r>
              <a:rPr lang="fr-FR" sz="1600" dirty="0"/>
              <a:t>: Proportion d’éléments bien classés pour une classe donnée :</a:t>
            </a:r>
          </a:p>
          <a:p>
            <a:pPr lvl="3" algn="just"/>
            <a:r>
              <a:rPr lang="fr-FR" sz="1600" b="0" i="0" dirty="0">
                <a:solidFill>
                  <a:srgbClr val="111111"/>
                </a:solidFill>
                <a:effectLst/>
                <a:latin typeface="Georgia" panose="02040502050405020303" pitchFamily="18" charset="0"/>
              </a:rPr>
              <a:t>. La spécificité indique, quant à elle, la probabilité qu’un individu n’appartienne pas à la classe à juste titre.</a:t>
            </a:r>
            <a:endParaRPr lang="fr-FR" sz="1800" dirty="0"/>
          </a:p>
          <a:p>
            <a:pPr lvl="3" algn="just"/>
            <a:endParaRPr lang="fr-FR" sz="1600" dirty="0"/>
          </a:p>
          <a:p>
            <a:pPr lvl="3" algn="just"/>
            <a:endParaRPr lang="fr-FR" sz="1600" b="1" dirty="0"/>
          </a:p>
          <a:p>
            <a:pPr lvl="3" algn="just"/>
            <a:endParaRPr lang="fr-FR" sz="1600" b="1" dirty="0"/>
          </a:p>
          <a:p>
            <a:pPr lvl="3" algn="just"/>
            <a:endParaRPr lang="fr-FR" sz="1600" b="1" dirty="0"/>
          </a:p>
          <a:p>
            <a:pPr lvl="3" algn="just"/>
            <a:r>
              <a:rPr lang="fr-FR" sz="1600" dirty="0"/>
              <a:t>Un </a:t>
            </a:r>
            <a:r>
              <a:rPr lang="fr-FR" sz="1600" dirty="0" err="1"/>
              <a:t>classifieur</a:t>
            </a:r>
            <a:r>
              <a:rPr lang="fr-FR" sz="1600" dirty="0"/>
              <a:t> parfait fournira des réponses dont la précision et le rappel sont égaux à 1 (l'algorithme trouve la totalité des éléments pertinents: rappel et ne fait aucune erreur : précision)</a:t>
            </a:r>
          </a:p>
          <a:p>
            <a:pPr lvl="3" algn="just"/>
            <a:r>
              <a:rPr lang="fr-FR" sz="1600" dirty="0"/>
              <a:t> Dans la réalité, les </a:t>
            </a:r>
            <a:r>
              <a:rPr lang="fr-FR" sz="1600" dirty="0" err="1"/>
              <a:t>classifieurs</a:t>
            </a:r>
            <a:r>
              <a:rPr lang="fr-FR" sz="1600" dirty="0"/>
              <a:t> sont plus ou moins précis, et plus ou moins pertinents.</a:t>
            </a:r>
          </a:p>
          <a:p>
            <a:pPr lvl="3" algn="just"/>
            <a:r>
              <a:rPr lang="fr-FR" sz="1600" dirty="0"/>
              <a:t>La performance d'un </a:t>
            </a:r>
            <a:r>
              <a:rPr lang="fr-FR" sz="1600" dirty="0" err="1"/>
              <a:t>classifieur</a:t>
            </a:r>
            <a:r>
              <a:rPr lang="fr-FR" sz="1600" dirty="0"/>
              <a:t> ne se réduit donc pas à un bon score en précision ou en rappel.</a:t>
            </a:r>
          </a:p>
          <a:p>
            <a:pPr lvl="3" algn="just"/>
            <a:r>
              <a:rPr lang="fr-FR" sz="1600" b="1" dirty="0"/>
              <a:t>F-mesure (ou F-score):</a:t>
            </a:r>
            <a:r>
              <a:rPr lang="fr-FR" sz="1600" dirty="0"/>
              <a:t> Mesure de compromis entre précision et rappel :</a:t>
            </a:r>
            <a:endParaRPr lang="fr-FR" dirty="0"/>
          </a:p>
        </p:txBody>
      </p:sp>
      <p:pic>
        <p:nvPicPr>
          <p:cNvPr id="6" name="Picture 2" descr="C:\Users\Kacem\Desktop\Downloads\0550.clip_image003_4890B2F4 (1).png"/>
          <p:cNvPicPr>
            <a:picLocks noChangeAspect="1" noChangeArrowheads="1"/>
          </p:cNvPicPr>
          <p:nvPr/>
        </p:nvPicPr>
        <p:blipFill>
          <a:blip r:embed="rId2" cstate="print"/>
          <a:srcRect/>
          <a:stretch>
            <a:fillRect/>
          </a:stretch>
        </p:blipFill>
        <p:spPr bwMode="auto">
          <a:xfrm>
            <a:off x="5506187" y="2678806"/>
            <a:ext cx="3445420" cy="699318"/>
          </a:xfrm>
          <a:prstGeom prst="rect">
            <a:avLst/>
          </a:prstGeom>
          <a:noFill/>
        </p:spPr>
      </p:pic>
      <p:pic>
        <p:nvPicPr>
          <p:cNvPr id="7" name="Picture 3" descr="C:\Users\Kacem\Desktop\Downloads\6366.clip_image005_25CF7B37.png"/>
          <p:cNvPicPr>
            <a:picLocks noChangeAspect="1" noChangeArrowheads="1"/>
          </p:cNvPicPr>
          <p:nvPr/>
        </p:nvPicPr>
        <p:blipFill>
          <a:blip r:embed="rId3" cstate="print"/>
          <a:srcRect/>
          <a:stretch>
            <a:fillRect/>
          </a:stretch>
        </p:blipFill>
        <p:spPr bwMode="auto">
          <a:xfrm>
            <a:off x="2267744" y="5229200"/>
            <a:ext cx="5409381" cy="720080"/>
          </a:xfrm>
          <a:prstGeom prst="rect">
            <a:avLst/>
          </a:prstGeom>
          <a:noFill/>
        </p:spPr>
      </p:pic>
      <p:pic>
        <p:nvPicPr>
          <p:cNvPr id="229378" name="Picture 2"/>
          <p:cNvPicPr>
            <a:picLocks noChangeAspect="1" noChangeArrowheads="1"/>
          </p:cNvPicPr>
          <p:nvPr/>
        </p:nvPicPr>
        <p:blipFill>
          <a:blip r:embed="rId4" cstate="print"/>
          <a:srcRect/>
          <a:stretch>
            <a:fillRect/>
          </a:stretch>
        </p:blipFill>
        <p:spPr bwMode="auto">
          <a:xfrm>
            <a:off x="1403648" y="2503277"/>
            <a:ext cx="4248473" cy="1055084"/>
          </a:xfrm>
          <a:prstGeom prst="rect">
            <a:avLst/>
          </a:prstGeom>
          <a:noFill/>
          <a:ln w="9525">
            <a:noFill/>
            <a:miter lim="800000"/>
            <a:headEnd/>
            <a:tailEnd/>
          </a:ln>
        </p:spPr>
      </p:pic>
      <p:sp>
        <p:nvSpPr>
          <p:cNvPr id="12" name="Titre 9"/>
          <p:cNvSpPr>
            <a:spLocks noGrp="1"/>
          </p:cNvSpPr>
          <p:nvPr>
            <p:ph type="title"/>
          </p:nvPr>
        </p:nvSpPr>
        <p:spPr/>
        <p:txBody>
          <a:bodyPr>
            <a:normAutofit/>
          </a:bodyPr>
          <a:lstStyle/>
          <a:p>
            <a:r>
              <a:rPr lang="fr-FR" dirty="0">
                <a:solidFill>
                  <a:srgbClr val="FF0000"/>
                </a:solidFill>
              </a:rPr>
              <a:t>2.6. Evaluation de la classification</a:t>
            </a:r>
          </a:p>
        </p:txBody>
      </p:sp>
    </p:spTree>
    <p:extLst>
      <p:ext uri="{BB962C8B-B14F-4D97-AF65-F5344CB8AC3E}">
        <p14:creationId xmlns:p14="http://schemas.microsoft.com/office/powerpoint/2010/main" val="383958672"/>
      </p:ext>
    </p:extLst>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82</a:t>
            </a:fld>
            <a:endParaRPr lang="fr-FR"/>
          </a:p>
        </p:txBody>
      </p:sp>
      <p:sp>
        <p:nvSpPr>
          <p:cNvPr id="5" name="Espace réservé du contenu 4"/>
          <p:cNvSpPr>
            <a:spLocks noGrp="1"/>
          </p:cNvSpPr>
          <p:nvPr>
            <p:ph sz="quarter" idx="1"/>
          </p:nvPr>
        </p:nvSpPr>
        <p:spPr>
          <a:xfrm>
            <a:off x="107504" y="1484784"/>
            <a:ext cx="3240360" cy="4896544"/>
          </a:xfrm>
        </p:spPr>
        <p:txBody>
          <a:bodyPr>
            <a:normAutofit fontScale="92500" lnSpcReduction="10000"/>
          </a:bodyPr>
          <a:lstStyle/>
          <a:p>
            <a:pPr algn="just"/>
            <a:r>
              <a:rPr lang="fr-FR" sz="2000" u="sng" dirty="0"/>
              <a:t>Exercice:</a:t>
            </a:r>
            <a:r>
              <a:rPr lang="fr-FR" sz="2000" dirty="0"/>
              <a:t> </a:t>
            </a:r>
            <a:r>
              <a:rPr lang="fr-FR" sz="1600" dirty="0"/>
              <a:t>Un </a:t>
            </a:r>
            <a:r>
              <a:rPr lang="fr-FR" sz="1600" dirty="0" err="1"/>
              <a:t>classifieur</a:t>
            </a:r>
            <a:r>
              <a:rPr lang="fr-FR" sz="1600" dirty="0"/>
              <a:t> destiné à prédire l’occurrence d’une maladie cardiaque (DISEASE : positif ou négatif) à partir des caractéristiques des patients (CHOLESTERAL, THALAC et OLDPEAK. Il est appliqué sur un échantillon test comportant n = 20 observations. Ce tableau contenant les données et la prédiction (en gras les bonnes prédictions, en italique les mauvaises). </a:t>
            </a:r>
          </a:p>
          <a:p>
            <a:pPr marL="342900" indent="-342900" algn="just">
              <a:buFont typeface="+mj-lt"/>
              <a:buAutoNum type="arabicParenR"/>
            </a:pPr>
            <a:r>
              <a:rPr lang="fr-FR" sz="1600" dirty="0"/>
              <a:t>Construire la matrice de confusion</a:t>
            </a:r>
          </a:p>
          <a:p>
            <a:pPr marL="342900" indent="-342900" algn="just">
              <a:buFont typeface="+mj-lt"/>
              <a:buAutoNum type="arabicParenR"/>
            </a:pPr>
            <a:r>
              <a:rPr lang="fr-FR" sz="1600" dirty="0"/>
              <a:t>Calculer le taux d’erreur</a:t>
            </a:r>
          </a:p>
          <a:p>
            <a:pPr marL="342900" indent="-342900" algn="just">
              <a:buFont typeface="+mj-lt"/>
              <a:buAutoNum type="arabicParenR"/>
            </a:pPr>
            <a:r>
              <a:rPr lang="fr-FR" sz="1600" dirty="0"/>
              <a:t>Calculer le rappel, la précision et F-mesure  par classe</a:t>
            </a:r>
          </a:p>
          <a:p>
            <a:pPr marL="342900" indent="-342900" algn="just">
              <a:buFont typeface="+mj-lt"/>
              <a:buAutoNum type="arabicParenR"/>
            </a:pPr>
            <a:r>
              <a:rPr lang="fr-FR" sz="1600" dirty="0"/>
              <a:t>Déduire  le rappel, la précision et F-mesure globaux du </a:t>
            </a:r>
            <a:r>
              <a:rPr lang="fr-FR" sz="1600" dirty="0" err="1"/>
              <a:t>classifieur</a:t>
            </a:r>
            <a:r>
              <a:rPr lang="fr-FR" sz="1600" dirty="0"/>
              <a:t>.</a:t>
            </a:r>
          </a:p>
        </p:txBody>
      </p:sp>
      <p:pic>
        <p:nvPicPr>
          <p:cNvPr id="227330" name="Picture 2"/>
          <p:cNvPicPr>
            <a:picLocks noChangeAspect="1" noChangeArrowheads="1"/>
          </p:cNvPicPr>
          <p:nvPr/>
        </p:nvPicPr>
        <p:blipFill>
          <a:blip r:embed="rId2" cstate="print"/>
          <a:srcRect/>
          <a:stretch>
            <a:fillRect/>
          </a:stretch>
        </p:blipFill>
        <p:spPr bwMode="auto">
          <a:xfrm>
            <a:off x="3402515" y="1539593"/>
            <a:ext cx="5561973" cy="4481695"/>
          </a:xfrm>
          <a:prstGeom prst="rect">
            <a:avLst/>
          </a:prstGeom>
          <a:noFill/>
          <a:ln w="9525">
            <a:noFill/>
            <a:miter lim="800000"/>
            <a:headEnd/>
            <a:tailEnd/>
          </a:ln>
        </p:spPr>
      </p:pic>
      <p:sp>
        <p:nvSpPr>
          <p:cNvPr id="9" name="Titre 9"/>
          <p:cNvSpPr>
            <a:spLocks noGrp="1"/>
          </p:cNvSpPr>
          <p:nvPr>
            <p:ph type="title"/>
          </p:nvPr>
        </p:nvSpPr>
        <p:spPr/>
        <p:txBody>
          <a:bodyPr>
            <a:normAutofit/>
          </a:bodyPr>
          <a:lstStyle/>
          <a:p>
            <a:r>
              <a:rPr lang="fr-FR" dirty="0"/>
              <a:t>2.6. Evaluation de la classification</a:t>
            </a:r>
          </a:p>
        </p:txBody>
      </p:sp>
    </p:spTree>
    <p:extLst>
      <p:ext uri="{BB962C8B-B14F-4D97-AF65-F5344CB8AC3E}">
        <p14:creationId xmlns:p14="http://schemas.microsoft.com/office/powerpoint/2010/main" val="2442806584"/>
      </p:ext>
    </p:extLst>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83</a:t>
            </a:fld>
            <a:endParaRPr lang="fr-FR"/>
          </a:p>
        </p:txBody>
      </p:sp>
      <p:sp>
        <p:nvSpPr>
          <p:cNvPr id="5" name="Espace réservé du contenu 4"/>
          <p:cNvSpPr>
            <a:spLocks noGrp="1"/>
          </p:cNvSpPr>
          <p:nvPr>
            <p:ph sz="quarter" idx="1"/>
          </p:nvPr>
        </p:nvSpPr>
        <p:spPr>
          <a:xfrm>
            <a:off x="156720" y="1340768"/>
            <a:ext cx="8734744" cy="5256584"/>
          </a:xfrm>
        </p:spPr>
        <p:txBody>
          <a:bodyPr>
            <a:normAutofit/>
          </a:bodyPr>
          <a:lstStyle/>
          <a:p>
            <a:pPr algn="just"/>
            <a:r>
              <a:rPr lang="fr-FR" sz="1600" dirty="0"/>
              <a:t>Une matrice de confusion, pour un problème à 2 classes (Y = Positif ou Négatif), prend la forme suivante :</a:t>
            </a:r>
          </a:p>
          <a:p>
            <a:pPr algn="just"/>
            <a:endParaRPr lang="fr-FR" sz="1600" dirty="0"/>
          </a:p>
          <a:p>
            <a:pPr algn="just"/>
            <a:endParaRPr lang="fr-FR" sz="1600" dirty="0"/>
          </a:p>
          <a:p>
            <a:pPr algn="just"/>
            <a:endParaRPr lang="fr-FR" sz="1600" dirty="0"/>
          </a:p>
          <a:p>
            <a:pPr algn="just"/>
            <a:endParaRPr lang="fr-FR" sz="1600" dirty="0"/>
          </a:p>
          <a:p>
            <a:pPr algn="just"/>
            <a:endParaRPr lang="fr-FR" sz="1600" dirty="0"/>
          </a:p>
          <a:p>
            <a:pPr algn="just"/>
            <a:endParaRPr lang="fr-FR" sz="1600" dirty="0"/>
          </a:p>
          <a:p>
            <a:pPr algn="just"/>
            <a:endParaRPr lang="fr-FR" sz="1600" dirty="0"/>
          </a:p>
          <a:p>
            <a:pPr algn="just"/>
            <a:endParaRPr lang="fr-FR" sz="1600" dirty="0"/>
          </a:p>
          <a:p>
            <a:pPr algn="just"/>
            <a:r>
              <a:rPr lang="fr-FR" sz="1600" dirty="0"/>
              <a:t>Le rappel (ou sensibilité ou taux de vrais positifs - TVP) représente la fraction des positifs intégrés dans la cible, il correspond à la probabilité P(ω∈cible /Y(ω)=Positif). </a:t>
            </a:r>
          </a:p>
          <a:p>
            <a:pPr algn="just"/>
            <a:endParaRPr lang="fr-FR" sz="1600" dirty="0"/>
          </a:p>
          <a:p>
            <a:pPr algn="just"/>
            <a:endParaRPr lang="fr-FR" sz="1600" dirty="0"/>
          </a:p>
          <a:p>
            <a:pPr algn="just"/>
            <a:r>
              <a:rPr lang="fr-FR" sz="1600" dirty="0"/>
              <a:t>La précision représente la proportion des positifs à l’intérieur de la cible, elle correspond à la probabilité P(Y( ω)=+/ω∈cible). </a:t>
            </a:r>
          </a:p>
          <a:p>
            <a:pPr algn="just"/>
            <a:endParaRPr lang="fr-FR" sz="1600" dirty="0"/>
          </a:p>
        </p:txBody>
      </p:sp>
      <p:pic>
        <p:nvPicPr>
          <p:cNvPr id="228354" name="Picture 2"/>
          <p:cNvPicPr>
            <a:picLocks noChangeAspect="1" noChangeArrowheads="1"/>
          </p:cNvPicPr>
          <p:nvPr/>
        </p:nvPicPr>
        <p:blipFill>
          <a:blip r:embed="rId2" cstate="print"/>
          <a:srcRect/>
          <a:stretch>
            <a:fillRect/>
          </a:stretch>
        </p:blipFill>
        <p:spPr bwMode="auto">
          <a:xfrm>
            <a:off x="2483768" y="1842314"/>
            <a:ext cx="5760640" cy="1154638"/>
          </a:xfrm>
          <a:prstGeom prst="rect">
            <a:avLst/>
          </a:prstGeom>
          <a:noFill/>
          <a:ln w="9525">
            <a:noFill/>
            <a:miter lim="800000"/>
            <a:headEnd/>
            <a:tailEnd/>
          </a:ln>
        </p:spPr>
      </p:pic>
      <p:pic>
        <p:nvPicPr>
          <p:cNvPr id="228355" name="Picture 3"/>
          <p:cNvPicPr>
            <a:picLocks noChangeAspect="1" noChangeArrowheads="1"/>
          </p:cNvPicPr>
          <p:nvPr/>
        </p:nvPicPr>
        <p:blipFill>
          <a:blip r:embed="rId3" cstate="print"/>
          <a:srcRect/>
          <a:stretch>
            <a:fillRect/>
          </a:stretch>
        </p:blipFill>
        <p:spPr bwMode="auto">
          <a:xfrm>
            <a:off x="3059832" y="2996952"/>
            <a:ext cx="4631070" cy="1224136"/>
          </a:xfrm>
          <a:prstGeom prst="rect">
            <a:avLst/>
          </a:prstGeom>
          <a:noFill/>
          <a:ln w="9525">
            <a:noFill/>
            <a:miter lim="800000"/>
            <a:headEnd/>
            <a:tailEnd/>
          </a:ln>
        </p:spPr>
      </p:pic>
      <p:pic>
        <p:nvPicPr>
          <p:cNvPr id="228356" name="Picture 4"/>
          <p:cNvPicPr>
            <a:picLocks noChangeAspect="1" noChangeArrowheads="1"/>
          </p:cNvPicPr>
          <p:nvPr/>
        </p:nvPicPr>
        <p:blipFill>
          <a:blip r:embed="rId4" cstate="print"/>
          <a:srcRect/>
          <a:stretch>
            <a:fillRect/>
          </a:stretch>
        </p:blipFill>
        <p:spPr bwMode="auto">
          <a:xfrm>
            <a:off x="3491880" y="4725144"/>
            <a:ext cx="3043977" cy="720080"/>
          </a:xfrm>
          <a:prstGeom prst="rect">
            <a:avLst/>
          </a:prstGeom>
          <a:noFill/>
          <a:ln w="9525">
            <a:noFill/>
            <a:miter lim="800000"/>
            <a:headEnd/>
            <a:tailEnd/>
          </a:ln>
        </p:spPr>
      </p:pic>
      <p:pic>
        <p:nvPicPr>
          <p:cNvPr id="12" name="Picture 3"/>
          <p:cNvPicPr>
            <a:picLocks noChangeAspect="1" noChangeArrowheads="1"/>
          </p:cNvPicPr>
          <p:nvPr/>
        </p:nvPicPr>
        <p:blipFill>
          <a:blip r:embed="rId5" cstate="print"/>
          <a:srcRect/>
          <a:stretch>
            <a:fillRect/>
          </a:stretch>
        </p:blipFill>
        <p:spPr bwMode="auto">
          <a:xfrm>
            <a:off x="3923928" y="5675439"/>
            <a:ext cx="2160240" cy="646496"/>
          </a:xfrm>
          <a:prstGeom prst="rect">
            <a:avLst/>
          </a:prstGeom>
          <a:noFill/>
          <a:ln w="9525">
            <a:noFill/>
            <a:miter lim="800000"/>
            <a:headEnd/>
            <a:tailEnd/>
          </a:ln>
        </p:spPr>
      </p:pic>
      <p:sp>
        <p:nvSpPr>
          <p:cNvPr id="15" name="Titre 9"/>
          <p:cNvSpPr>
            <a:spLocks noGrp="1"/>
          </p:cNvSpPr>
          <p:nvPr>
            <p:ph type="title"/>
          </p:nvPr>
        </p:nvSpPr>
        <p:spPr/>
        <p:txBody>
          <a:bodyPr>
            <a:normAutofit/>
          </a:bodyPr>
          <a:lstStyle/>
          <a:p>
            <a:r>
              <a:rPr lang="fr-FR" dirty="0"/>
              <a:t>2.6. Evaluation de la classification</a:t>
            </a:r>
          </a:p>
        </p:txBody>
      </p:sp>
    </p:spTree>
    <p:extLst>
      <p:ext uri="{BB962C8B-B14F-4D97-AF65-F5344CB8AC3E}">
        <p14:creationId xmlns:p14="http://schemas.microsoft.com/office/powerpoint/2010/main" val="2522330816"/>
      </p:ext>
    </p:extLst>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a:t>Dr. H.Chikh Zaouali</a:t>
            </a:r>
          </a:p>
        </p:txBody>
      </p:sp>
      <p:sp>
        <p:nvSpPr>
          <p:cNvPr id="4" name="Espace réservé du numéro de diapositive 3"/>
          <p:cNvSpPr>
            <a:spLocks noGrp="1"/>
          </p:cNvSpPr>
          <p:nvPr>
            <p:ph type="sldNum" sz="quarter" idx="12"/>
          </p:nvPr>
        </p:nvSpPr>
        <p:spPr/>
        <p:txBody>
          <a:bodyPr/>
          <a:lstStyle/>
          <a:p>
            <a:fld id="{A3F31473-23EB-4724-8B59-FE6D21D89FA4}" type="slidenum">
              <a:rPr lang="fr-FR" smtClean="0"/>
              <a:pPr/>
              <a:t>84</a:t>
            </a:fld>
            <a:endParaRPr lang="fr-FR"/>
          </a:p>
        </p:txBody>
      </p:sp>
      <p:sp>
        <p:nvSpPr>
          <p:cNvPr id="5" name="Espace réservé du contenu 4"/>
          <p:cNvSpPr>
            <a:spLocks noGrp="1"/>
          </p:cNvSpPr>
          <p:nvPr>
            <p:ph sz="quarter" idx="1"/>
          </p:nvPr>
        </p:nvSpPr>
        <p:spPr/>
        <p:txBody>
          <a:bodyPr/>
          <a:lstStyle/>
          <a:p>
            <a:pPr algn="just"/>
            <a:r>
              <a:rPr lang="fr-FR" sz="2200" dirty="0"/>
              <a:t>Indicateurs de performances en classification</a:t>
            </a:r>
          </a:p>
          <a:p>
            <a:pPr lvl="1" algn="just"/>
            <a:r>
              <a:rPr lang="fr-FR" sz="1800" dirty="0"/>
              <a:t>Le rappel et la précision dans un cadre multi-classe :</a:t>
            </a:r>
          </a:p>
          <a:p>
            <a:pPr lvl="2" algn="just"/>
            <a:r>
              <a:rPr lang="fr-FR" sz="1600" dirty="0"/>
              <a:t>Il est possible de calculer tous ces indicateurs pour chaque classe. La moyenne sur chaque classe de ces indicateurs donne des indicateurs globaux sur la qualité du </a:t>
            </a:r>
            <a:r>
              <a:rPr lang="fr-FR" sz="1600" dirty="0" err="1"/>
              <a:t>classifieur</a:t>
            </a:r>
            <a:r>
              <a:rPr lang="fr-FR" sz="1600" dirty="0"/>
              <a:t>.</a:t>
            </a:r>
          </a:p>
        </p:txBody>
      </p:sp>
      <p:pic>
        <p:nvPicPr>
          <p:cNvPr id="230402" name="Picture 2" descr="C:\Users\Kacem\Desktop\Downloads\7380.clip_image006_35DE49EE (1).png"/>
          <p:cNvPicPr>
            <a:picLocks noChangeAspect="1" noChangeArrowheads="1"/>
          </p:cNvPicPr>
          <p:nvPr/>
        </p:nvPicPr>
        <p:blipFill>
          <a:blip r:embed="rId2" cstate="print"/>
          <a:srcRect/>
          <a:stretch>
            <a:fillRect/>
          </a:stretch>
        </p:blipFill>
        <p:spPr bwMode="auto">
          <a:xfrm>
            <a:off x="4644008" y="3140968"/>
            <a:ext cx="4248472" cy="2628432"/>
          </a:xfrm>
          <a:prstGeom prst="rect">
            <a:avLst/>
          </a:prstGeom>
          <a:noFill/>
        </p:spPr>
      </p:pic>
      <p:sp>
        <p:nvSpPr>
          <p:cNvPr id="8" name="Titre 9"/>
          <p:cNvSpPr>
            <a:spLocks noGrp="1"/>
          </p:cNvSpPr>
          <p:nvPr>
            <p:ph type="title"/>
          </p:nvPr>
        </p:nvSpPr>
        <p:spPr/>
        <p:txBody>
          <a:bodyPr>
            <a:normAutofit/>
          </a:bodyPr>
          <a:lstStyle/>
          <a:p>
            <a:r>
              <a:rPr lang="fr-FR" dirty="0"/>
              <a:t>2.6. Evaluation de la classification</a:t>
            </a:r>
          </a:p>
        </p:txBody>
      </p:sp>
      <p:pic>
        <p:nvPicPr>
          <p:cNvPr id="2" name="Picture 2"/>
          <p:cNvPicPr>
            <a:picLocks noChangeAspect="1" noChangeArrowheads="1"/>
          </p:cNvPicPr>
          <p:nvPr/>
        </p:nvPicPr>
        <p:blipFill>
          <a:blip r:embed="rId3" cstate="print"/>
          <a:srcRect/>
          <a:stretch>
            <a:fillRect/>
          </a:stretch>
        </p:blipFill>
        <p:spPr bwMode="auto">
          <a:xfrm>
            <a:off x="339701" y="3140968"/>
            <a:ext cx="4376315" cy="1990565"/>
          </a:xfrm>
          <a:prstGeom prst="rect">
            <a:avLst/>
          </a:prstGeom>
          <a:noFill/>
          <a:ln w="9525">
            <a:noFill/>
            <a:miter lim="800000"/>
            <a:headEnd/>
            <a:tailEnd/>
          </a:ln>
        </p:spPr>
      </p:pic>
    </p:spTree>
    <p:extLst>
      <p:ext uri="{BB962C8B-B14F-4D97-AF65-F5344CB8AC3E}">
        <p14:creationId xmlns:p14="http://schemas.microsoft.com/office/powerpoint/2010/main" val="4026714198"/>
      </p:ext>
    </p:extLst>
  </p:cSld>
  <p:clrMapOvr>
    <a:masterClrMapping/>
  </p:clrMapOvr>
  <p:transition spd="med">
    <p:fad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Civil">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Marketing_16x9">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Marketing_16x9">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PExecutable xmlns="6d93d202-47fc-4405-873a-cab67cc5f1b2" xsi:nil="true"/>
    <DirectSourceMarket xmlns="6d93d202-47fc-4405-873a-cab67cc5f1b2">english</DirectSourceMarket>
    <ThumbnailAssetId xmlns="6d93d202-47fc-4405-873a-cab67cc5f1b2" xsi:nil="true"/>
    <AssetType xmlns="6d93d202-47fc-4405-873a-cab67cc5f1b2">TP</AssetType>
    <Milestone xmlns="6d93d202-47fc-4405-873a-cab67cc5f1b2" xsi:nil="true"/>
    <OriginAsset xmlns="6d93d202-47fc-4405-873a-cab67cc5f1b2" xsi:nil="true"/>
    <TPComponent xmlns="6d93d202-47fc-4405-873a-cab67cc5f1b2" xsi:nil="true"/>
    <AssetId xmlns="6d93d202-47fc-4405-873a-cab67cc5f1b2">TP102801080</AssetId>
    <TPFriendlyName xmlns="6d93d202-47fc-4405-873a-cab67cc5f1b2" xsi:nil="true"/>
    <SourceTitle xmlns="6d93d202-47fc-4405-873a-cab67cc5f1b2" xsi:nil="true"/>
    <TPApplication xmlns="6d93d202-47fc-4405-873a-cab67cc5f1b2" xsi:nil="true"/>
    <TPLaunchHelpLink xmlns="6d93d202-47fc-4405-873a-cab67cc5f1b2" xsi:nil="true"/>
    <OpenTemplate xmlns="6d93d202-47fc-4405-873a-cab67cc5f1b2">true</OpenTemplate>
    <CrawlForDependencies xmlns="6d93d202-47fc-4405-873a-cab67cc5f1b2">false</CrawlForDependencies>
    <TrustLevel xmlns="6d93d202-47fc-4405-873a-cab67cc5f1b2">1 Microsoft Managed Content</TrustLevel>
    <PublishStatusLookup xmlns="6d93d202-47fc-4405-873a-cab67cc5f1b2">
      <Value>465100</Value>
    </PublishStatusLookup>
    <LocLastLocAttemptVersionLookup xmlns="6d93d202-47fc-4405-873a-cab67cc5f1b2">149232</LocLastLocAttemptVersionLookup>
    <TemplateTemplateType xmlns="6d93d202-47fc-4405-873a-cab67cc5f1b2">PowerPoint 12 Default</TemplateTemplateType>
    <IsSearchable xmlns="6d93d202-47fc-4405-873a-cab67cc5f1b2">true</IsSearchable>
    <TPNamespace xmlns="6d93d202-47fc-4405-873a-cab67cc5f1b2" xsi:nil="true"/>
    <Markets xmlns="6d93d202-47fc-4405-873a-cab67cc5f1b2"/>
    <OriginalSourceMarket xmlns="6d93d202-47fc-4405-873a-cab67cc5f1b2">english</OriginalSourceMarket>
    <TPInstallLocation xmlns="6d93d202-47fc-4405-873a-cab67cc5f1b2" xsi:nil="true"/>
    <TPAppVersion xmlns="6d93d202-47fc-4405-873a-cab67cc5f1b2" xsi:nil="true"/>
    <TPCommandLine xmlns="6d93d202-47fc-4405-873a-cab67cc5f1b2" xsi:nil="true"/>
    <APAuthor xmlns="6d93d202-47fc-4405-873a-cab67cc5f1b2">
      <UserInfo>
        <DisplayName/>
        <AccountId>1073741823</AccountId>
        <AccountType/>
      </UserInfo>
    </APAuthor>
    <EditorialStatus xmlns="6d93d202-47fc-4405-873a-cab67cc5f1b2">Complete</EditorialStatus>
    <PublishTargets xmlns="6d93d202-47fc-4405-873a-cab67cc5f1b2">OfficeOnlineVNext</PublishTargets>
    <TPLaunchHelpLinkType xmlns="6d93d202-47fc-4405-873a-cab67cc5f1b2">Template</TPLaunchHelpLinkType>
    <OriginalRelease xmlns="6d93d202-47fc-4405-873a-cab67cc5f1b2">14</OriginalRelease>
    <AssetStart xmlns="6d93d202-47fc-4405-873a-cab67cc5f1b2">2011-12-12T21:37:00+00:00</AssetStart>
    <TPClientViewer xmlns="6d93d202-47fc-4405-873a-cab67cc5f1b2" xsi:nil="true"/>
    <CSXHash xmlns="6d93d202-47fc-4405-873a-cab67cc5f1b2" xsi:nil="true"/>
    <IsDeleted xmlns="6d93d202-47fc-4405-873a-cab67cc5f1b2">false</IsDeleted>
    <ShowIn xmlns="6d93d202-47fc-4405-873a-cab67cc5f1b2">Show everywhere</ShowIn>
    <UANotes xmlns="6d93d202-47fc-4405-873a-cab67cc5f1b2" xsi:nil="true"/>
    <TemplateStatus xmlns="6d93d202-47fc-4405-873a-cab67cc5f1b2">Complete</TemplateStatus>
    <Downloads xmlns="6d93d202-47fc-4405-873a-cab67cc5f1b2">0</Downloads>
    <AcquiredFrom xmlns="6d93d202-47fc-4405-873a-cab67cc5f1b2">Internal MS</AcquiredFrom>
    <MarketSpecific xmlns="6d93d202-47fc-4405-873a-cab67cc5f1b2">false</MarketSpecific>
    <LocManualTestRequired xmlns="6d93d202-47fc-4405-873a-cab67cc5f1b2">false</LocManualTestRequired>
    <LocalizationTagsTaxHTField0 xmlns="6d93d202-47fc-4405-873a-cab67cc5f1b2">
      <Terms xmlns="http://schemas.microsoft.com/office/infopath/2007/PartnerControls"/>
    </LocalizationTagsTaxHTField0>
    <CampaignTagsTaxHTField0 xmlns="6d93d202-47fc-4405-873a-cab67cc5f1b2">
      <Terms xmlns="http://schemas.microsoft.com/office/infopath/2007/PartnerControls"/>
    </CampaignTagsTaxHTField0>
    <MachineTranslated xmlns="6d93d202-47fc-4405-873a-cab67cc5f1b2">false</MachineTranslated>
    <PlannedPubDate xmlns="6d93d202-47fc-4405-873a-cab67cc5f1b2" xsi:nil="true"/>
    <SubmitterId xmlns="6d93d202-47fc-4405-873a-cab67cc5f1b2" xsi:nil="true"/>
    <ArtSampleDocs xmlns="6d93d202-47fc-4405-873a-cab67cc5f1b2" xsi:nil="true"/>
    <ApprovalLog xmlns="6d93d202-47fc-4405-873a-cab67cc5f1b2" xsi:nil="true"/>
    <ApprovalStatus xmlns="6d93d202-47fc-4405-873a-cab67cc5f1b2">InProgress</ApprovalStatus>
    <EditorialTags xmlns="6d93d202-47fc-4405-873a-cab67cc5f1b2" xsi:nil="true"/>
    <InternalTagsTaxHTField0 xmlns="6d93d202-47fc-4405-873a-cab67cc5f1b2">
      <Terms xmlns="http://schemas.microsoft.com/office/infopath/2007/PartnerControls"/>
    </InternalTagsTaxHTField0>
    <LastHandOff xmlns="6d93d202-47fc-4405-873a-cab67cc5f1b2" xsi:nil="true"/>
    <LocRecommendedHandoff xmlns="6d93d202-47fc-4405-873a-cab67cc5f1b2" xsi:nil="true"/>
    <BusinessGroup xmlns="6d93d202-47fc-4405-873a-cab67cc5f1b2" xsi:nil="true"/>
    <VoteCount xmlns="6d93d202-47fc-4405-873a-cab67cc5f1b2" xsi:nil="true"/>
    <UACurrentWords xmlns="6d93d202-47fc-4405-873a-cab67cc5f1b2" xsi:nil="true"/>
    <Manager xmlns="6d93d202-47fc-4405-873a-cab67cc5f1b2" xsi:nil="true"/>
    <NumericId xmlns="6d93d202-47fc-4405-873a-cab67cc5f1b2" xsi:nil="true"/>
    <HandoffToMSDN xmlns="6d93d202-47fc-4405-873a-cab67cc5f1b2" xsi:nil="true"/>
    <UALocComments xmlns="6d93d202-47fc-4405-873a-cab67cc5f1b2" xsi:nil="true"/>
    <UALocRecommendation xmlns="6d93d202-47fc-4405-873a-cab67cc5f1b2">Localize</UALocRecommendation>
    <Component xmlns="64acb2c5-0a2b-4bda-bd34-58e36cbb80d2" xsi:nil="true"/>
    <LastModifiedDateTime xmlns="6d93d202-47fc-4405-873a-cab67cc5f1b2" xsi:nil="true"/>
    <AverageRating xmlns="6d93d202-47fc-4405-873a-cab67cc5f1b2" xsi:nil="true"/>
    <CSXUpdate xmlns="6d93d202-47fc-4405-873a-cab67cc5f1b2">false</CSXUpdate>
    <UAProjectedTotalWords xmlns="6d93d202-47fc-4405-873a-cab67cc5f1b2" xsi:nil="true"/>
    <AssetExpire xmlns="6d93d202-47fc-4405-873a-cab67cc5f1b2">2029-01-01T00:00:00+00:00</AssetExpire>
    <IntlLangReviewDate xmlns="6d93d202-47fc-4405-873a-cab67cc5f1b2" xsi:nil="true"/>
    <IntlLangReview xmlns="6d93d202-47fc-4405-873a-cab67cc5f1b2">false</IntlLangReview>
    <OOCacheId xmlns="6d93d202-47fc-4405-873a-cab67cc5f1b2" xsi:nil="true"/>
    <PolicheckWords xmlns="6d93d202-47fc-4405-873a-cab67cc5f1b2" xsi:nil="true"/>
    <CSXSubmissionMarket xmlns="6d93d202-47fc-4405-873a-cab67cc5f1b2" xsi:nil="true"/>
    <BlockPublish xmlns="6d93d202-47fc-4405-873a-cab67cc5f1b2">false</BlockPublish>
    <FriendlyTitle xmlns="6d93d202-47fc-4405-873a-cab67cc5f1b2" xsi:nil="true"/>
    <LocComments xmlns="6d93d202-47fc-4405-873a-cab67cc5f1b2" xsi:nil="true"/>
    <Providers xmlns="6d93d202-47fc-4405-873a-cab67cc5f1b2" xsi:nil="true"/>
    <TimesCloned xmlns="6d93d202-47fc-4405-873a-cab67cc5f1b2" xsi:nil="true"/>
    <ClipArtFilename xmlns="6d93d202-47fc-4405-873a-cab67cc5f1b2" xsi:nil="true"/>
    <APDescription xmlns="6d93d202-47fc-4405-873a-cab67cc5f1b2" xsi:nil="true"/>
    <TaxCatchAll xmlns="6d93d202-47fc-4405-873a-cab67cc5f1b2"/>
    <PrimaryImageGen xmlns="6d93d202-47fc-4405-873a-cab67cc5f1b2">false</PrimaryImageGen>
    <ContentItem xmlns="6d93d202-47fc-4405-873a-cab67cc5f1b2" xsi:nil="true"/>
    <BugNumber xmlns="6d93d202-47fc-4405-873a-cab67cc5f1b2" xsi:nil="true"/>
    <LegacyData xmlns="6d93d202-47fc-4405-873a-cab67cc5f1b2" xsi:nil="true"/>
    <RecommendationsModifier xmlns="6d93d202-47fc-4405-873a-cab67cc5f1b2" xsi:nil="true"/>
    <ScenarioTagsTaxHTField0 xmlns="6d93d202-47fc-4405-873a-cab67cc5f1b2">
      <Terms xmlns="http://schemas.microsoft.com/office/infopath/2007/PartnerControls"/>
    </ScenarioTagsTaxHTField0>
    <FeatureTagsTaxHTField0 xmlns="6d93d202-47fc-4405-873a-cab67cc5f1b2">
      <Terms xmlns="http://schemas.microsoft.com/office/infopath/2007/PartnerControls"/>
    </FeatureTagsTaxHTField0>
    <IntlLangReviewer xmlns="6d93d202-47fc-4405-873a-cab67cc5f1b2" xsi:nil="true"/>
    <IntlLocPriority xmlns="6d93d202-47fc-4405-873a-cab67cc5f1b2" xsi:nil="true"/>
    <Provider xmlns="6d93d202-47fc-4405-873a-cab67cc5f1b2" xsi:nil="true"/>
    <CSXSubmissionDate xmlns="6d93d202-47fc-4405-873a-cab67cc5f1b2" xsi:nil="true"/>
    <Description0 xmlns="64acb2c5-0a2b-4bda-bd34-58e36cbb80d2" xsi:nil="true"/>
    <DSATActionTaken xmlns="6d93d202-47fc-4405-873a-cab67cc5f1b2" xsi:nil="true"/>
    <APEditor xmlns="6d93d202-47fc-4405-873a-cab67cc5f1b2">
      <UserInfo>
        <DisplayName/>
        <AccountId xsi:nil="true"/>
        <AccountType/>
      </UserInfo>
    </APEditor>
    <OutputCachingOn xmlns="6d93d202-47fc-4405-873a-cab67cc5f1b2">false</OutputCachingOn>
    <ParentAssetId xmlns="6d93d202-47fc-4405-873a-cab67cc5f1b2" xsi:nil="true"/>
    <LocMarketGroupTiers2 xmlns="6d93d202-47fc-4405-873a-cab67cc5f1b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9924D1ECC420D47A2456556BC94F7370400BDF4491DEA4973499845289601F88B9F" ma:contentTypeVersion="55" ma:contentTypeDescription="Create a new document." ma:contentTypeScope="" ma:versionID="41eb558a2b826e6e4f9defd990175bec">
  <xsd:schema xmlns:xsd="http://www.w3.org/2001/XMLSchema" xmlns:xs="http://www.w3.org/2001/XMLSchema" xmlns:p="http://schemas.microsoft.com/office/2006/metadata/properties" xmlns:ns2="6d93d202-47fc-4405-873a-cab67cc5f1b2" xmlns:ns3="64acb2c5-0a2b-4bda-bd34-58e36cbb80d2" targetNamespace="http://schemas.microsoft.com/office/2006/metadata/properties" ma:root="true" ma:fieldsID="19deea0185cf7bc57eee9b90b1ba2ace" ns2:_="" ns3:_="">
    <xsd:import namespace="6d93d202-47fc-4405-873a-cab67cc5f1b2"/>
    <xsd:import namespace="64acb2c5-0a2b-4bda-bd34-58e36cbb80d2"/>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element ref="ns3:Description0" minOccurs="0"/>
                <xsd:element ref="ns3:Compon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93d202-47fc-4405-873a-cab67cc5f1b2"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0:00:00Z"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dc79c007-7f28-4db9-9ba1-525d19a3279b}"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80C6DD30-196A-4C6B-B1BF-A43F3B8ACD4F}" ma:internalName="CSXSubmissionMarket" ma:readOnly="false" ma:showField="MarketName" ma:web="6d93d202-47fc-4405-873a-cab67cc5f1b2">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bb16b974-ed24-4278-8820-8e232d38904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7E2D4CA2-442A-4FDA-AA57-71B8C7B2C53C}" ma:internalName="InProjectListLookup" ma:readOnly="true" ma:showField="InProjectLis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fd9a49dc-3dbf-4047-b62d-1d587abe7b40}"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7E2D4CA2-442A-4FDA-AA57-71B8C7B2C53C}" ma:internalName="LastCompleteVersionLookup" ma:readOnly="true" ma:showField="LastComplete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7E2D4CA2-442A-4FDA-AA57-71B8C7B2C53C}" ma:internalName="LastPreviewErrorLookup" ma:readOnly="true" ma:showField="LastPreview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7E2D4CA2-442A-4FDA-AA57-71B8C7B2C53C}" ma:internalName="LastPreviewResultLookup" ma:readOnly="true" ma:showField="LastPreview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7E2D4CA2-442A-4FDA-AA57-71B8C7B2C53C}" ma:internalName="LastPreviewAttemptDateLookup" ma:readOnly="true" ma:showField="LastPreview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7E2D4CA2-442A-4FDA-AA57-71B8C7B2C53C}" ma:internalName="LastPreviewedByLookup" ma:readOnly="true" ma:showField="LastPreview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7E2D4CA2-442A-4FDA-AA57-71B8C7B2C53C}" ma:internalName="LastPreviewTimeLookup" ma:readOnly="true" ma:showField="LastPreview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7E2D4CA2-442A-4FDA-AA57-71B8C7B2C53C}" ma:internalName="LastPreviewVersionLookup" ma:readOnly="true" ma:showField="LastPreview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7E2D4CA2-442A-4FDA-AA57-71B8C7B2C53C}" ma:internalName="LastPublishErrorLookup" ma:readOnly="true" ma:showField="LastPublish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7E2D4CA2-442A-4FDA-AA57-71B8C7B2C53C}" ma:internalName="LastPublishResultLookup" ma:readOnly="true" ma:showField="LastPublish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7E2D4CA2-442A-4FDA-AA57-71B8C7B2C53C}" ma:internalName="LastPublishAttemptDateLookup" ma:readOnly="true" ma:showField="LastPublish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7E2D4CA2-442A-4FDA-AA57-71B8C7B2C53C}" ma:internalName="LastPublishedByLookup" ma:readOnly="true" ma:showField="LastPublish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7E2D4CA2-442A-4FDA-AA57-71B8C7B2C53C}" ma:internalName="LastPublishTimeLookup" ma:readOnly="true" ma:showField="LastPublish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7E2D4CA2-442A-4FDA-AA57-71B8C7B2C53C}" ma:internalName="LastPublishVersionLookup" ma:readOnly="true" ma:showField="LastPublish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4CDE398E-75A7-4993-8C61-2BFD31F64754}" ma:internalName="LocLastLocAttemptVersionLookup" ma:readOnly="false" ma:showField="LastLocAttemptVersion" ma:web="6d93d202-47fc-4405-873a-cab67cc5f1b2">
      <xsd:simpleType>
        <xsd:restriction base="dms:Lookup"/>
      </xsd:simpleType>
    </xsd:element>
    <xsd:element name="LocLastLocAttemptVersionTypeLookup" ma:index="72" nillable="true" ma:displayName="Loc Last Loc Attempt Version Type" ma:default="" ma:list="{4CDE398E-75A7-4993-8C61-2BFD31F64754}" ma:internalName="LocLastLocAttemptVersionTypeLookup" ma:readOnly="true" ma:showField="LastLocAttemptVersionType" ma:web="6d93d202-47fc-4405-873a-cab67cc5f1b2">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4CDE398E-75A7-4993-8C61-2BFD31F64754}" ma:internalName="LocNewPublishedVersionLookup" ma:readOnly="true" ma:showField="NewPublishedVersion" ma:web="6d93d202-47fc-4405-873a-cab67cc5f1b2">
      <xsd:simpleType>
        <xsd:restriction base="dms:Lookup"/>
      </xsd:simpleType>
    </xsd:element>
    <xsd:element name="LocOverallHandbackStatusLookup" ma:index="76" nillable="true" ma:displayName="Loc Overall Handback Status" ma:default="" ma:list="{4CDE398E-75A7-4993-8C61-2BFD31F64754}" ma:internalName="LocOverallHandbackStatusLookup" ma:readOnly="true" ma:showField="OverallHandbackStatus" ma:web="6d93d202-47fc-4405-873a-cab67cc5f1b2">
      <xsd:simpleType>
        <xsd:restriction base="dms:Lookup"/>
      </xsd:simpleType>
    </xsd:element>
    <xsd:element name="LocOverallLocStatusLookup" ma:index="77" nillable="true" ma:displayName="Loc Overall Localize Status" ma:default="" ma:list="{4CDE398E-75A7-4993-8C61-2BFD31F64754}" ma:internalName="LocOverallLocStatusLookup" ma:readOnly="true" ma:showField="OverallLocStatus" ma:web="6d93d202-47fc-4405-873a-cab67cc5f1b2">
      <xsd:simpleType>
        <xsd:restriction base="dms:Lookup"/>
      </xsd:simpleType>
    </xsd:element>
    <xsd:element name="LocOverallPreviewStatusLookup" ma:index="78" nillable="true" ma:displayName="Loc Overall Preview Status" ma:default="" ma:list="{4CDE398E-75A7-4993-8C61-2BFD31F64754}" ma:internalName="LocOverallPreviewStatusLookup" ma:readOnly="true" ma:showField="OverallPreviewStatus" ma:web="6d93d202-47fc-4405-873a-cab67cc5f1b2">
      <xsd:simpleType>
        <xsd:restriction base="dms:Lookup"/>
      </xsd:simpleType>
    </xsd:element>
    <xsd:element name="LocOverallPublishStatusLookup" ma:index="79" nillable="true" ma:displayName="Loc Overall Publish Status" ma:default="" ma:list="{4CDE398E-75A7-4993-8C61-2BFD31F64754}" ma:internalName="LocOverallPublishStatusLookup" ma:readOnly="true" ma:showField="OverallPublishStatus" ma:web="6d93d202-47fc-4405-873a-cab67cc5f1b2">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4CDE398E-75A7-4993-8C61-2BFD31F64754}" ma:internalName="LocProcessedForHandoffsLookup" ma:readOnly="true" ma:showField="ProcessedForHandoffs" ma:web="6d93d202-47fc-4405-873a-cab67cc5f1b2">
      <xsd:simpleType>
        <xsd:restriction base="dms:Lookup"/>
      </xsd:simpleType>
    </xsd:element>
    <xsd:element name="LocProcessedForMarketsLookup" ma:index="82" nillable="true" ma:displayName="Loc Processed For Markets" ma:default="" ma:list="{4CDE398E-75A7-4993-8C61-2BFD31F64754}" ma:internalName="LocProcessedForMarketsLookup" ma:readOnly="true" ma:showField="ProcessedForMarkets" ma:web="6d93d202-47fc-4405-873a-cab67cc5f1b2">
      <xsd:simpleType>
        <xsd:restriction base="dms:Lookup"/>
      </xsd:simpleType>
    </xsd:element>
    <xsd:element name="LocPublishedDependentAssetsLookup" ma:index="83" nillable="true" ma:displayName="Loc Published Dependent Assets" ma:default="" ma:list="{4CDE398E-75A7-4993-8C61-2BFD31F64754}" ma:internalName="LocPublishedDependentAssetsLookup" ma:readOnly="true" ma:showField="PublishedDependentAssets" ma:web="6d93d202-47fc-4405-873a-cab67cc5f1b2">
      <xsd:simpleType>
        <xsd:restriction base="dms:Lookup"/>
      </xsd:simpleType>
    </xsd:element>
    <xsd:element name="LocPublishedLinkedAssetsLookup" ma:index="84" nillable="true" ma:displayName="Loc Published Linked Assets" ma:default="" ma:list="{4CDE398E-75A7-4993-8C61-2BFD31F64754}" ma:internalName="LocPublishedLinkedAssetsLookup" ma:readOnly="true" ma:showField="PublishedLinkedAssets" ma:web="6d93d202-47fc-4405-873a-cab67cc5f1b2">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db560eb5-700a-4f94-8fda-b57de4261f12}"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80C6DD30-196A-4C6B-B1BF-A43F3B8ACD4F}" ma:internalName="Markets" ma:readOnly="false" ma:showField="MarketNa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7E2D4CA2-442A-4FDA-AA57-71B8C7B2C53C}" ma:internalName="NumOfRatingsLookup" ma:readOnly="true" ma:showField="NumOfRating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7E2D4CA2-442A-4FDA-AA57-71B8C7B2C53C}" ma:internalName="PublishStatusLookup" ma:readOnly="false" ma:showField="PublishStatu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6e3f7319-fb8f-4449-8902-000ab73a8566}"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11d213f5-ec09-44b6-a8be-9da225be7a8d}" ma:internalName="TaxCatchAll" ma:showField="CatchAllData"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11d213f5-ec09-44b6-a8be-9da225be7a8d}" ma:internalName="TaxCatchAllLabel" ma:readOnly="true" ma:showField="CatchAllDataLabel"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4acb2c5-0a2b-4bda-bd34-58e36cbb80d2" elementFormDefault="qualified">
    <xsd:import namespace="http://schemas.microsoft.com/office/2006/documentManagement/types"/>
    <xsd:import namespace="http://schemas.microsoft.com/office/infopath/2007/PartnerControls"/>
    <xsd:element name="Description0" ma:index="134" nillable="true" ma:displayName="Description" ma:internalName="Description0">
      <xsd:simpleType>
        <xsd:restriction base="dms:Note"/>
      </xsd:simpleType>
    </xsd:element>
    <xsd:element name="Component" ma:index="135" nillable="true" ma:displayName="Component" ma:internalName="Compon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B6C051-8D0C-4E9C-8822-3E9221001B68}">
  <ds:schemaRefs>
    <ds:schemaRef ds:uri="http://schemas.microsoft.com/sharepoint/v3/contenttype/forms"/>
  </ds:schemaRefs>
</ds:datastoreItem>
</file>

<file path=customXml/itemProps2.xml><?xml version="1.0" encoding="utf-8"?>
<ds:datastoreItem xmlns:ds="http://schemas.openxmlformats.org/officeDocument/2006/customXml" ds:itemID="{4AC5C5AC-6D17-4EFF-ADF8-1245A9B6519D}">
  <ds:schemaRefs>
    <ds:schemaRef ds:uri="http://schemas.openxmlformats.org/package/2006/metadata/core-properties"/>
    <ds:schemaRef ds:uri="64acb2c5-0a2b-4bda-bd34-58e36cbb80d2"/>
    <ds:schemaRef ds:uri="http://purl.org/dc/term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6d93d202-47fc-4405-873a-cab67cc5f1b2"/>
    <ds:schemaRef ds:uri="http://purl.org/dc/dcmitype/"/>
    <ds:schemaRef ds:uri="http://purl.org/dc/elements/1.1/"/>
  </ds:schemaRefs>
</ds:datastoreItem>
</file>

<file path=customXml/itemProps3.xml><?xml version="1.0" encoding="utf-8"?>
<ds:datastoreItem xmlns:ds="http://schemas.openxmlformats.org/officeDocument/2006/customXml" ds:itemID="{AB2FCDDE-2AB9-422C-85E5-4487D58551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93d202-47fc-4405-873a-cab67cc5f1b2"/>
    <ds:schemaRef ds:uri="64acb2c5-0a2b-4bda-bd34-58e36cbb8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Civic</Template>
  <TotalTime>0</TotalTime>
  <Words>7530</Words>
  <Application>Microsoft Office PowerPoint</Application>
  <PresentationFormat>Affichage à l'écran (4:3)</PresentationFormat>
  <Paragraphs>918</Paragraphs>
  <Slides>84</Slides>
  <Notes>6</Notes>
  <HiddenSlides>0</HiddenSlides>
  <MMClips>0</MMClips>
  <ScaleCrop>false</ScaleCrop>
  <HeadingPairs>
    <vt:vector size="8" baseType="variant">
      <vt:variant>
        <vt:lpstr>Polices utilisées</vt:lpstr>
      </vt:variant>
      <vt:variant>
        <vt:i4>9</vt:i4>
      </vt:variant>
      <vt:variant>
        <vt:lpstr>Thème</vt:lpstr>
      </vt:variant>
      <vt:variant>
        <vt:i4>1</vt:i4>
      </vt:variant>
      <vt:variant>
        <vt:lpstr>Serveurs OLE incorporés</vt:lpstr>
      </vt:variant>
      <vt:variant>
        <vt:i4>1</vt:i4>
      </vt:variant>
      <vt:variant>
        <vt:lpstr>Titres des diapositives</vt:lpstr>
      </vt:variant>
      <vt:variant>
        <vt:i4>84</vt:i4>
      </vt:variant>
    </vt:vector>
  </HeadingPairs>
  <TitlesOfParts>
    <vt:vector size="95" baseType="lpstr">
      <vt:lpstr>Arial</vt:lpstr>
      <vt:lpstr>Calibri</vt:lpstr>
      <vt:lpstr>Cambria Math</vt:lpstr>
      <vt:lpstr>Corbel</vt:lpstr>
      <vt:lpstr>Courier New</vt:lpstr>
      <vt:lpstr>Georgia</vt:lpstr>
      <vt:lpstr>Times New Roman</vt:lpstr>
      <vt:lpstr>Wingdings</vt:lpstr>
      <vt:lpstr>Wingdings 2</vt:lpstr>
      <vt:lpstr>Civil</vt:lpstr>
      <vt:lpstr>Équation</vt:lpstr>
      <vt:lpstr>DATA  MINING</vt:lpstr>
      <vt:lpstr>DESCRIPTION</vt:lpstr>
      <vt:lpstr>RÉFÉRENCES</vt:lpstr>
      <vt:lpstr>Fouille de données</vt:lpstr>
      <vt:lpstr>1. Présentation générale</vt:lpstr>
      <vt:lpstr>1. 1. Qu’est ce que le datamining?</vt:lpstr>
      <vt:lpstr>1. 1. Qu’est ce que le datamining ?</vt:lpstr>
      <vt:lpstr>1.1. Qu’est ce que le datamining?</vt:lpstr>
      <vt:lpstr>1. 2. A quoi sert le datamining ?</vt:lpstr>
      <vt:lpstr>1.2. A quoi sert le datamining ?</vt:lpstr>
      <vt:lpstr>1. 2. A quoi sert le datamining ?</vt:lpstr>
      <vt:lpstr>1.3. Tâches d’extraction d’information</vt:lpstr>
      <vt:lpstr>1.3. Tâches d’extraction d’information</vt:lpstr>
      <vt:lpstr>1. 4. Processus du datamining</vt:lpstr>
      <vt:lpstr>1.5. Panorama des méthodes</vt:lpstr>
      <vt:lpstr>1.5. Panorama des méthodes</vt:lpstr>
      <vt:lpstr>1.5. Panorama des méthodes</vt:lpstr>
      <vt:lpstr>1.5. Panorama des méthodes</vt:lpstr>
      <vt:lpstr>1.5. Panorama des méthodes</vt:lpstr>
      <vt:lpstr>Classification de données</vt:lpstr>
      <vt:lpstr>Classification de données</vt:lpstr>
      <vt:lpstr>2.1. Objectif</vt:lpstr>
      <vt:lpstr>2.1. Objectif</vt:lpstr>
      <vt:lpstr>2.1. Objectif</vt:lpstr>
      <vt:lpstr>2.2. Domaines d’application</vt:lpstr>
      <vt:lpstr>2.3. Terminologie</vt:lpstr>
      <vt:lpstr>2.4. Mise en œuvre</vt:lpstr>
      <vt:lpstr>2.4. Mise en œuvre</vt:lpstr>
      <vt:lpstr>Présentation PowerPoint</vt:lpstr>
      <vt:lpstr>2.4.Mise en œuvre</vt:lpstr>
      <vt:lpstr>2.4.Mise en œuvre</vt:lpstr>
      <vt:lpstr>2.4.Mise en œuvre</vt:lpstr>
      <vt:lpstr>2.4. Mise en œuvre</vt:lpstr>
      <vt:lpstr>2.4. Mise en œuvre</vt:lpstr>
      <vt:lpstr>2.4. Mise en œuvre</vt:lpstr>
      <vt:lpstr>2.4. Mise en œuvre</vt:lpstr>
      <vt:lpstr>2.4. Mise en œuvre</vt:lpstr>
      <vt:lpstr>2.4. Mise en œuvre</vt:lpstr>
      <vt:lpstr>Présentation PowerPoint</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2.4. Mise en œuvre</vt:lpstr>
      <vt:lpstr>Présentation PowerPoint</vt:lpstr>
      <vt:lpstr>Présentation PowerPoint</vt:lpstr>
      <vt:lpstr>Présentation PowerPoint</vt:lpstr>
      <vt:lpstr>Présentation PowerPoint</vt:lpstr>
      <vt:lpstr>Présentation PowerPoint</vt:lpstr>
      <vt:lpstr>2.4. Mise en œuvre</vt:lpstr>
      <vt:lpstr>2.5. Classification non supervisée vs. supervisée</vt:lpstr>
      <vt:lpstr>2.5. Classification non supervisée vs. supervisée</vt:lpstr>
      <vt:lpstr>2.5. Classification non supervisée vs. supervisée</vt:lpstr>
      <vt:lpstr>2.5. Classification non supervisée vs. supervisée</vt:lpstr>
      <vt:lpstr>2.5. Classification non supervisée vs. supervisée</vt:lpstr>
      <vt:lpstr>2.5. Classification non supervisée vs. supervisée</vt:lpstr>
      <vt:lpstr>2.5. Classification non supervisée vs. supervisée</vt:lpstr>
      <vt:lpstr>2.5. Classification non supervisée vs. supervisée</vt:lpstr>
      <vt:lpstr>2.5. Classification non supervisée vs. supervisée</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lpstr>2.6. Evaluation de la classification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2017-07-04T18:05:55Z</dcterms:created>
  <dcterms:modified xsi:type="dcterms:W3CDTF">2020-11-25T21:47:46Z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0x01010069924D1ECC420D47A2456556BC94F7370400BDF4491DEA4973499845289601F88B9F</vt:lpwstr>
  </property>
</Properties>
</file>